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4.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5.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6.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7.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8.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35fb2ff070b4859" /><Relationship Type="http://schemas.openxmlformats.org/officeDocument/2006/relationships/extended-properties" Target="/docProps/app.xml" Id="Re8afcdf3b02d4861" /><Relationship Type="http://schemas.openxmlformats.org/officeDocument/2006/relationships/officeDocument" Target="/ppt/presentation.xml" Id="R8e8877d149eb462e" /></Relationships>
</file>

<file path=ppt/presentation.xml><?xml version="1.0" encoding="utf-8"?>
<p:presentation xmlns:p="http://schemas.openxmlformats.org/presentationml/2006/main">
  <p:sldMasterIdLst>
    <p:sldMasterId xmlns:r="http://schemas.openxmlformats.org/officeDocument/2006/relationships" id="2147483648" r:id="R37249d41564a4429"/>
  </p:sldMasterIdLst>
  <p:notesMasterIdLst>
    <p:notesMasterId xmlns:r="http://schemas.openxmlformats.org/officeDocument/2006/relationships" r:id="Rac7159b7ed404452"/>
  </p:notesMasterIdLst>
  <p:sldIdLst>
    <p:sldId xmlns:r="http://schemas.openxmlformats.org/officeDocument/2006/relationships" id="256" r:id="R03298cd4092f491f"/>
    <p:sldId xmlns:r="http://schemas.openxmlformats.org/officeDocument/2006/relationships" id="257" r:id="R2b75556bd9844398"/>
    <p:sldId xmlns:r="http://schemas.openxmlformats.org/officeDocument/2006/relationships" id="258" r:id="R75b491fad32146e2"/>
    <p:sldId xmlns:r="http://schemas.openxmlformats.org/officeDocument/2006/relationships" id="259" r:id="Rb38749b907504172"/>
    <p:sldId xmlns:r="http://schemas.openxmlformats.org/officeDocument/2006/relationships" id="260" r:id="Rfd5302ee9aba4b26"/>
    <p:sldId xmlns:r="http://schemas.openxmlformats.org/officeDocument/2006/relationships" id="261" r:id="R87fe66fbe4554ff4"/>
    <p:sldId xmlns:r="http://schemas.openxmlformats.org/officeDocument/2006/relationships" id="262" r:id="Rada1c38f805f4113"/>
    <p:sldId xmlns:r="http://schemas.openxmlformats.org/officeDocument/2006/relationships" id="263" r:id="Refd3d9f04dd74df6"/>
    <p:sldId xmlns:r="http://schemas.openxmlformats.org/officeDocument/2006/relationships" id="264" r:id="Rbc0241c8bb0849b7"/>
    <p:sldId xmlns:r="http://schemas.openxmlformats.org/officeDocument/2006/relationships" id="265" r:id="R8c65d86ebb1049b7"/>
    <p:sldId xmlns:r="http://schemas.openxmlformats.org/officeDocument/2006/relationships" id="266" r:id="R78e5dafd95344697"/>
    <p:sldId xmlns:r="http://schemas.openxmlformats.org/officeDocument/2006/relationships" id="267" r:id="Rcbd5aae51bf04dc5"/>
    <p:sldId xmlns:r="http://schemas.openxmlformats.org/officeDocument/2006/relationships" id="268" r:id="R225f9cb2456a4b62"/>
    <p:sldId xmlns:r="http://schemas.openxmlformats.org/officeDocument/2006/relationships" id="269" r:id="Rd2758c7f773e4cfe"/>
    <p:sldId xmlns:r="http://schemas.openxmlformats.org/officeDocument/2006/relationships" id="270" r:id="R8b8766b2d1194984"/>
    <p:sldId xmlns:r="http://schemas.openxmlformats.org/officeDocument/2006/relationships" id="271" r:id="R99287118b87647a2"/>
    <p:sldId xmlns:r="http://schemas.openxmlformats.org/officeDocument/2006/relationships" id="272" r:id="R188a520cb41b44e2"/>
    <p:sldId xmlns:r="http://schemas.openxmlformats.org/officeDocument/2006/relationships" id="273" r:id="Re5de7dd242b649ea"/>
    <p:sldId xmlns:r="http://schemas.openxmlformats.org/officeDocument/2006/relationships" id="274" r:id="R65511cb5e82b46d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8e83ae5b1b147b8" /><Relationship Type="http://schemas.openxmlformats.org/officeDocument/2006/relationships/slideMaster" Target="/ppt/slideMasters/slideMaster1.xml" Id="R37249d41564a4429" /><Relationship Type="http://schemas.openxmlformats.org/officeDocument/2006/relationships/notesMaster" Target="/ppt/notesMasters/notesMaster1.xml" Id="Rac7159b7ed404452" /><Relationship Type="http://schemas.openxmlformats.org/officeDocument/2006/relationships/presProps" Target="/ppt/presProps.xml" Id="Rc4e80714242d47d0" /><Relationship Type="http://schemas.openxmlformats.org/officeDocument/2006/relationships/tableStyles" Target="/ppt/tableStyles.xml" Id="R271db1816c134ef3" /><Relationship Type="http://schemas.openxmlformats.org/officeDocument/2006/relationships/slide" Target="/ppt/slides/slide1.xml" Id="R03298cd4092f491f" /><Relationship Type="http://schemas.openxmlformats.org/officeDocument/2006/relationships/slide" Target="/ppt/slides/slide2.xml" Id="R2b75556bd9844398" /><Relationship Type="http://schemas.openxmlformats.org/officeDocument/2006/relationships/slide" Target="/ppt/slides/slide3.xml" Id="R75b491fad32146e2" /><Relationship Type="http://schemas.openxmlformats.org/officeDocument/2006/relationships/slide" Target="/ppt/slides/slide4.xml" Id="Rb38749b907504172" /><Relationship Type="http://schemas.openxmlformats.org/officeDocument/2006/relationships/slide" Target="/ppt/slides/slide5.xml" Id="Rfd5302ee9aba4b26" /><Relationship Type="http://schemas.openxmlformats.org/officeDocument/2006/relationships/slide" Target="/ppt/slides/slide6.xml" Id="R87fe66fbe4554ff4" /><Relationship Type="http://schemas.openxmlformats.org/officeDocument/2006/relationships/slide" Target="/ppt/slides/slide7.xml" Id="Rada1c38f805f4113" /><Relationship Type="http://schemas.openxmlformats.org/officeDocument/2006/relationships/slide" Target="/ppt/slides/slide8.xml" Id="Refd3d9f04dd74df6" /><Relationship Type="http://schemas.openxmlformats.org/officeDocument/2006/relationships/slide" Target="/ppt/slides/slide9.xml" Id="Rbc0241c8bb0849b7" /><Relationship Type="http://schemas.openxmlformats.org/officeDocument/2006/relationships/slide" Target="/ppt/slides/slide10.xml" Id="R8c65d86ebb1049b7" /><Relationship Type="http://schemas.openxmlformats.org/officeDocument/2006/relationships/slide" Target="/ppt/slides/slide11.xml" Id="R78e5dafd95344697" /><Relationship Type="http://schemas.openxmlformats.org/officeDocument/2006/relationships/slide" Target="/ppt/slides/slide12.xml" Id="Rcbd5aae51bf04dc5" /><Relationship Type="http://schemas.openxmlformats.org/officeDocument/2006/relationships/slide" Target="/ppt/slides/slide13.xml" Id="R225f9cb2456a4b62" /><Relationship Type="http://schemas.openxmlformats.org/officeDocument/2006/relationships/slide" Target="/ppt/slides/slide14.xml" Id="Rd2758c7f773e4cfe" /><Relationship Type="http://schemas.openxmlformats.org/officeDocument/2006/relationships/slide" Target="/ppt/slides/slide15.xml" Id="R8b8766b2d1194984" /><Relationship Type="http://schemas.openxmlformats.org/officeDocument/2006/relationships/slide" Target="/ppt/slides/slide16.xml" Id="R99287118b87647a2" /><Relationship Type="http://schemas.openxmlformats.org/officeDocument/2006/relationships/slide" Target="/ppt/slides/slide17.xml" Id="R188a520cb41b44e2" /><Relationship Type="http://schemas.openxmlformats.org/officeDocument/2006/relationships/slide" Target="/ppt/slides/slide18.xml" Id="Re5de7dd242b649ea" /><Relationship Type="http://schemas.openxmlformats.org/officeDocument/2006/relationships/slide" Target="/ppt/slides/slide19.xml" Id="R65511cb5e82b46d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a8ec123b9e1439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abbc2dc396d45e6" /><Relationship Type="http://schemas.openxmlformats.org/officeDocument/2006/relationships/notesMaster" Target="/ppt/notesMasters/notesMaster1.xml" Id="R13c2a1d3bb2c4d25" /></Relationships>
</file>

<file path=ppt/notesSlides/_rels/notesSlide2.xml.rels>&#65279;<?xml version="1.0" encoding="utf-8"?><Relationships xmlns="http://schemas.openxmlformats.org/package/2006/relationships"><Relationship Type="http://schemas.openxmlformats.org/officeDocument/2006/relationships/slide" Target="/ppt/slides/slide2.xml" Id="R619786272a6a416f" /><Relationship Type="http://schemas.openxmlformats.org/officeDocument/2006/relationships/notesMaster" Target="/ppt/notesMasters/notesMaster1.xml" Id="Rb441457d9a864fd6" /></Relationships>
</file>

<file path=ppt/notesSlides/_rels/notesSlide3.xml.rels>&#65279;<?xml version="1.0" encoding="utf-8"?><Relationships xmlns="http://schemas.openxmlformats.org/package/2006/relationships"><Relationship Type="http://schemas.openxmlformats.org/officeDocument/2006/relationships/slide" Target="/ppt/slides/slide3.xml" Id="R9c92e074233c4f00" /><Relationship Type="http://schemas.openxmlformats.org/officeDocument/2006/relationships/notesMaster" Target="/ppt/notesMasters/notesMaster1.xml" Id="Rfaf6a5a4b9f4433d" /></Relationships>
</file>

<file path=ppt/notesSlides/_rels/notesSlide4.xml.rels>&#65279;<?xml version="1.0" encoding="utf-8"?><Relationships xmlns="http://schemas.openxmlformats.org/package/2006/relationships"><Relationship Type="http://schemas.openxmlformats.org/officeDocument/2006/relationships/slide" Target="/ppt/slides/slide4.xml" Id="Rb47248bae5a646a8" /><Relationship Type="http://schemas.openxmlformats.org/officeDocument/2006/relationships/notesMaster" Target="/ppt/notesMasters/notesMaster1.xml" Id="R2a6b8a20716d4785" /></Relationships>
</file>

<file path=ppt/notesSlides/_rels/notesSlide5.xml.rels>&#65279;<?xml version="1.0" encoding="utf-8"?><Relationships xmlns="http://schemas.openxmlformats.org/package/2006/relationships"><Relationship Type="http://schemas.openxmlformats.org/officeDocument/2006/relationships/slide" Target="/ppt/slides/slide5.xml" Id="Ra0af3424dbbd47c2" /><Relationship Type="http://schemas.openxmlformats.org/officeDocument/2006/relationships/notesMaster" Target="/ppt/notesMasters/notesMaster1.xml" Id="R8894dbecc4d74b50" /></Relationships>
</file>

<file path=ppt/notesSlides/_rels/notesSlide6.xml.rels>&#65279;<?xml version="1.0" encoding="utf-8"?><Relationships xmlns="http://schemas.openxmlformats.org/package/2006/relationships"><Relationship Type="http://schemas.openxmlformats.org/officeDocument/2006/relationships/slide" Target="/ppt/slides/slide6.xml" Id="R829d30cdb83b49ef" /><Relationship Type="http://schemas.openxmlformats.org/officeDocument/2006/relationships/notesMaster" Target="/ppt/notesMasters/notesMaster1.xml" Id="R33538f41d4214945" /></Relationships>
</file>

<file path=ppt/notesSlides/_rels/notesSlide7.xml.rels>&#65279;<?xml version="1.0" encoding="utf-8"?><Relationships xmlns="http://schemas.openxmlformats.org/package/2006/relationships"><Relationship Type="http://schemas.openxmlformats.org/officeDocument/2006/relationships/slide" Target="/ppt/slides/slide7.xml" Id="Rc8619ef25c224cac" /><Relationship Type="http://schemas.openxmlformats.org/officeDocument/2006/relationships/notesMaster" Target="/ppt/notesMasters/notesMaster1.xml" Id="R62ecec8c88ea4629" /></Relationships>
</file>

<file path=ppt/notesSlides/_rels/notesSlide8.xml.rels>&#65279;<?xml version="1.0" encoding="utf-8"?><Relationships xmlns="http://schemas.openxmlformats.org/package/2006/relationships"><Relationship Type="http://schemas.openxmlformats.org/officeDocument/2006/relationships/slide" Target="/ppt/slides/slide8.xml" Id="Rb40c124d1b464d6f" /><Relationship Type="http://schemas.openxmlformats.org/officeDocument/2006/relationships/notesMaster" Target="/ppt/notesMasters/notesMaster1.xml" Id="R76dfcf6a246544c8" /></Relationships>
</file>

<file path=ppt/notesSlides/_rels/notesSlide9.xml.rels>&#65279;<?xml version="1.0" encoding="utf-8"?><Relationships xmlns="http://schemas.openxmlformats.org/package/2006/relationships"><Relationship Type="http://schemas.openxmlformats.org/officeDocument/2006/relationships/slide" Target="/ppt/slides/slide9.xml" Id="Ra627088598264fd2" /><Relationship Type="http://schemas.openxmlformats.org/officeDocument/2006/relationships/notesMaster" Target="/ppt/notesMasters/notesMaster1.xml" Id="Ra7bf0472b82c42e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a58fa7537304fa7" /><Relationship Type="http://schemas.openxmlformats.org/officeDocument/2006/relationships/notesMaster" Target="/ppt/notesMasters/notesMaster1.xml" Id="Rcea888cd92e243d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55dd3a30d3d4040" /><Relationship Type="http://schemas.openxmlformats.org/officeDocument/2006/relationships/notesMaster" Target="/ppt/notesMasters/notesMaster1.xml" Id="Rdf3cf3d7eeb8457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4cc874d3fe2477d" /><Relationship Type="http://schemas.openxmlformats.org/officeDocument/2006/relationships/notesMaster" Target="/ppt/notesMasters/notesMaster1.xml" Id="R50932c79e8624ef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a4295397d17460d" /><Relationship Type="http://schemas.openxmlformats.org/officeDocument/2006/relationships/notesMaster" Target="/ppt/notesMasters/notesMaster1.xml" Id="R2c695c8cbee642e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2b186dbfa784362" /><Relationship Type="http://schemas.openxmlformats.org/officeDocument/2006/relationships/notesMaster" Target="/ppt/notesMasters/notesMaster1.xml" Id="R29c9b37123854e3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0324b84bffb47ea" /><Relationship Type="http://schemas.openxmlformats.org/officeDocument/2006/relationships/notesMaster" Target="/ppt/notesMasters/notesMaster1.xml" Id="Rb4e86a871a5b43b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e866999e3c3426d" /><Relationship Type="http://schemas.openxmlformats.org/officeDocument/2006/relationships/notesMaster" Target="/ppt/notesMasters/notesMaster1.xml" Id="Rabe356ff0115472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129a1d9143f4745" /><Relationship Type="http://schemas.openxmlformats.org/officeDocument/2006/relationships/notesMaster" Target="/ppt/notesMasters/notesMaster1.xml" Id="R0355fcc80c974e2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e760fd78757464e" /><Relationship Type="http://schemas.openxmlformats.org/officeDocument/2006/relationships/notesMaster" Target="/ppt/notesMasters/notesMaster1.xml" Id="Rdd40c71530304ea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e567282cf8943a1" /><Relationship Type="http://schemas.openxmlformats.org/officeDocument/2006/relationships/notesMaster" Target="/ppt/notesMasters/notesMaster1.xml" Id="Rd16c0c6dbcdb474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lang="tr-TR"/>
              <ns0:t>00:00–00:35 | EŞİK, sınırlı analist zamanını önce hangi şirkete ayıracağımızı belirleyen bir karar destek prototipi. Ayşe Simal Alpözer ve Berat Bolat olarak tüm çalışmaları birlikte yürüttük. Miuul projemiz birinci oldu. Bugün hem verideki kanıtı hem çalışan inceleme akışını göstereceğiz.</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lang="tr-TR"/>
              <ns0:t>00:35–01:20 | Önce yalnız soldaki doğruluğa dikkat çekin. Her şirkete iflas etmez demek tarihsel testte %92,99 doğruluk sağlar. Bir kez tıklayın: fakat 82 iflastan sıfırını yakalar. Bu nedenle doğruluk yerine ilk %10 inceleme listesinde yakalanan gerçek iflas oranını önceliklendirdik. %10 bir kapasite varsayımıdır, iflas olasılığı eşiği değildir.</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lang="tr-TR"/>
              <ns0:t>01:20–02:00 | Kaynak UCI Polish Companies Bankruptcy, bir yıllık ufuk. 5.910 kayıttan 60 tam tekrarı çıkardık. 5.850 kaydı 4.680 geliştirme ve 1.170 tarihsel test olarak ayırdık. Bu anonim, tarihsel Polonya verisidir; güncel Türkiye şirketlerinde doğrulanmış bir sistem olduğunu söylemiyoruz.</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lang="tr-TR"/>
              <ns0:t>02:00–02:45 | İflas sınıfı %6,97 ile azınlık. En az bir girdisi eksik kayıt oranı %48,80; Attr37 eksikliği %43,16. Bölmeleri sınıf oranını koruyarak yaptık. Medyan ve sınıf ağırlığı yalnız eğitim verisinden hesaplandı. Test medyanını öğrenmedik. Uç finansal değerleri otomatik olarak silmedik.</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lang="tr-TR"/>
              <ns0:t>02:45–03:25 | Dört ek özellik denedik: eksiklik oranı, kısa vadeli borç payı, zarar ile likidite ve satış düşüşünü birlikte işaretleyen göstergeler. Bu sabit ayarlı keşifsel karşılaştırmada yakalama 1,53 yüzde puan düştü. Final model 64 kaynak oranı koruyor. Özellik sayısını artırmak tek başına başarı garantisi değil.</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lang="tr-TR"/>
              <ns0:t>03:25–04:30 | Her dış turda 3.744 kayıtla çalışıyoruz. Bunun içinde üç katlı doğrulama ve her aile için 40 Optuna denemesi ile ayarlar seçiliyor. Bir kez tıklayın: 936 kayıt bu ayar aramasının dışında tutuluyor ve değerlendirmede kullanılıyor. Beş dış tur ve her aile için son ayar araması toplam 1.440 iç eğitime karşılık geliyor. Son aile tercihi dış kat ortalamalarına dayandığı için bu katları yeni bağımsız test gibi sunmuyoruz.</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lang="tr-TR"/>
              <ns0:t>04:30–05:20 | Aynı dış katlarda ilk %10 yakalamada Optuna XGBoost %79,15, LightGBM %77,61. İş hedefimizde 1,54 yüzde puanlık ortalama fark nedeniyle XGBoost sürümünü tercih ettik. AP bütün sıralamayı özetleyen ayrı metriktir; bu metrikte LightGBM bir miktar önde. XGBoost her ölçütte üstün iddiasında bulunmuyoruz.</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lang="tr-TR"/>
              <ns0:t>05:20–05:55 | Beş çubuk, beş dış değerlendirme sonucudur. Ortalama %79,15; katlar arası standart sapma 2,76 yüzde puan. Bu, bir şirketin %79,15 iflas edeceği anlamına gelmez. İlk %10 listeye gerçek iflasların ne kadarının girdiğini ölçer.</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lang="tr-TR"/>
              <ns0:t>05:55–06:45 | Tarihsel testte 1.170 kaydın ilk 117 tanesini inceliyoruz. 82 gerçek iflasın 67 tanesi burada: yakalama %81,71. Listedeki isabet 67/117, yani %57,26. 50 yanlış alarm ve 15 kaçırılan iflas var. Aynı tarihsel testte LightGBM 70 iflas yakalamıştı; bu karşı kanıtı saklamıyoruz. Test önceden incelendi; yeni bağımsız doğrulama değil.</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lang="tr-TR"/>
              <ns0:t>06:45–07:35 | XGBoost zaten ham bir olasılık tahmini verir. Sigmoid kalibrasyon ile bu tahminlerin gözlenen iflas sıklıklarıyla uyumunu iyileştirmeyi denedik. Brier .0344’ten .0318’e, log loss .1391’den .1207’ye düştü. Bu ölçümlerde küçük daha iyidir. Yeniden kullanılan 4.680 dış kat kaydında keşifsel bir deney; kesin bireysel olasılık veya yeni dış doğrulama iddiası yok.</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lang="tr-TR"/>
              <ns0:t>07:35–08:25 | ESIK-05817 üçüncü sırada. En güçlü pozitif SHAP katkısı Attr21’den geliyor fakat bu girdi eksik ve eğitim medyanıyla doldurulmuş. Burada analistin ilk işi kaynak mali tabloyu doğrulamak. Üç çubuğun üçü de ham skoru artırıyor. SHAP log-odds katkısıdır; yüzde puan, nedensellik veya kesin iflas nedeni değildir.</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lang="tr-TR"/>
              <ns0:t>08:25–09:00 | 117’de durmak bir kapasite kararıdır. 125. sıradaki ESIK-05511, düşük görünen kalibre tahminine rağmen tarihsel olarak iflas etmiş. Eksik girdisi de yok. Model hata yapar; düşük skor iflası dışlamaz.</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lang="tr-TR"/>
              <ns0:t>09:00–09:40 | Kapasiteyi %10’dan %20’ye çıkarınca 117 ek inceleme ile sekiz ek iflas yakalanıyor. Yakalama %91,46’ya yükseliyor. Bunun ekonomik karşılığı için inceleme maliyeti ve kaçırılan vakaların maliyeti ayrıca ölçülmeli. Veride olmayan bir parasal kazanç söylemiyoruz.</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lang="tr-TR"/>
              <ns0:t>09:40–12:10 | CANLI DEMO. Bir kez tıklayarak ses/rapor adımını açın. http://127.0.0.1:8503 adresine geçin. Öncelik listesinden bir satır seçip şirketi açın; ESIK-05817 örneğini gösterin. Eksik Attr21 ile model girdisini ayırın. Senaryo kısayolunda tek gözlenen oranı değiştirip model skorunun duyarlılığını gösterin. Rapor paylaşımında HTML önizlemesini açın; e-posta yalnız Gönder düğmesi ile gider. Mikrofon opsiyoneldir: sesi metne çevirir, kullanıcı metni kontrol eder. Sayısal değerleri Python/model üretir; dil modeli açıklamaya yardım eder. Bağlantı aksarsa raporu yerel HTML olarak açın; tekrar tekrar gönderim yapmayın.</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lang="tr-TR"/>
              <ns0:t>12:10–13:00 | 117 incelemede 67 tarihsel iflası önceliklendiren; gerekçeyi, eksik veriyi, senaryoyu ve paylaşılabilir raporu bir araya getiren prototip. Bir sonraki adım güncel yerel veride dış doğrulama ve analist geri bildirimi ile pilot. Soruları alabiliriz.</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lang="tr-TR"/>
              <ns0:t>TEKNİK EK | PCA için aynı kayıtlı XGBoost ayarları kullanıldı, PCA’ya özel hiperparametre araması yapılmadı. Bu sonuç PCA her zaman kötüdür anlamına gelmez. Bu deneyde 64 özgün oranı koruduk.</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lang="tr-TR"/>
              <ns0:t>TEKNİK EK | Streamlit WAV kaydını n8n’e gönderir; whisper-1 metne çevirir. Kullanıcı kontrol edip gönderir. Şirketin sayısal bilgileri kayıtlı model ve kalibrasyon çıktısından gelir. OpenAI dil modeli verilen bağlamı açıklar. API anahtarı bağlantıda saklanır; slaytta veya raporda bulunmaz.</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lang="tr-TR"/>
              <ns0:t>TEKNİK EK | Gerçek uygulamadan ESIK-05817 şirketi. Ham skor, portföydeki yüzdelik sıra ve kalibre olasılık ayrı kavramlardır. %99,0 kalibrasyon tahmini keşifseldir.</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lang="tr-TR"/>
              <ns0:t>TEKNİK EK | Bu örnek yanıt kayıtlı model çıktısından deterministik olarak üretilmiştir; örnek için OpenAI çağrısı yapılmamıştır. Dil modelinin hesaplaması gibi sunmayın.</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4a30038531e4e4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0e7ca46e235495c" /><Relationship Type="http://schemas.openxmlformats.org/officeDocument/2006/relationships/slideLayout" Target="/ppt/slideLayouts/slideLayout1.xml" Id="Rcce3bc261a4441f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ce3bc261a4441f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b3748a735314731" /><Relationship Type="http://schemas.openxmlformats.org/officeDocument/2006/relationships/image" Target="/ppt/media/image.png" Id="Rc9ff0b04e7a74d86" /><Relationship Type="http://schemas.openxmlformats.org/officeDocument/2006/relationships/notesSlide" Target="/ppt/notesSlides/notesSlide1.xml" Id="R65d3f9ceb0744b2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7be6ef286a04508" /><Relationship Type="http://schemas.openxmlformats.org/officeDocument/2006/relationships/notesSlide" Target="/ppt/notesSlides/notesSlide2.xml" Id="R1a63b0822a8a464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97426e0dfc84d35" /><Relationship Type="http://schemas.openxmlformats.org/officeDocument/2006/relationships/notesSlide" Target="/ppt/notesSlides/notesSlide3.xml" Id="R7bd025d3db394d0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80ef6df65db4322" /><Relationship Type="http://schemas.openxmlformats.org/officeDocument/2006/relationships/chart" Target="/ppt/slides/charts/chart1.xml" Id="R43805f2a6f194d05" /><Relationship Type="http://schemas.openxmlformats.org/officeDocument/2006/relationships/notesSlide" Target="/ppt/notesSlides/notesSlide4.xml" Id="Rf44db38fd5364c5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0d70ffa6da14c7d" /><Relationship Type="http://schemas.openxmlformats.org/officeDocument/2006/relationships/chart" Target="/ppt/slides/charts/chart2.xml" Id="Ra4efd4c3cbeb4bfb" /><Relationship Type="http://schemas.openxmlformats.org/officeDocument/2006/relationships/notesSlide" Target="/ppt/notesSlides/notesSlide5.xml" Id="R931b26407c454c4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e27925460724491" /><Relationship Type="http://schemas.openxmlformats.org/officeDocument/2006/relationships/notesSlide" Target="/ppt/notesSlides/notesSlide6.xml" Id="Rc5f9e8e042444d0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d7292ce42c243a4" /><Relationship Type="http://schemas.openxmlformats.org/officeDocument/2006/relationships/notesSlide" Target="/ppt/notesSlides/notesSlide7.xml" Id="R79a8ce51411e4d3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be9855ab9b24130" /><Relationship Type="http://schemas.openxmlformats.org/officeDocument/2006/relationships/chart" Target="/ppt/slides/charts/chart3.xml" Id="R00aa95faa9fe4310" /><Relationship Type="http://schemas.openxmlformats.org/officeDocument/2006/relationships/notesSlide" Target="/ppt/notesSlides/notesSlide8.xml" Id="Rc65481f6b3c5454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9619dbe225e4880" /><Relationship Type="http://schemas.openxmlformats.org/officeDocument/2006/relationships/chart" Target="/ppt/slides/charts/chart4.xml" Id="R620ab5b2581a48d1" /><Relationship Type="http://schemas.openxmlformats.org/officeDocument/2006/relationships/notesSlide" Target="/ppt/notesSlides/notesSlide9.xml" Id="R72805d48bdf64f9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fa775a54bc3402b" /><Relationship Type="http://schemas.openxmlformats.org/officeDocument/2006/relationships/chart" Target="/ppt/slides/charts/chart5.xml" Id="R162a784167694635" /><Relationship Type="http://schemas.openxmlformats.org/officeDocument/2006/relationships/notesSlide" Target="/ppt/notesSlides/notesSlide10.xml" Id="R30be452cea884b0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a4e55596bda4430" /><Relationship Type="http://schemas.openxmlformats.org/officeDocument/2006/relationships/chart" Target="/ppt/slides/charts/chart6.xml" Id="R0941ef0443cb4c3b" /><Relationship Type="http://schemas.openxmlformats.org/officeDocument/2006/relationships/notesSlide" Target="/ppt/notesSlides/notesSlide11.xml" Id="R16f9b5f9e1414eb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f6ba9685b704fd5" /><Relationship Type="http://schemas.openxmlformats.org/officeDocument/2006/relationships/notesSlide" Target="/ppt/notesSlides/notesSlide12.xml" Id="Ref32181aefa149a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fb116d671ce4624" /><Relationship Type="http://schemas.openxmlformats.org/officeDocument/2006/relationships/chart" Target="/ppt/slides/charts/chart7.xml" Id="R1e1b055aad4349e1" /><Relationship Type="http://schemas.openxmlformats.org/officeDocument/2006/relationships/notesSlide" Target="/ppt/notesSlides/notesSlide13.xml" Id="Rb8b93371cd4b495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7dd4562cf45413f" /><Relationship Type="http://schemas.openxmlformats.org/officeDocument/2006/relationships/image" Target="/ppt/media/image2.png" Id="R7c6b27dd40e04023" /><Relationship Type="http://schemas.openxmlformats.org/officeDocument/2006/relationships/image" Target="/ppt/media/image3.png" Id="Ra64ee5d10a8c444a" /><Relationship Type="http://schemas.openxmlformats.org/officeDocument/2006/relationships/notesSlide" Target="/ppt/notesSlides/notesSlide14.xml" Id="R4ff3a7f3739a435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fec21cacc7443aa" /><Relationship Type="http://schemas.openxmlformats.org/officeDocument/2006/relationships/image" Target="/ppt/media/image4.png" Id="R028b693ab95e4f9a" /><Relationship Type="http://schemas.openxmlformats.org/officeDocument/2006/relationships/notesSlide" Target="/ppt/notesSlides/notesSlide15.xml" Id="Rd583a4f118e649a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97f34f8f9584f27" /><Relationship Type="http://schemas.openxmlformats.org/officeDocument/2006/relationships/chart" Target="/ppt/slides/charts/chart8.xml" Id="R77291f9cc90047d3" /><Relationship Type="http://schemas.openxmlformats.org/officeDocument/2006/relationships/notesSlide" Target="/ppt/notesSlides/notesSlide16.xml" Id="R5a85f84e8a014b3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051662f6c3e4c1b" /><Relationship Type="http://schemas.openxmlformats.org/officeDocument/2006/relationships/notesSlide" Target="/ppt/notesSlides/notesSlide17.xml" Id="R68ae012c1d384be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a6c2dc2707a4aeb" /><Relationship Type="http://schemas.openxmlformats.org/officeDocument/2006/relationships/image" Target="/ppt/media/image5.png" Id="R04d13e87c25a4865" /><Relationship Type="http://schemas.openxmlformats.org/officeDocument/2006/relationships/notesSlide" Target="/ppt/notesSlides/notesSlide18.xml" Id="R92d4cd4e660544f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1bfda0561034886" /><Relationship Type="http://schemas.openxmlformats.org/officeDocument/2006/relationships/image" Target="/ppt/media/image6.png" Id="Rd35d455d3f6d48df" /><Relationship Type="http://schemas.openxmlformats.org/officeDocument/2006/relationships/notesSlide" Target="/ppt/notesSlides/notesSlide19.xml" Id="R28ba64ba2d84471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575" b="0">
                <a:solidFill>
                  <a:srgbClr val="0B0E13"/>
                </a:solidFill>
                <a:latin typeface="Segoe UI"/>
                <a:ea typeface="Segoe UI"/>
                <a:cs typeface="Segoe UI"/>
              </a:rPr>
              <a:t>Temiz 5.850 kayıttaki oranlar</a:t>
            </a:r>
          </a:p>
        </c:rich>
      </c:tx>
      <c:overlay val="0"/>
      <c:txPr>
        <a:bodyPr xmlns:a="http://schemas.openxmlformats.org/drawingml/2006/main" anchorCtr="1"/>
        <a:lstStyle xmlns:a="http://schemas.openxmlformats.org/drawingml/2006/main"/>
        <a:p xmlns:a="http://schemas.openxmlformats.org/drawingml/2006/main">
          <a:pPr>
            <a:defRPr sz="1575" b="0">
              <a:solidFill>
                <a:srgbClr val="0B0E13"/>
              </a:solidFill>
              <a:latin typeface="Segoe UI"/>
              <a:ea typeface="Segoe UI"/>
              <a:cs typeface="Segoe UI"/>
            </a:defRPr>
          </a:pPr>
        </a:p>
      </c:txPr>
    </c:title>
    <c:plotArea>
      <c:barChart>
        <c:barDir val="bar"/>
        <c:grouping val="clustered"/>
        <c:varyColors val="0"/>
        <c:ser>
          <c:idx val="0"/>
          <c:order val="0"/>
          <c:tx>
            <c:v>Temiz veri içindeki pay</c:v>
          </c:tx>
          <c:spPr>
            <ns0:solidFill xmlns:ns0="http://schemas.openxmlformats.org/drawingml/2006/main">
              <ns0:srgbClr val="FF725C"/>
            </ns0:solidFill>
          </c:spPr>
          <c:dPt>
            <c:idx val="0"/>
            <c:spPr>
              <ns0:solidFill xmlns:ns0="http://schemas.openxmlformats.org/drawingml/2006/main">
                <ns0:srgbClr val="FF725C"/>
              </ns0:solidFill>
            </c:spPr>
          </c:dPt>
          <c:dPt>
            <c:idx val="1"/>
            <c:spPr>
              <ns0:solidFill xmlns:ns0="http://schemas.openxmlformats.org/drawingml/2006/main">
                <ns0:srgbClr val="0B0E13"/>
              </ns0:solidFill>
            </c:spPr>
          </c:dPt>
          <c:dPt>
            <c:idx val="2"/>
            <c:spPr>
              <ns0:solidFill xmlns:ns0="http://schemas.openxmlformats.org/drawingml/2006/main">
                <ns0:srgbClr val="344BFF"/>
              </ns0:solidFill>
            </c:spPr>
          </c:dPt>
          <c:cat>
            <c:strRef>
              <c:f>'Chart Data'!$A$2:$A$4</c:f>
              <c:strCache>
                <c:ptCount val="3"/>
                <c:pt idx="0">
                  <c:v>Attr37 eksiklik</c:v>
                </c:pt>
                <c:pt idx="1">
                  <c:v>En az bir eksik girdi</c:v>
                </c:pt>
                <c:pt idx="2">
                  <c:v>İflas oranı</c:v>
                </c:pt>
              </c:strCache>
            </c:strRef>
          </c:cat>
          <c:val>
            <c:numRef>
              <c:f>'Chart Data'!$B$2:$B$4</c:f>
              <c:numCache>
                <c:formatCode>0.00%</c:formatCode>
                <c:ptCount val="3"/>
                <c:pt idx="0">
                  <c:v>0.431623931624</c:v>
                </c:pt>
                <c:pt idx="1">
                  <c:v>0.488034188034</c:v>
                </c:pt>
                <c:pt idx="2">
                  <c:v>0.0697435897436</c:v>
                </c:pt>
              </c:numCache>
            </c:numRef>
          </c:val>
        </c:ser>
        <c:dLbls>
          <c:txPr>
            <a:bodyPr xmlns:a="http://schemas.openxmlformats.org/drawingml/2006/main" anchorCtr="1"/>
            <a:lstStyle xmlns:a="http://schemas.openxmlformats.org/drawingml/2006/main"/>
            <a:p xmlns:a="http://schemas.openxmlformats.org/drawingml/2006/main">
              <a:pPr>
                <a:defRPr sz="2025" b="1">
                  <a:solidFill>
                    <a:srgbClr val="0B0E13"/>
                  </a:solidFill>
                  <a:latin typeface="Bahnschrift"/>
                  <a:ea typeface="Bahnschrift"/>
                  <a:cs typeface="Bahnschrift"/>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75">
                <a:solidFill>
                  <a:srgbClr val="0B0E13"/>
                </a:solidFill>
                <a:latin typeface="Segoe UI"/>
                <a:ea typeface="Segoe UI"/>
                <a:cs typeface="Segoe UI"/>
              </a:defRPr>
            </a:pPr>
          </a:p>
        </c:txPr>
        <c:crossAx val="48672768"/>
      </c:catAx>
      <c:valAx>
        <c:axId val="48672768"/>
        <c:scaling>
          <c:orientation val="minMax"/>
          <c:max val="1"/>
          <c:min val="0"/>
        </c:scaling>
        <c:delete val="0"/>
        <c:axPos val="b"/>
        <c:majorGridlines>
          <c:spPr>
            <a:ln xmlns:a="http://schemas.openxmlformats.org/drawingml/2006/main" w="4763">
              <a:solidFill>
                <a:srgbClr val="CFD5D7"/>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0B0E13"/>
                </a:solidFill>
                <a:latin typeface="Segoe UI"/>
                <a:ea typeface="Segoe UI"/>
                <a:cs typeface="Segoe UI"/>
              </a:defRPr>
            </a:pPr>
          </a:p>
        </c:txPr>
        <c:crossAx val="48650112"/>
        <c:crossBetween val="between"/>
        <c:majorUnit val="0.2"/>
      </c:valAx>
      <c:spPr>
        <ns0:solidFill xmlns:ns0="http://schemas.openxmlformats.org/drawingml/2006/main">
          <ns0:srgbClr val="F4F5F0"/>
        </ns0:solidFill>
        <a:ln xmlns:a="http://schemas.openxmlformats.org/drawingml/2006/main" w="0">
          <a:noFill/>
        </a:ln>
      </c:spPr>
    </c:plotArea>
    <c:plotVisOnly val="1"/>
  </c:chart>
  <c:spPr>
    <ns0:solidFill xmlns:ns0="http://schemas.openxmlformats.org/drawingml/2006/main">
      <ns0:srgbClr val="F4F5F0"/>
    </ns0:solidFill>
    <a:ln xmlns:a="http://schemas.openxmlformats.org/drawingml/2006/main" w="0">
      <a:noFill/>
    </a:ln>
  </c:spPr>
  <c:externalData xmlns:r="http://schemas.openxmlformats.org/officeDocument/2006/relationships"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75" b="0">
                <a:solidFill>
                  <a:srgbClr val="0B0E13"/>
                </a:solidFill>
                <a:latin typeface="Segoe UI"/>
                <a:ea typeface="Segoe UI"/>
                <a:cs typeface="Segoe UI"/>
              </a:rPr>
              <a:t>5 geliştirme katında ortalama yakalama@%10</a:t>
            </a:r>
          </a:p>
        </c:rich>
      </c:tx>
      <c:overlay val="0"/>
      <c:txPr>
        <a:bodyPr xmlns:a="http://schemas.openxmlformats.org/drawingml/2006/main" anchorCtr="1"/>
        <a:lstStyle xmlns:a="http://schemas.openxmlformats.org/drawingml/2006/main"/>
        <a:p xmlns:a="http://schemas.openxmlformats.org/drawingml/2006/main">
          <a:pPr>
            <a:defRPr sz="1575" b="0">
              <a:solidFill>
                <a:srgbClr val="0B0E13"/>
              </a:solidFill>
              <a:latin typeface="Segoe UI"/>
              <a:ea typeface="Segoe UI"/>
              <a:cs typeface="Segoe UI"/>
            </a:defRPr>
          </a:pPr>
        </a:p>
      </c:txPr>
    </c:title>
    <c:plotArea>
      <c:barChart>
        <c:barDir val="bar"/>
        <c:grouping val="clustered"/>
        <c:varyColors val="0"/>
        <c:ser>
          <c:idx val="0"/>
          <c:order val="0"/>
          <c:tx>
            <c:v>Ortalama Recall@Top10</c:v>
          </c:tx>
          <c:spPr>
            <a:solidFill xmlns:a="http://schemas.openxmlformats.org/drawingml/2006/main">
              <a:srgbClr val="555E68"/>
            </a:solidFill>
          </c:spPr>
          <c:dPt>
            <c:idx val="0"/>
            <c:invertIfNegative val="0"/>
            <c:spPr>
              <a:solidFill xmlns:a="http://schemas.openxmlformats.org/drawingml/2006/main">
                <a:srgbClr val="555E68"/>
              </a:solidFill>
            </c:spPr>
          </c:dPt>
          <c:dPt>
            <c:idx val="1"/>
            <c:invertIfNegative val="0"/>
            <c:spPr>
              <a:solidFill xmlns:a="http://schemas.openxmlformats.org/drawingml/2006/main">
                <a:srgbClr val="344BFF"/>
              </a:solidFill>
            </c:spPr>
          </c:dPt>
          <c:cat>
            <c:strRef>
              <c:f>'Chart Data'!$A$2:$A$3</c:f>
              <c:strCache>
                <c:ptCount val="2"/>
                <c:pt idx="0">
                  <c:v>64 oran + 4 özellik</c:v>
                </c:pt>
                <c:pt idx="1">
                  <c:v>64 kaynak oran</c:v>
                </c:pt>
              </c:strCache>
            </c:strRef>
          </c:cat>
          <c:val>
            <c:numRef>
              <c:f>'Chart Data'!$B$2:$B$3</c:f>
              <c:numCache>
                <c:formatCode>0.00%</c:formatCode>
                <c:ptCount val="2"/>
                <c:pt idx="0">
                  <c:v>0.760699300699</c:v>
                </c:pt>
                <c:pt idx="1">
                  <c:v>0.776037296037</c:v>
                </c:pt>
              </c:numCache>
            </c:numRef>
          </c:val>
        </c:ser>
        <c:dLbls>
          <c:txPr>
            <a:bodyPr xmlns:a="http://schemas.openxmlformats.org/drawingml/2006/main" anchorCtr="1"/>
            <a:lstStyle xmlns:a="http://schemas.openxmlformats.org/drawingml/2006/main"/>
            <a:p xmlns:a="http://schemas.openxmlformats.org/drawingml/2006/main">
              <a:pPr>
                <a:defRPr sz="2025" b="1">
                  <a:solidFill>
                    <a:srgbClr val="0B0E13"/>
                  </a:solidFill>
                  <a:latin typeface="Bahnschrift"/>
                  <a:ea typeface="Bahnschrift"/>
                  <a:cs typeface="Bahnschrift"/>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0B0E13"/>
                </a:solidFill>
                <a:latin typeface="Segoe UI"/>
                <a:ea typeface="Segoe UI"/>
                <a:cs typeface="Segoe UI"/>
              </a:defRPr>
            </a:pPr>
          </a:p>
        </c:txPr>
        <c:crossAx val="48672768"/>
      </c:catAx>
      <c:valAx>
        <c:axId val="48672768"/>
        <c:scaling>
          <c:orientation val="minMax"/>
          <c:max val="1"/>
          <c:min val="0"/>
        </c:scaling>
        <c:delete val="0"/>
        <c:axPos val="b"/>
        <c:majorGridlines>
          <c:spPr>
            <a:ln xmlns:a="http://schemas.openxmlformats.org/drawingml/2006/main" w="4763">
              <a:solidFill>
                <a:srgbClr val="CFD5D7"/>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0B0E13"/>
                </a:solidFill>
                <a:latin typeface="Segoe UI"/>
                <a:ea typeface="Segoe UI"/>
                <a:cs typeface="Segoe UI"/>
              </a:defRPr>
            </a:pPr>
          </a:p>
        </c:txPr>
        <c:crossAx val="48650112"/>
        <c:crossBetween val="between"/>
        <c:majorUnit val="0.2"/>
      </c:valAx>
      <c:spPr>
        <a:solidFill xmlns:a="http://schemas.openxmlformats.org/drawingml/2006/main">
          <a:srgbClr val="F4F5F0"/>
        </a:solidFill>
        <a:ln xmlns:a="http://schemas.openxmlformats.org/drawingml/2006/main" w="0">
          <a:noFill/>
        </a:ln>
      </c:spPr>
    </c:plotArea>
    <c:plotVisOnly val="1"/>
  </c:chart>
  <c:spPr>
    <a:solidFill xmlns:a="http://schemas.openxmlformats.org/drawingml/2006/main">
      <a:srgbClr val="F4F5F0"/>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75" b="0">
                <a:solidFill>
                  <a:srgbClr val="F4F5F0"/>
                </a:solidFill>
                <a:latin typeface="Segoe UI"/>
                <a:ea typeface="Segoe UI"/>
                <a:cs typeface="Segoe UI"/>
              </a:rPr>
              <a:t>İlk %10’da yakalama</a:t>
            </a:r>
          </a:p>
        </c:rich>
      </c:tx>
      <c:overlay val="0"/>
      <c:txPr>
        <a:bodyPr xmlns:a="http://schemas.openxmlformats.org/drawingml/2006/main" anchorCtr="1"/>
        <a:lstStyle xmlns:a="http://schemas.openxmlformats.org/drawingml/2006/main"/>
        <a:p xmlns:a="http://schemas.openxmlformats.org/drawingml/2006/main">
          <a:pPr>
            <a:defRPr sz="1575" b="0">
              <a:solidFill>
                <a:srgbClr val="F4F5F0"/>
              </a:solidFill>
              <a:latin typeface="Segoe UI"/>
              <a:ea typeface="Segoe UI"/>
              <a:cs typeface="Segoe UI"/>
            </a:defRPr>
          </a:pPr>
        </a:p>
      </c:txPr>
    </c:title>
    <c:plotArea>
      <c:barChart>
        <c:barDir val="col"/>
        <c:grouping val="clustered"/>
        <c:varyColors val="0"/>
        <c:ser>
          <c:idx val="0"/>
          <c:order val="0"/>
          <c:tx>
            <c:v>Recall@Top10</c:v>
          </c:tx>
          <c:spPr>
            <a:solidFill xmlns:a="http://schemas.openxmlformats.org/drawingml/2006/main">
              <a:srgbClr val="D7FF42"/>
            </a:solidFill>
          </c:spPr>
          <c:dPt>
            <c:idx val="0"/>
            <c:invertIfNegative val="0"/>
            <c:spPr>
              <a:solidFill xmlns:a="http://schemas.openxmlformats.org/drawingml/2006/main">
                <a:srgbClr val="D7FF42"/>
              </a:solidFill>
            </c:spPr>
          </c:dPt>
          <c:dPt>
            <c:idx val="1"/>
            <c:invertIfNegative val="0"/>
            <c:spPr>
              <a:solidFill xmlns:a="http://schemas.openxmlformats.org/drawingml/2006/main">
                <a:srgbClr val="D7FF42"/>
              </a:solidFill>
            </c:spPr>
          </c:dPt>
          <c:dPt>
            <c:idx val="2"/>
            <c:invertIfNegative val="0"/>
            <c:spPr>
              <a:solidFill xmlns:a="http://schemas.openxmlformats.org/drawingml/2006/main">
                <a:srgbClr val="D7FF42"/>
              </a:solidFill>
            </c:spPr>
          </c:dPt>
          <c:dPt>
            <c:idx val="3"/>
            <c:invertIfNegative val="0"/>
            <c:spPr>
              <a:solidFill xmlns:a="http://schemas.openxmlformats.org/drawingml/2006/main">
                <a:srgbClr val="D7FF42"/>
              </a:solidFill>
            </c:spPr>
          </c:dPt>
          <c:dPt>
            <c:idx val="4"/>
            <c:invertIfNegative val="0"/>
            <c:spPr>
              <a:solidFill xmlns:a="http://schemas.openxmlformats.org/drawingml/2006/main">
                <a:srgbClr val="D7FF42"/>
              </a:solidFill>
            </c:spPr>
          </c:dPt>
          <c:cat>
            <c:strRef>
              <c:f>'Chart Data'!$A$2:$A$6</c:f>
              <c:strCache>
                <c:ptCount val="5"/>
                <c:pt idx="0">
                  <c:v>Kat 5</c:v>
                </c:pt>
                <c:pt idx="1">
                  <c:v>Kat 4</c:v>
                </c:pt>
                <c:pt idx="2">
                  <c:v>Kat 3</c:v>
                </c:pt>
                <c:pt idx="3">
                  <c:v>Kat 2</c:v>
                </c:pt>
                <c:pt idx="4">
                  <c:v>Kat 1</c:v>
                </c:pt>
              </c:strCache>
            </c:strRef>
          </c:cat>
          <c:val>
            <c:numRef>
              <c:f>'Chart Data'!$B$2:$B$6</c:f>
              <c:numCache>
                <c:formatCode>0.00%</c:formatCode>
                <c:ptCount val="5"/>
                <c:pt idx="0">
                  <c:v>0.757575757576</c:v>
                </c:pt>
                <c:pt idx="1">
                  <c:v>0.830769230769</c:v>
                </c:pt>
                <c:pt idx="2">
                  <c:v>0.769230769231</c:v>
                </c:pt>
                <c:pt idx="3">
                  <c:v>0.815384615385</c:v>
                </c:pt>
                <c:pt idx="4">
                  <c:v>0.784615384615</c:v>
                </c:pt>
              </c:numCache>
            </c:numRef>
          </c:val>
        </c:ser>
        <c:dLbls>
          <c:txPr>
            <a:bodyPr xmlns:a="http://schemas.openxmlformats.org/drawingml/2006/main" anchorCtr="1"/>
            <a:lstStyle xmlns:a="http://schemas.openxmlformats.org/drawingml/2006/main"/>
            <a:p xmlns:a="http://schemas.openxmlformats.org/drawingml/2006/main">
              <a:pPr>
                <a:defRPr sz="2025" b="1">
                  <a:solidFill>
                    <a:srgbClr val="F4F5F0"/>
                  </a:solidFill>
                  <a:latin typeface="Bahnschrift"/>
                  <a:ea typeface="Bahnschrift"/>
                  <a:cs typeface="Bahnschrift"/>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tickLblPos val="low"/>
        <c:tickLblSkip val="1"/>
        <c:tickMarkSkip val="1"/>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75">
                <a:solidFill>
                  <a:srgbClr val="F4F5F0"/>
                </a:solidFill>
                <a:latin typeface="Segoe UI"/>
                <a:ea typeface="Segoe UI"/>
                <a:cs typeface="Segoe UI"/>
              </a:defRPr>
            </a:pPr>
          </a:p>
        </c:txPr>
        <c:crossAx val="48672768"/>
      </c:catAx>
      <c:valAx>
        <c:axId val="48672768"/>
        <c:scaling>
          <c:orientation val="minMax"/>
          <c:max val="1"/>
          <c:min val="0"/>
        </c:scaling>
        <c:delete val="0"/>
        <c:axPos val="l"/>
        <c:majorGridlines>
          <c:spPr>
            <a:ln xmlns:a="http://schemas.openxmlformats.org/drawingml/2006/main" w="4763">
              <a:solidFill>
                <a:srgbClr val="343C46"/>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F4F5F0"/>
                </a:solidFill>
                <a:latin typeface="Segoe UI"/>
                <a:ea typeface="Segoe UI"/>
                <a:cs typeface="Segoe UI"/>
              </a:defRPr>
            </a:pPr>
          </a:p>
        </c:txPr>
        <c:crossAx val="48650112"/>
        <c:crossBetween val="between"/>
        <c:majorUnit val="0.2"/>
      </c:valAx>
      <c:spPr>
        <a:solidFill xmlns:a="http://schemas.openxmlformats.org/drawingml/2006/main">
          <a:srgbClr val="0B0E13"/>
        </a:solidFill>
        <a:ln xmlns:a="http://schemas.openxmlformats.org/drawingml/2006/main" w="0">
          <a:noFill/>
        </a:ln>
      </c:spPr>
    </c:plotArea>
    <c:plotVisOnly val="1"/>
  </c:chart>
  <c:spPr>
    <a:solidFill xmlns:a="http://schemas.openxmlformats.org/drawingml/2006/main">
      <a:srgbClr val="0B0E13"/>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75" b="0">
                <a:solidFill>
                  <a:srgbClr val="F4F5F0"/>
                </a:solidFill>
                <a:latin typeface="Segoe UI"/>
                <a:ea typeface="Segoe UI"/>
                <a:cs typeface="Segoe UI"/>
              </a:rPr>
              <a:t>82 gerçek iflas kaydı</a:t>
            </a:r>
          </a:p>
        </c:rich>
      </c:tx>
      <c:overlay val="0"/>
      <c:txPr>
        <a:bodyPr xmlns:a="http://schemas.openxmlformats.org/drawingml/2006/main" anchorCtr="1"/>
        <a:lstStyle xmlns:a="http://schemas.openxmlformats.org/drawingml/2006/main"/>
        <a:p xmlns:a="http://schemas.openxmlformats.org/drawingml/2006/main">
          <a:pPr>
            <a:defRPr sz="1575" b="0">
              <a:solidFill>
                <a:srgbClr val="F4F5F0"/>
              </a:solidFill>
              <a:latin typeface="Segoe UI"/>
              <a:ea typeface="Segoe UI"/>
              <a:cs typeface="Segoe UI"/>
            </a:defRPr>
          </a:pPr>
        </a:p>
      </c:txPr>
    </c:title>
    <c:plotArea>
      <c:barChart>
        <c:barDir val="bar"/>
        <c:grouping val="clustered"/>
        <c:varyColors val="0"/>
        <c:ser>
          <c:idx val="0"/>
          <c:order val="0"/>
          <c:tx>
            <c:v>82 tarihsel iflas kaydı</c:v>
          </c:tx>
          <c:spPr>
            <a:solidFill xmlns:a="http://schemas.openxmlformats.org/drawingml/2006/main">
              <a:srgbClr val="FF725C"/>
            </a:solidFill>
          </c:spPr>
          <c:dPt>
            <c:idx val="0"/>
            <c:invertIfNegative val="0"/>
            <c:spPr>
              <a:solidFill xmlns:a="http://schemas.openxmlformats.org/drawingml/2006/main">
                <a:srgbClr val="FF725C"/>
              </a:solidFill>
            </c:spPr>
          </c:dPt>
          <c:dPt>
            <c:idx val="1"/>
            <c:invertIfNegative val="0"/>
            <c:spPr>
              <a:solidFill xmlns:a="http://schemas.openxmlformats.org/drawingml/2006/main">
                <a:srgbClr val="D7FF42"/>
              </a:solidFill>
            </c:spPr>
          </c:dPt>
          <c:cat>
            <c:strRef>
              <c:f>'Chart Data'!$A$2:$A$3</c:f>
              <c:strCache>
                <c:ptCount val="2"/>
                <c:pt idx="0">
                  <c:v>Liste dışında kalan</c:v>
                </c:pt>
                <c:pt idx="1">
                  <c:v>Listede yakalanan</c:v>
                </c:pt>
              </c:strCache>
            </c:strRef>
          </c:cat>
          <c:val>
            <c:numRef>
              <c:f>'Chart Data'!$B$2:$B$3</c:f>
              <c:numCache>
                <c:formatCode>0</c:formatCode>
                <c:ptCount val="2"/>
                <c:pt idx="0">
                  <c:v>15</c:v>
                </c:pt>
                <c:pt idx="1">
                  <c:v>67</c:v>
                </c:pt>
              </c:numCache>
            </c:numRef>
          </c:val>
        </c:ser>
        <c:dLbls>
          <c:txPr>
            <a:bodyPr xmlns:a="http://schemas.openxmlformats.org/drawingml/2006/main" anchorCtr="1"/>
            <a:lstStyle xmlns:a="http://schemas.openxmlformats.org/drawingml/2006/main"/>
            <a:p xmlns:a="http://schemas.openxmlformats.org/drawingml/2006/main">
              <a:pPr>
                <a:defRPr sz="2025" b="1">
                  <a:solidFill>
                    <a:srgbClr val="F4F5F0"/>
                  </a:solidFill>
                  <a:latin typeface="Bahnschrift"/>
                  <a:ea typeface="Bahnschrift"/>
                  <a:cs typeface="Bahnschrift"/>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950">
                <a:solidFill>
                  <a:srgbClr val="F4F5F0"/>
                </a:solidFill>
                <a:latin typeface="Segoe UI"/>
                <a:ea typeface="Segoe UI"/>
                <a:cs typeface="Segoe UI"/>
              </a:defRPr>
            </a:pPr>
          </a:p>
        </c:txPr>
        <c:crossAx val="48672768"/>
      </c:catAx>
      <c:valAx>
        <c:axId val="48672768"/>
        <c:scaling>
          <c:orientation val="minMax"/>
          <c:max val="82"/>
          <c:min val="0"/>
        </c:scaling>
        <c:delete val="0"/>
        <c:axPos val="b"/>
        <c:majorGridlines>
          <c:spPr>
            <a:ln xmlns:a="http://schemas.openxmlformats.org/drawingml/2006/main" w="4763">
              <a:solidFill>
                <a:srgbClr val="6173FF"/>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F4F5F0"/>
                </a:solidFill>
                <a:latin typeface="Segoe UI"/>
                <a:ea typeface="Segoe UI"/>
                <a:cs typeface="Segoe UI"/>
              </a:defRPr>
            </a:pPr>
          </a:p>
        </c:txPr>
        <c:crossAx val="48650112"/>
        <c:crossBetween val="between"/>
        <c:majorUnit val="20"/>
      </c:valAx>
      <c:spPr>
        <a:solidFill xmlns:a="http://schemas.openxmlformats.org/drawingml/2006/main">
          <a:srgbClr val="344BFF"/>
        </a:solidFill>
        <a:ln xmlns:a="http://schemas.openxmlformats.org/drawingml/2006/main" w="0">
          <a:noFill/>
        </a:ln>
      </c:spPr>
    </c:plotArea>
    <c:plotVisOnly val="1"/>
  </c:chart>
  <c:spPr>
    <a:solidFill xmlns:a="http://schemas.openxmlformats.org/drawingml/2006/main">
      <a:srgbClr val="344B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a:solidFill>
                  <a:srgbClr val="0B0E13"/>
                </a:solidFill>
                <a:latin typeface="Segoe UI"/>
                <a:ea typeface="Segoe UI"/>
                <a:cs typeface="Segoe UI"/>
              </a:rPr>
              <a:t>Gözlenen iflas oranı</a:t>
            </a:r>
          </a:p>
        </c:rich>
      </c:tx>
      <c:overlay val="0"/>
      <c:txPr>
        <a:bodyPr xmlns:a="http://schemas.openxmlformats.org/drawingml/2006/main" anchorCtr="1"/>
        <a:lstStyle xmlns:a="http://schemas.openxmlformats.org/drawingml/2006/main"/>
        <a:p xmlns:a="http://schemas.openxmlformats.org/drawingml/2006/main">
          <a:pPr>
            <a:defRPr sz="1650">
              <a:solidFill>
                <a:srgbClr val="0B0E13"/>
              </a:solidFill>
              <a:latin typeface="Segoe UI"/>
              <a:ea typeface="Segoe UI"/>
              <a:cs typeface="Segoe UI"/>
            </a:defRPr>
          </a:pPr>
        </a:p>
      </c:txPr>
    </c:title>
    <c:plotArea>
      <c:scatterChart>
        <c:scatterStyle val="lineMarker"/>
        <c:ser>
          <c:idx val="0"/>
          <c:order val="0"/>
          <c:tx>
            <c:v>Tam uyum</c:v>
          </c:tx>
          <c:spPr>
            <a:ln xmlns:a="http://schemas.openxmlformats.org/drawingml/2006/main" w="19050">
              <a:solidFill>
                <a:srgbClr val="A8AFAF"/>
              </a:solidFill>
            </a:ln>
          </c:spPr>
          <c:marker>
            <c:symbol val="none"/>
          </c:marker>
          <c:xVal>
            <c:numRef>
              <c:f>'Chart Data'!$A$2:$A$3</c:f>
              <c:numCache>
                <c:formatCode>General</c:formatCode>
                <c:ptCount val="2"/>
                <c:pt idx="0">
                  <c:v>0</c:v>
                </c:pt>
                <c:pt idx="1">
                  <c:v>1</c:v>
                </c:pt>
              </c:numCache>
            </c:numRef>
          </c:xVal>
          <c:yVal>
            <c:numRef>
              <c:f>'Chart Data'!$B$2:$B$3</c:f>
              <c:numCache>
                <c:formatCode>0%</c:formatCode>
                <c:ptCount val="2"/>
                <c:pt idx="0">
                  <c:v>0</c:v>
                </c:pt>
                <c:pt idx="1">
                  <c:v>1</c:v>
                </c:pt>
              </c:numCache>
            </c:numRef>
          </c:yVal>
        </c:ser>
        <c:ser>
          <c:idx val="1"/>
          <c:order val="1"/>
          <c:tx>
            <c:v>Kalibre tahmin</c:v>
          </c:tx>
          <c:spPr>
            <a:solidFill xmlns:a="http://schemas.openxmlformats.org/drawingml/2006/main">
              <a:srgbClr val="395CFF"/>
            </a:solidFill>
            <a:ln xmlns:a="http://schemas.openxmlformats.org/drawingml/2006/main" w="28575">
              <a:solidFill>
                <a:srgbClr val="395CFF"/>
              </a:solidFill>
            </a:ln>
          </c:spPr>
          <c:marker>
            <c:symbol val="circle"/>
            <c:size val="9"/>
            <c:spPr>
              <a:solidFill xmlns:a="http://schemas.openxmlformats.org/drawingml/2006/main">
                <a:srgbClr val="395CFF"/>
              </a:solidFill>
            </c:spPr>
          </c:marker>
          <c:xVal>
            <c:numRef>
              <c:f>'Chart Data'!$C$2:$C$8</c:f>
              <c:numCache>
                <c:formatCode>General</c:formatCode>
                <c:ptCount val="7"/>
                <c:pt idx="0">
                  <c:v>0.011371249185</c:v>
                </c:pt>
                <c:pt idx="1">
                  <c:v>0.0714799008103</c:v>
                </c:pt>
                <c:pt idx="2">
                  <c:v>0.138609685852</c:v>
                </c:pt>
                <c:pt idx="3">
                  <c:v>0.284132294643</c:v>
                </c:pt>
                <c:pt idx="4">
                  <c:v>0.498442890332</c:v>
                </c:pt>
                <c:pt idx="5">
                  <c:v>0.701283894898</c:v>
                </c:pt>
                <c:pt idx="6">
                  <c:v>0.917543454142</c:v>
                </c:pt>
              </c:numCache>
            </c:numRef>
          </c:xVal>
          <c:yVal>
            <c:numRef>
              <c:f>'Chart Data'!$D$2:$D$8</c:f>
              <c:numCache>
                <c:formatCode>0%</c:formatCode>
                <c:ptCount val="7"/>
                <c:pt idx="0">
                  <c:v>0.0109333333333</c:v>
                </c:pt>
                <c:pt idx="1">
                  <c:v>0.0483870967742</c:v>
                </c:pt>
                <c:pt idx="2">
                  <c:v>0.129807692308</c:v>
                </c:pt>
                <c:pt idx="3">
                  <c:v>0.315789473684</c:v>
                </c:pt>
                <c:pt idx="4">
                  <c:v>0.492063492063</c:v>
                </c:pt>
                <c:pt idx="5">
                  <c:v>0.630769230769</c:v>
                </c:pt>
                <c:pt idx="6">
                  <c:v>0.931818181818</c:v>
                </c:pt>
              </c:numCache>
            </c:numRef>
          </c:yVal>
        </c:ser>
        <c:dLbls>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4763">
              <a:solidFill>
                <a:srgbClr val="CFD5D7"/>
              </a:solidFill>
            </a:ln>
          </c:spPr>
        </c:majorGridlines>
        <c:numFmt formatCode="0%"/>
        <c:majorTickMark val="none"/>
        <c:minorTickMark val="none"/>
        <c:spPr>
          <a:ln xmlns:a="http://schemas.openxmlformats.org/drawingml/2006/main" w="9525">
            <a:solidFill>
              <a:srgbClr val="89909A"/>
            </a:solidFill>
          </a:ln>
        </c:spPr>
        <c:txPr>
          <a:bodyPr xmlns:a="http://schemas.openxmlformats.org/drawingml/2006/main" anchorCtr="1"/>
          <a:lstStyle xmlns:a="http://schemas.openxmlformats.org/drawingml/2006/main"/>
          <a:p xmlns:a="http://schemas.openxmlformats.org/drawingml/2006/main">
            <a:pPr>
              <a:defRPr sz="1500">
                <a:solidFill>
                  <a:srgbClr val="0B0E13"/>
                </a:solidFill>
                <a:latin typeface="Segoe UI"/>
                <a:ea typeface="Segoe UI"/>
                <a:cs typeface="Segoe UI"/>
              </a:defRPr>
            </a:pPr>
          </a:p>
        </c:txPr>
        <c:crossAx val="48650112"/>
        <c:majorUnit val="0.2"/>
      </c:valAx>
      <c:valAx>
        <c:axId val="48650112"/>
        <c:scaling>
          <c:orientation val="minMax"/>
          <c:max val="1"/>
          <c:min val="0"/>
        </c:scaling>
        <c:delete val="0"/>
        <c:axPos val="b"/>
        <c:majorGridlines>
          <c:spPr>
            <a:ln xmlns:a="http://schemas.openxmlformats.org/drawingml/2006/main" w="4763">
              <a:solidFill>
                <a:srgbClr val="CFD5D7"/>
              </a:solidFill>
            </a:ln>
          </c:spPr>
        </c:majorGridlines>
        <c:title>
          <c:tx>
            <c:rich>
              <a:bodyPr xmlns:a="http://schemas.openxmlformats.org/drawingml/2006/main"/>
              <a:lstStyle xmlns:a="http://schemas.openxmlformats.org/drawingml/2006/main"/>
              <a:p xmlns:a="http://schemas.openxmlformats.org/drawingml/2006/main">
                <a:r>
                  <a:rPr sz="1500">
                    <a:solidFill>
                      <a:srgbClr val="0B0E13"/>
                    </a:solidFill>
                    <a:latin typeface="Segoe UI"/>
                    <a:ea typeface="Segoe UI"/>
                    <a:cs typeface="Segoe UI"/>
                  </a:rPr>
                  <a:t>Ortalama olasılık tahmini</a:t>
                </a:r>
              </a:p>
            </c:rich>
          </c:tx>
          <c:overlay val="0"/>
          <c:txPr>
            <a:bodyPr xmlns:a="http://schemas.openxmlformats.org/drawingml/2006/main" anchorCtr="1"/>
            <a:lstStyle xmlns:a="http://schemas.openxmlformats.org/drawingml/2006/main"/>
            <a:p xmlns:a="http://schemas.openxmlformats.org/drawingml/2006/main">
              <a:pPr>
                <a:defRPr sz="1500">
                  <a:solidFill>
                    <a:srgbClr val="0B0E13"/>
                  </a:solidFill>
                  <a:latin typeface="Segoe UI"/>
                  <a:ea typeface="Segoe UI"/>
                  <a:cs typeface="Segoe UI"/>
                </a:defRPr>
              </a:pPr>
            </a:p>
          </c:txPr>
        </c:title>
        <c:numFmt formatCode="0%"/>
        <c:majorTickMark val="none"/>
        <c:minorTickMark val="none"/>
        <c:spPr>
          <a:ln xmlns:a="http://schemas.openxmlformats.org/drawingml/2006/main" w="9525">
            <a:solidFill>
              <a:srgbClr val="89909A"/>
            </a:solidFill>
          </a:ln>
        </c:spPr>
        <c:txPr>
          <a:bodyPr xmlns:a="http://schemas.openxmlformats.org/drawingml/2006/main" anchorCtr="1"/>
          <a:lstStyle xmlns:a="http://schemas.openxmlformats.org/drawingml/2006/main"/>
          <a:p xmlns:a="http://schemas.openxmlformats.org/drawingml/2006/main">
            <a:pPr>
              <a:defRPr sz="1500">
                <a:solidFill>
                  <a:srgbClr val="0B0E13"/>
                </a:solidFill>
                <a:latin typeface="Segoe UI"/>
                <a:ea typeface="Segoe UI"/>
                <a:cs typeface="Segoe UI"/>
              </a:defRPr>
            </a:pPr>
          </a:p>
        </c:txPr>
        <c:crossAx val="48672768"/>
        <c:majorUnit val="0.2"/>
      </c:valAx>
      <c:spPr>
        <a:solidFill xmlns:a="http://schemas.openxmlformats.org/drawingml/2006/main">
          <a:srgbClr val="F4F5F0"/>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0B0E13"/>
              </a:solidFill>
              <a:latin typeface="Segoe UI"/>
              <a:ea typeface="Segoe UI"/>
              <a:cs typeface="Segoe UI"/>
            </a:defRPr>
          </a:pPr>
        </a:p>
      </c:txPr>
    </c:legend>
    <c:plotVisOnly val="1"/>
  </c:chart>
  <c:spPr>
    <a:solidFill xmlns:a="http://schemas.openxmlformats.org/drawingml/2006/main">
      <a:srgbClr val="F4F5F0"/>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75" b="0">
                <a:solidFill>
                  <a:srgbClr val="F4F5F0"/>
                </a:solidFill>
                <a:latin typeface="Segoe UI"/>
                <a:ea typeface="Segoe UI"/>
                <a:cs typeface="Segoe UI"/>
              </a:rPr>
              <a:t>SHAP katkısı, ham log-odds</a:t>
            </a:r>
          </a:p>
        </c:rich>
      </c:tx>
      <c:overlay val="0"/>
      <c:txPr>
        <a:bodyPr xmlns:a="http://schemas.openxmlformats.org/drawingml/2006/main" anchorCtr="1"/>
        <a:lstStyle xmlns:a="http://schemas.openxmlformats.org/drawingml/2006/main"/>
        <a:p xmlns:a="http://schemas.openxmlformats.org/drawingml/2006/main">
          <a:pPr>
            <a:defRPr sz="1575" b="0">
              <a:solidFill>
                <a:srgbClr val="F4F5F0"/>
              </a:solidFill>
              <a:latin typeface="Segoe UI"/>
              <a:ea typeface="Segoe UI"/>
              <a:cs typeface="Segoe UI"/>
            </a:defRPr>
          </a:pPr>
        </a:p>
      </c:txPr>
    </c:title>
    <c:plotArea>
      <c:barChart>
        <c:barDir val="bar"/>
        <c:grouping val="clustered"/>
        <c:varyColors val="0"/>
        <c:ser>
          <c:idx val="0"/>
          <c:order val="0"/>
          <c:tx>
            <c:v>SHAP katkısı, ham log-odds</c:v>
          </c:tx>
          <c:spPr>
            <a:solidFill xmlns:a="http://schemas.openxmlformats.org/drawingml/2006/main">
              <a:srgbClr val="D7FF42"/>
            </a:solidFill>
          </c:spPr>
          <c:dPt>
            <c:idx val="0"/>
            <c:invertIfNegative val="0"/>
            <c:spPr>
              <a:solidFill xmlns:a="http://schemas.openxmlformats.org/drawingml/2006/main">
                <a:srgbClr val="FF6B57"/>
              </a:solidFill>
            </c:spPr>
          </c:dPt>
          <c:dPt>
            <c:idx val="1"/>
            <c:invertIfNegative val="0"/>
            <c:spPr>
              <a:solidFill xmlns:a="http://schemas.openxmlformats.org/drawingml/2006/main">
                <a:srgbClr val="FF6B57"/>
              </a:solidFill>
            </c:spPr>
          </c:dPt>
          <c:dPt>
            <c:idx val="2"/>
            <c:invertIfNegative val="0"/>
            <c:spPr>
              <a:solidFill xmlns:a="http://schemas.openxmlformats.org/drawingml/2006/main">
                <a:srgbClr val="FF6B57"/>
              </a:solidFill>
            </c:spPr>
          </c:dPt>
          <c:cat>
            <c:strRef>
              <c:f>'Chart Data'!$A$2:$A$4</c:f>
              <c:strCache>
                <c:ptCount val="3"/>
                <c:pt idx="0">
                  <c:v>Attr39 · Satış kâr marjı</c:v>
                </c:pt>
                <c:pt idx="1">
                  <c:v>Attr35 · Satış kârı / varlık</c:v>
                </c:pt>
                <c:pt idx="2">
                  <c:v>Attr21 · Satış değişimi</c:v>
                </c:pt>
              </c:strCache>
            </c:strRef>
          </c:cat>
          <c:val>
            <c:numRef>
              <c:f>'Chart Data'!$B$2:$B$4</c:f>
              <c:numCache>
                <c:formatCode>0.00</c:formatCode>
                <c:ptCount val="3"/>
                <c:pt idx="0">
                  <c:v>1.09072160721</c:v>
                </c:pt>
                <c:pt idx="1">
                  <c:v>1.0884732008</c:v>
                </c:pt>
                <c:pt idx="2">
                  <c:v>2.75999426842</c:v>
                </c:pt>
              </c:numCache>
            </c:numRef>
          </c:val>
        </c:ser>
        <c:dLbls>
          <c:txPr>
            <a:bodyPr xmlns:a="http://schemas.openxmlformats.org/drawingml/2006/main" anchorCtr="1"/>
            <a:lstStyle xmlns:a="http://schemas.openxmlformats.org/drawingml/2006/main"/>
            <a:p xmlns:a="http://schemas.openxmlformats.org/drawingml/2006/main">
              <a:pPr>
                <a:defRPr sz="2025" b="1">
                  <a:solidFill>
                    <a:srgbClr val="F4F5F0"/>
                  </a:solidFill>
                  <a:latin typeface="Bahnschrift"/>
                  <a:ea typeface="Bahnschrift"/>
                  <a:cs typeface="Bahnschrift"/>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F4F5F0"/>
                </a:solidFill>
                <a:latin typeface="Segoe UI"/>
                <a:ea typeface="Segoe UI"/>
                <a:cs typeface="Segoe UI"/>
              </a:defRPr>
            </a:pPr>
          </a:p>
        </c:txPr>
        <c:crossAx val="48672768"/>
      </c:catAx>
      <c:valAx>
        <c:axId val="48672768"/>
        <c:scaling>
          <c:orientation val="minMax"/>
          <c:max val="3.5"/>
          <c:min val="0"/>
        </c:scaling>
        <c:delete val="0"/>
        <c:axPos val="b"/>
        <c:majorGridlines>
          <c:spPr>
            <a:ln xmlns:a="http://schemas.openxmlformats.org/drawingml/2006/main" w="4763">
              <a:solidFill>
                <a:srgbClr val="343C46"/>
              </a:solidFill>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F4F5F0"/>
                </a:solidFill>
                <a:latin typeface="Segoe UI"/>
                <a:ea typeface="Segoe UI"/>
                <a:cs typeface="Segoe UI"/>
              </a:defRPr>
            </a:pPr>
          </a:p>
        </c:txPr>
        <c:crossAx val="48650112"/>
        <c:crossBetween val="between"/>
        <c:majorUnit val="0.5"/>
      </c:valAx>
      <c:spPr>
        <a:solidFill xmlns:a="http://schemas.openxmlformats.org/drawingml/2006/main">
          <a:srgbClr val="0B0E13"/>
        </a:solidFill>
        <a:ln xmlns:a="http://schemas.openxmlformats.org/drawingml/2006/main" w="0">
          <a:noFill/>
        </a:ln>
      </c:spPr>
    </c:plotArea>
    <c:plotVisOnly val="1"/>
  </c:chart>
  <c:spPr>
    <a:solidFill xmlns:a="http://schemas.openxmlformats.org/drawingml/2006/main">
      <a:srgbClr val="0B0E13"/>
    </a:solidFill>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75" b="0">
                <a:solidFill>
                  <a:srgbClr val="F4F5F0"/>
                </a:solidFill>
                <a:latin typeface="Segoe UI"/>
                <a:ea typeface="Segoe UI"/>
                <a:cs typeface="Segoe UI"/>
              </a:rPr>
              <a:t>Kayıt sayısı</a:t>
            </a:r>
          </a:p>
        </c:rich>
      </c:tx>
      <c:overlay val="0"/>
      <c:txPr>
        <a:bodyPr xmlns:a="http://schemas.openxmlformats.org/drawingml/2006/main" anchorCtr="1"/>
        <a:lstStyle xmlns:a="http://schemas.openxmlformats.org/drawingml/2006/main"/>
        <a:p xmlns:a="http://schemas.openxmlformats.org/drawingml/2006/main">
          <a:pPr>
            <a:defRPr sz="1575" b="0">
              <a:solidFill>
                <a:srgbClr val="F4F5F0"/>
              </a:solidFill>
              <a:latin typeface="Segoe UI"/>
              <a:ea typeface="Segoe UI"/>
              <a:cs typeface="Segoe UI"/>
            </a:defRPr>
          </a:pPr>
        </a:p>
      </c:txPr>
    </c:title>
    <c:plotArea>
      <c:barChart>
        <c:barDir val="bar"/>
        <c:grouping val="clustered"/>
        <c:varyColors val="0"/>
        <c:ser>
          <c:idx val="0"/>
          <c:order val="0"/>
          <c:tx>
            <c:v>İncelenen</c:v>
          </c:tx>
          <c:spPr>
            <a:solidFill xmlns:a="http://schemas.openxmlformats.org/drawingml/2006/main">
              <a:srgbClr val="344BFF"/>
            </a:solidFill>
          </c:spPr>
          <c:cat>
            <c:strRef>
              <c:f>'Chart Data'!$A$2:$A$4</c:f>
              <c:strCache>
                <c:ptCount val="3"/>
                <c:pt idx="0">
                  <c:v>%20 kapasite</c:v>
                </c:pt>
                <c:pt idx="1">
                  <c:v>%10 kapasite</c:v>
                </c:pt>
                <c:pt idx="2">
                  <c:v>%5 kapasite</c:v>
                </c:pt>
              </c:strCache>
            </c:strRef>
          </c:cat>
          <c:val>
            <c:numRef>
              <c:f>'Chart Data'!$B$2:$B$4</c:f>
              <c:numCache>
                <c:formatCode>0</c:formatCode>
                <c:ptCount val="3"/>
                <c:pt idx="0">
                  <c:v>234</c:v>
                </c:pt>
                <c:pt idx="1">
                  <c:v>117</c:v>
                </c:pt>
                <c:pt idx="2">
                  <c:v>59</c:v>
                </c:pt>
              </c:numCache>
            </c:numRef>
          </c:val>
        </c:ser>
        <c:ser>
          <c:idx val="1"/>
          <c:order val="1"/>
          <c:tx>
            <c:v>Yakalanan iflas</c:v>
          </c:tx>
          <c:spPr>
            <a:solidFill xmlns:a="http://schemas.openxmlformats.org/drawingml/2006/main">
              <a:srgbClr val="D7FF42"/>
            </a:solidFill>
          </c:spPr>
          <c:cat>
            <c:strRef>
              <c:f>'Chart Data'!$C$2:$C$4</c:f>
              <c:strCache>
                <c:ptCount val="3"/>
                <c:pt idx="0">
                  <c:v>%20 kapasite</c:v>
                </c:pt>
                <c:pt idx="1">
                  <c:v>%10 kapasite</c:v>
                </c:pt>
                <c:pt idx="2">
                  <c:v>%5 kapasite</c:v>
                </c:pt>
              </c:strCache>
            </c:strRef>
          </c:cat>
          <c:val>
            <c:numRef>
              <c:f>'Chart Data'!$D$2:$D$4</c:f>
              <c:numCache>
                <c:formatCode>0</c:formatCode>
                <c:ptCount val="3"/>
                <c:pt idx="0">
                  <c:v>75</c:v>
                </c:pt>
                <c:pt idx="1">
                  <c:v>67</c:v>
                </c:pt>
                <c:pt idx="2">
                  <c:v>47</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F4F5F0"/>
                  </a:solidFill>
                  <a:latin typeface="Bahnschrift"/>
                  <a:ea typeface="Bahnschrift"/>
                  <a:cs typeface="Bahnschrift"/>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F4F5F0"/>
                </a:solidFill>
                <a:latin typeface="Segoe UI"/>
                <a:ea typeface="Segoe UI"/>
                <a:cs typeface="Segoe UI"/>
              </a:defRPr>
            </a:pPr>
          </a:p>
        </c:txPr>
        <c:crossAx val="48672768"/>
      </c:catAx>
      <c:valAx>
        <c:axId val="48672768"/>
        <c:scaling>
          <c:orientation val="minMax"/>
          <c:max val="250"/>
          <c:min val="0"/>
        </c:scaling>
        <c:delete val="0"/>
        <c:axPos val="b"/>
        <c:majorGridlines>
          <c:spPr>
            <a:ln xmlns:a="http://schemas.openxmlformats.org/drawingml/2006/main" w="4763">
              <a:solidFill>
                <a:srgbClr val="343C46"/>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F4F5F0"/>
                </a:solidFill>
                <a:latin typeface="Segoe UI"/>
                <a:ea typeface="Segoe UI"/>
                <a:cs typeface="Segoe UI"/>
              </a:defRPr>
            </a:pPr>
          </a:p>
        </c:txPr>
        <c:crossAx val="48650112"/>
        <c:crossBetween val="between"/>
        <c:majorUnit val="50"/>
      </c:valAx>
      <c:spPr>
        <a:solidFill xmlns:a="http://schemas.openxmlformats.org/drawingml/2006/main">
          <a:srgbClr val="0B0E13"/>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F4F5F0"/>
              </a:solidFill>
              <a:latin typeface="Segoe UI"/>
              <a:ea typeface="Segoe UI"/>
              <a:cs typeface="Segoe UI"/>
            </a:defRPr>
          </a:pPr>
        </a:p>
      </c:txPr>
    </c:legend>
    <c:plotVisOnly val="1"/>
  </c:chart>
  <c:spPr>
    <a:solidFill xmlns:a="http://schemas.openxmlformats.org/drawingml/2006/main">
      <a:srgbClr val="0B0E13"/>
    </a:solidFill>
    <a:ln xmlns:a="http://schemas.openxmlformats.org/drawingml/2006/main" w="0">
      <a:noFill/>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75" b="0">
                <a:solidFill>
                  <a:srgbClr val="0B0E13"/>
                </a:solidFill>
                <a:latin typeface="Segoe UI"/>
                <a:ea typeface="Segoe UI"/>
                <a:cs typeface="Segoe UI"/>
              </a:rPr>
              <a:t>İlk %10’da yakalama</a:t>
            </a:r>
          </a:p>
        </c:rich>
      </c:tx>
      <c:overlay val="0"/>
      <c:txPr>
        <a:bodyPr xmlns:a="http://schemas.openxmlformats.org/drawingml/2006/main" anchorCtr="1"/>
        <a:lstStyle xmlns:a="http://schemas.openxmlformats.org/drawingml/2006/main"/>
        <a:p xmlns:a="http://schemas.openxmlformats.org/drawingml/2006/main">
          <a:pPr>
            <a:defRPr sz="1575" b="0">
              <a:solidFill>
                <a:srgbClr val="0B0E13"/>
              </a:solidFill>
              <a:latin typeface="Segoe UI"/>
              <a:ea typeface="Segoe UI"/>
              <a:cs typeface="Segoe UI"/>
            </a:defRPr>
          </a:pPr>
        </a:p>
      </c:txPr>
    </c:title>
    <c:plotArea>
      <c:barChart>
        <c:barDir val="bar"/>
        <c:grouping val="clustered"/>
        <c:varyColors val="0"/>
        <c:ser>
          <c:idx val="0"/>
          <c:order val="0"/>
          <c:tx>
            <c:v>Ortalama Recall@Top10</c:v>
          </c:tx>
          <c:spPr>
            <a:solidFill xmlns:a="http://schemas.openxmlformats.org/drawingml/2006/main">
              <a:srgbClr val="FF725C"/>
            </a:solidFill>
          </c:spPr>
          <c:dPt>
            <c:idx val="0"/>
            <c:invertIfNegative val="0"/>
            <c:spPr>
              <a:solidFill xmlns:a="http://schemas.openxmlformats.org/drawingml/2006/main">
                <a:srgbClr val="FF725C"/>
              </a:solidFill>
            </c:spPr>
          </c:dPt>
          <c:dPt>
            <c:idx val="1"/>
            <c:invertIfNegative val="0"/>
            <c:spPr>
              <a:solidFill xmlns:a="http://schemas.openxmlformats.org/drawingml/2006/main">
                <a:srgbClr val="FF725C"/>
              </a:solidFill>
            </c:spPr>
          </c:dPt>
          <c:dPt>
            <c:idx val="2"/>
            <c:invertIfNegative val="0"/>
            <c:spPr>
              <a:solidFill xmlns:a="http://schemas.openxmlformats.org/drawingml/2006/main">
                <a:srgbClr val="FF725C"/>
              </a:solidFill>
            </c:spPr>
          </c:dPt>
          <c:dPt>
            <c:idx val="3"/>
            <c:invertIfNegative val="0"/>
            <c:spPr>
              <a:solidFill xmlns:a="http://schemas.openxmlformats.org/drawingml/2006/main">
                <a:srgbClr val="FF725C"/>
              </a:solidFill>
            </c:spPr>
          </c:dPt>
          <c:dPt>
            <c:idx val="4"/>
            <c:invertIfNegative val="0"/>
            <c:spPr>
              <a:solidFill xmlns:a="http://schemas.openxmlformats.org/drawingml/2006/main">
                <a:srgbClr val="0B0E13"/>
              </a:solidFill>
            </c:spPr>
          </c:dPt>
          <c:dPt>
            <c:idx val="5"/>
            <c:invertIfNegative val="0"/>
            <c:spPr>
              <a:solidFill xmlns:a="http://schemas.openxmlformats.org/drawingml/2006/main">
                <a:srgbClr val="344BFF"/>
              </a:solidFill>
            </c:spPr>
          </c:dPt>
          <c:cat>
            <c:strRef>
              <c:f>'Chart Data'!$A$2:$A$7</c:f>
              <c:strCache>
                <c:ptCount val="6"/>
                <c:pt idx="0">
                  <c:v>PCA 64 bileşen</c:v>
                </c:pt>
                <c:pt idx="1">
                  <c:v>PCA %99 varyans</c:v>
                </c:pt>
                <c:pt idx="2">
                  <c:v>PCA %95 varyans</c:v>
                </c:pt>
                <c:pt idx="3">
                  <c:v>PCA %90 varyans</c:v>
                </c:pt>
                <c:pt idx="4">
                  <c:v>Yalnız ölçekleme</c:v>
                </c:pt>
                <c:pt idx="5">
                  <c:v>64 özgün oran</c:v>
                </c:pt>
              </c:strCache>
            </c:strRef>
          </c:cat>
          <c:val>
            <c:numRef>
              <c:f>'Chart Data'!$B$2:$B$7</c:f>
              <c:numCache>
                <c:formatCode>0.00%</c:formatCode>
                <c:ptCount val="6"/>
                <c:pt idx="0">
                  <c:v>0.549137529138</c:v>
                </c:pt>
                <c:pt idx="1">
                  <c:v>0.432354312354</c:v>
                </c:pt>
                <c:pt idx="2">
                  <c:v>0.432307692308</c:v>
                </c:pt>
                <c:pt idx="3">
                  <c:v>0.417016317016</c:v>
                </c:pt>
                <c:pt idx="4">
                  <c:v>0.788438228438</c:v>
                </c:pt>
                <c:pt idx="5">
                  <c:v>0.791515151515</c:v>
                </c:pt>
              </c:numCache>
            </c:numRef>
          </c:val>
        </c:ser>
        <c:dLbls>
          <c:txPr>
            <a:bodyPr xmlns:a="http://schemas.openxmlformats.org/drawingml/2006/main" anchorCtr="1"/>
            <a:lstStyle xmlns:a="http://schemas.openxmlformats.org/drawingml/2006/main"/>
            <a:p xmlns:a="http://schemas.openxmlformats.org/drawingml/2006/main">
              <a:pPr>
                <a:defRPr sz="2025" b="1">
                  <a:solidFill>
                    <a:srgbClr val="0B0E13"/>
                  </a:solidFill>
                  <a:latin typeface="Bahnschrift"/>
                  <a:ea typeface="Bahnschrift"/>
                  <a:cs typeface="Bahnschrift"/>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0B0E13"/>
                </a:solidFill>
                <a:latin typeface="Segoe UI"/>
                <a:ea typeface="Segoe UI"/>
                <a:cs typeface="Segoe UI"/>
              </a:defRPr>
            </a:pPr>
          </a:p>
        </c:txPr>
        <c:crossAx val="48672768"/>
      </c:catAx>
      <c:valAx>
        <c:axId val="48672768"/>
        <c:scaling>
          <c:orientation val="minMax"/>
          <c:max val="1"/>
          <c:min val="0"/>
        </c:scaling>
        <c:delete val="0"/>
        <c:axPos val="b"/>
        <c:majorGridlines>
          <c:spPr>
            <a:ln xmlns:a="http://schemas.openxmlformats.org/drawingml/2006/main" w="4763">
              <a:solidFill>
                <a:srgbClr val="CFD5D7"/>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0B0E13"/>
                </a:solidFill>
                <a:latin typeface="Segoe UI"/>
                <a:ea typeface="Segoe UI"/>
                <a:cs typeface="Segoe UI"/>
              </a:defRPr>
            </a:pPr>
          </a:p>
        </c:txPr>
        <c:crossAx val="48650112"/>
        <c:crossBetween val="between"/>
        <c:majorUnit val="0.2"/>
      </c:valAx>
      <c:spPr>
        <a:solidFill xmlns:a="http://schemas.openxmlformats.org/drawingml/2006/main">
          <a:srgbClr val="F4F5F0"/>
        </a:solidFill>
        <a:ln xmlns:a="http://schemas.openxmlformats.org/drawingml/2006/main" w="0">
          <a:noFill/>
        </a:ln>
      </c:spPr>
    </c:plotArea>
    <c:plotVisOnly val="1"/>
  </c:chart>
  <c:spPr>
    <a:solidFill xmlns:a="http://schemas.openxmlformats.org/drawingml/2006/main">
      <a:srgbClr val="F4F5F0"/>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show="1">
  <p:cSld>
    <p:bg>
      <p:bgPr>
        <a:solidFill xmlns:a="http://schemas.openxmlformats.org/drawingml/2006/main">
          <a:srgbClr val="0B0E13"/>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9ff0b04e7a74d86"/>
          <a:stretch xmlns:a="http://schemas.openxmlformats.org/drawingml/2006/main"/>
        </p:blipFill>
        <p:spPr>
          <a:xfrm xmlns:a="http://schemas.openxmlformats.org/drawingml/2006/main">
            <a:off x="0" y="1823"/>
            <a:ext cx="12192000" cy="6854354"/>
          </a:xfrm>
          <a:prstGeom xmlns:a="http://schemas.openxmlformats.org/drawingml/2006/main" prst="rect">
            <a:avLst/>
          </a:prstGeom>
        </p:spPr>
      </p:pic>
      <p:sp>
        <p:nvSpPr>
          <p:cNvPr id="2" name="Texte_1_1">
            <a:extLst xmlns:a="http://schemas.openxmlformats.org/drawingml/2006/main">
              <a:ext uri="{FF2B5EF4-FFF2-40B4-BE49-F238E27FC236}">
                <a16:creationId xmlns:a16="http://schemas.microsoft.com/office/drawing/2014/main" id="{09B3ECF8-39EE-4667-B0D4-4426C9076E35}"/>
              </a:ext>
            </a:extLst>
          </p:cNvPr>
          <p:cNvSpPr>
            <a:spLocks xmlns:a="http://schemas.openxmlformats.org/drawingml/2006/main" noGrp="1"/>
          </p:cNvSpPr>
          <p:nvPr/>
        </p:nvSpPr>
        <p:spPr>
          <a:xfrm xmlns:a="http://schemas.openxmlformats.org/drawingml/2006/main">
            <a:off x="533400" y="419100"/>
            <a:ext cx="866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425" b="0">
                <a:solidFill>
                  <a:srgbClr val="F4F5F0"/>
                </a:solidFill>
                <a:latin typeface="Segoe UI"/>
                <a:ea typeface="Segoe UI"/>
                <a:cs typeface="Segoe UI"/>
              </a:defRPr>
            </a:pPr>
            <a:r>
              <a:rPr sz="1425" b="0">
                <a:solidFill>
                  <a:srgbClr val="F4F5F0"/>
                </a:solidFill>
                <a:latin typeface="Segoe UI"/>
                <a:ea typeface="Segoe UI"/>
                <a:cs typeface="Segoe UI"/>
              </a:rPr>
              <a:t>MİUUL AI DATA SCIENTIST BOOTCAMP · PROJE BİRİNCİSİ</a:t>
            </a:r>
          </a:p>
        </p:txBody>
      </p:sp>
      <p:sp>
        <p:nvSpPr>
          <p:cNvPr id="3" name="!!ESIK_MARK">
            <a:extLst xmlns:a="http://schemas.openxmlformats.org/drawingml/2006/main">
              <a:ext uri="{FF2B5EF4-FFF2-40B4-BE49-F238E27FC236}">
                <a16:creationId xmlns:a16="http://schemas.microsoft.com/office/drawing/2014/main" id="{D0DDBCBF-9632-463F-B07F-6EC0B36B1AAD}"/>
              </a:ext>
            </a:extLst>
          </p:cNvPr>
          <p:cNvSpPr>
            <a:spLocks xmlns:a="http://schemas.openxmlformats.org/drawingml/2006/main" noGrp="1"/>
          </p:cNvSpPr>
          <p:nvPr/>
        </p:nvSpPr>
        <p:spPr>
          <a:xfrm xmlns:a="http://schemas.openxmlformats.org/drawingml/2006/main">
            <a:off x="409575" y="1485900"/>
            <a:ext cx="8429625"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150" b="1">
                <a:solidFill>
                  <a:srgbClr val="D7FF42"/>
                </a:solidFill>
                <a:latin typeface="Bahnschrift"/>
                <a:ea typeface="Bahnschrift"/>
                <a:cs typeface="Bahnschrift"/>
              </a:defRPr>
            </a:pPr>
            <a:r>
              <a:rPr sz="15150" b="1">
                <a:solidFill>
                  <a:srgbClr val="D7FF42"/>
                </a:solidFill>
                <a:latin typeface="Bahnschrift"/>
                <a:ea typeface="Bahnschrift"/>
                <a:cs typeface="Bahnschrift"/>
              </a:rPr>
              <a:t>EŞİK</a:t>
            </a:r>
          </a:p>
        </p:txBody>
      </p:sp>
      <p:sp>
        <p:nvSpPr>
          <p:cNvPr id="4" name="Texte_1_3">
            <a:extLst xmlns:a="http://schemas.openxmlformats.org/drawingml/2006/main">
              <a:ext uri="{FF2B5EF4-FFF2-40B4-BE49-F238E27FC236}">
                <a16:creationId xmlns:a16="http://schemas.microsoft.com/office/drawing/2014/main" id="{21C7972E-F9B0-4FCC-B946-38496803DB16}"/>
              </a:ext>
            </a:extLst>
          </p:cNvPr>
          <p:cNvSpPr>
            <a:spLocks xmlns:a="http://schemas.openxmlformats.org/drawingml/2006/main" noGrp="1"/>
          </p:cNvSpPr>
          <p:nvPr/>
        </p:nvSpPr>
        <p:spPr>
          <a:xfrm xmlns:a="http://schemas.openxmlformats.org/drawingml/2006/main">
            <a:off x="552450" y="3829050"/>
            <a:ext cx="7477125"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0">
                <a:solidFill>
                  <a:srgbClr val="F4F5F0"/>
                </a:solidFill>
                <a:latin typeface="Segoe UI"/>
                <a:ea typeface="Segoe UI"/>
                <a:cs typeface="Segoe UI"/>
              </a:defRPr>
            </a:pPr>
            <a:r>
              <a:rPr sz="3600" b="0">
                <a:solidFill>
                  <a:srgbClr val="F4F5F0"/>
                </a:solidFill>
                <a:latin typeface="Segoe UI"/>
                <a:ea typeface="Segoe UI"/>
                <a:cs typeface="Segoe UI"/>
              </a:rPr>
              <a:t>Finansal riskte</a:t>
            </a:r>
          </a:p>
          <a:p xmlns:a="http://schemas.openxmlformats.org/drawingml/2006/main">
            <a:pPr>
              <a:buNone/>
              <a:defRPr sz="3600" b="0">
                <a:solidFill>
                  <a:srgbClr val="F4F5F0"/>
                </a:solidFill>
                <a:latin typeface="Segoe UI"/>
                <a:ea typeface="Segoe UI"/>
                <a:cs typeface="Segoe UI"/>
              </a:defRPr>
            </a:pPr>
            <a:r>
              <a:rPr sz="3600" b="0">
                <a:solidFill>
                  <a:srgbClr val="F4F5F0"/>
                </a:solidFill>
                <a:latin typeface="Segoe UI"/>
                <a:ea typeface="Segoe UI"/>
                <a:cs typeface="Segoe UI"/>
              </a:rPr>
              <a:t>inceleme önceliği</a:t>
            </a:r>
          </a:p>
        </p:txBody>
      </p:sp>
      <p:sp>
        <p:nvSpPr>
          <p:cNvPr id="5" name="Texte_1_4">
            <a:extLst xmlns:a="http://schemas.openxmlformats.org/drawingml/2006/main">
              <a:ext uri="{FF2B5EF4-FFF2-40B4-BE49-F238E27FC236}">
                <a16:creationId xmlns:a16="http://schemas.microsoft.com/office/drawing/2014/main" id="{1FD359F2-2BD9-4939-9BC2-42523F67A896}"/>
              </a:ext>
            </a:extLst>
          </p:cNvPr>
          <p:cNvSpPr>
            <a:spLocks xmlns:a="http://schemas.openxmlformats.org/drawingml/2006/main" noGrp="1"/>
          </p:cNvSpPr>
          <p:nvPr/>
        </p:nvSpPr>
        <p:spPr>
          <a:xfrm xmlns:a="http://schemas.openxmlformats.org/drawingml/2006/main">
            <a:off x="552450" y="5619750"/>
            <a:ext cx="5238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725" b="0">
                <a:solidFill>
                  <a:srgbClr val="F4F5F0"/>
                </a:solidFill>
                <a:latin typeface="Segoe UI"/>
                <a:ea typeface="Segoe UI"/>
                <a:cs typeface="Segoe UI"/>
              </a:defRPr>
            </a:pPr>
            <a:r>
              <a:rPr sz="1725" b="0">
                <a:solidFill>
                  <a:srgbClr val="F4F5F0"/>
                </a:solidFill>
                <a:latin typeface="Segoe UI"/>
                <a:ea typeface="Segoe UI"/>
                <a:cs typeface="Segoe UI"/>
              </a:rPr>
              <a:t>Ayşe Simal Alpözer</a:t>
            </a:r>
          </a:p>
          <a:p xmlns:a="http://schemas.openxmlformats.org/drawingml/2006/main">
            <a:pPr>
              <a:buNone/>
              <a:defRPr sz="1725" b="0">
                <a:solidFill>
                  <a:srgbClr val="F4F5F0"/>
                </a:solidFill>
                <a:latin typeface="Segoe UI"/>
                <a:ea typeface="Segoe UI"/>
                <a:cs typeface="Segoe UI"/>
              </a:defRPr>
            </a:pPr>
            <a:r>
              <a:rPr sz="1725" b="0">
                <a:solidFill>
                  <a:srgbClr val="F4F5F0"/>
                </a:solidFill>
                <a:latin typeface="Segoe UI"/>
                <a:ea typeface="Segoe UI"/>
                <a:cs typeface="Segoe UI"/>
              </a:rPr>
              <a:t>Berat Bolat</a:t>
            </a:r>
          </a:p>
        </p:txBody>
      </p:sp>
      <p:sp>
        <p:nvSpPr>
          <p:cNvPr id="6" name="Texte_1_5">
            <a:extLst xmlns:a="http://schemas.openxmlformats.org/drawingml/2006/main">
              <a:ext uri="{FF2B5EF4-FFF2-40B4-BE49-F238E27FC236}">
                <a16:creationId xmlns:a16="http://schemas.microsoft.com/office/drawing/2014/main" id="{88203600-EDAC-4C3E-82DC-DED1913E226F}"/>
              </a:ext>
            </a:extLst>
          </p:cNvPr>
          <p:cNvSpPr>
            <a:spLocks xmlns:a="http://schemas.openxmlformats.org/drawingml/2006/main" noGrp="1"/>
          </p:cNvSpPr>
          <p:nvPr/>
        </p:nvSpPr>
        <p:spPr>
          <a:xfrm xmlns:a="http://schemas.openxmlformats.org/drawingml/2006/main">
            <a:off x="9324975" y="6248400"/>
            <a:ext cx="24479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0">
                <a:solidFill>
                  <a:srgbClr val="F4F5F0"/>
                </a:solidFill>
                <a:latin typeface="Bahnschrift"/>
                <a:ea typeface="Bahnschrift"/>
                <a:cs typeface="Bahnschrift"/>
              </a:defRPr>
            </a:pPr>
            <a:r>
              <a:rPr sz="1350" b="0">
                <a:solidFill>
                  <a:srgbClr val="F4F5F0"/>
                </a:solidFill>
                <a:latin typeface="Bahnschrift"/>
                <a:ea typeface="Bahnschrift"/>
                <a:cs typeface="Bahnschrift"/>
              </a:rPr>
              <a:t>EYLÜL 2026</a:t>
            </a:r>
          </a:p>
        </p:txBody>
      </p:sp>
      <p:sp>
        <p:nvSpPr>
          <p:cNvPr id="13" name="!!ESIK_CIZGISI">
            <a:extLst xmlns:a="http://schemas.openxmlformats.org/drawingml/2006/main">
              <a:ext uri="{FF2B5EF4-FFF2-40B4-BE49-F238E27FC236}">
                <a16:creationId xmlns:a16="http://schemas.microsoft.com/office/drawing/2014/main" id="{A98F400E-6426-4210-BE85-DA7872703377}"/>
              </a:ext>
            </a:extLst>
          </p:cNvPr>
          <p:cNvSpPr>
            <a:spLocks xmlns:a="http://schemas.openxmlformats.org/drawingml/2006/main" noGrp="1"/>
          </p:cNvSpPr>
          <p:nvPr/>
        </p:nvSpPr>
        <p:spPr>
          <a:xfrm xmlns:a="http://schemas.openxmlformats.org/drawingml/2006/main">
            <a:off x="8572500" y="800100"/>
            <a:ext cx="38100" cy="4657725"/>
          </a:xfrm>
          <a:prstGeom xmlns:a="http://schemas.openxmlformats.org/drawingml/2006/main" prst="rect">
            <a:avLst/>
          </a:prstGeom>
          <a:solidFill xmlns:a="http://schemas.openxmlformats.org/drawingml/2006/main">
            <a:srgbClr val="D7FF42"/>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Tree>
    <p:extLst>
      <p:ext uri="{BB962C8B-B14F-4D97-AF65-F5344CB8AC3E}">
        <p14:creationId xmlns:p14="http://schemas.microsoft.com/office/powerpoint/2010/main" val="2073116298"/>
      </p:ext>
    </p:extLst>
  </p:cSld>
  <p:transition spd="fast" advClick="1">
    <p:fade/>
  </p:transition>
</p:sld>
</file>

<file path=ppt/slides/slide2.xml><?xml version="1.0" encoding="utf-8"?>
<p:sld xmlns:p="http://schemas.openxmlformats.org/presentationml/2006/main" show="1">
  <p:cSld>
    <p:bg>
      <p:bgPr>
        <a:solidFill xmlns:a="http://schemas.openxmlformats.org/drawingml/2006/main">
          <a:srgbClr val="F4F5F0"/>
        </a:solidFill>
      </p:bgPr>
    </p:bg>
    <p:spTree>
      <p:nvGrpSpPr>
        <p:cNvPr id="1" name=""/>
        <p:cNvGrpSpPr/>
        <p:nvPr/>
      </p:nvGrpSpPr>
      <p:grpSpPr>
        <a:xfrm xmlns:a="http://schemas.openxmlformats.org/drawingml/2006/main"/>
      </p:grpSpPr>
      <p:sp>
        <p:nvSpPr>
          <p:cNvPr id="11" name="!!ESIK_MARK">
            <a:extLst xmlns:a="http://schemas.openxmlformats.org/drawingml/2006/main">
              <a:ext uri="{FF2B5EF4-FFF2-40B4-BE49-F238E27FC236}">
                <a16:creationId xmlns:a16="http://schemas.microsoft.com/office/drawing/2014/main" id="{DC50234D-D635-42F9-9362-88FAEB988B90}"/>
              </a:ext>
            </a:extLst>
          </p:cNvPr>
          <p:cNvSpPr>
            <a:spLocks xmlns:a="http://schemas.openxmlformats.org/drawingml/2006/main" noGrp="1"/>
          </p:cNvSpPr>
          <p:nvPr/>
        </p:nvSpPr>
        <p:spPr>
          <a:xfrm xmlns:a="http://schemas.openxmlformats.org/drawingml/2006/main">
            <a:off x="533400" y="266700"/>
            <a:ext cx="1190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75" b="1">
                <a:solidFill>
                  <a:srgbClr val="0B0E13"/>
                </a:solidFill>
                <a:latin typeface="Bahnschrift"/>
                <a:ea typeface="Bahnschrift"/>
                <a:cs typeface="Bahnschrift"/>
              </a:defRPr>
            </a:pPr>
            <a:r>
              <a:rPr sz="1575" b="1">
                <a:solidFill>
                  <a:srgbClr val="0B0E13"/>
                </a:solidFill>
                <a:latin typeface="Bahnschrift"/>
                <a:ea typeface="Bahnschrift"/>
                <a:cs typeface="Bahnschrift"/>
              </a:rPr>
              <a:t>EŞİK</a:t>
            </a:r>
          </a:p>
        </p:txBody>
      </p:sp>
      <p:sp>
        <p:nvSpPr>
          <p:cNvPr id="3" name="Texte_2_2">
            <a:extLst xmlns:a="http://schemas.openxmlformats.org/drawingml/2006/main">
              <a:ext uri="{FF2B5EF4-FFF2-40B4-BE49-F238E27FC236}">
                <a16:creationId xmlns:a16="http://schemas.microsoft.com/office/drawing/2014/main" id="{4B1E242D-AB20-4600-84D7-AD355EADCAA3}"/>
              </a:ext>
            </a:extLst>
          </p:cNvPr>
          <p:cNvSpPr>
            <a:spLocks xmlns:a="http://schemas.openxmlformats.org/drawingml/2006/main" noGrp="1"/>
          </p:cNvSpPr>
          <p:nvPr/>
        </p:nvSpPr>
        <p:spPr>
          <a:xfrm xmlns:a="http://schemas.openxmlformats.org/drawingml/2006/main">
            <a:off x="1809750" y="295275"/>
            <a:ext cx="7810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555E68"/>
                </a:solidFill>
                <a:latin typeface="Segoe UI"/>
                <a:ea typeface="Segoe UI"/>
                <a:cs typeface="Segoe UI"/>
              </a:defRPr>
            </a:pPr>
            <a:r>
              <a:rPr sz="1275" b="0">
                <a:solidFill>
                  <a:srgbClr val="555E68"/>
                </a:solidFill>
                <a:latin typeface="Segoe UI"/>
                <a:ea typeface="Segoe UI"/>
                <a:cs typeface="Segoe UI"/>
              </a:rPr>
              <a:t>PROBLEM VE İŞ HEDEFİ</a:t>
            </a:r>
          </a:p>
        </p:txBody>
      </p:sp>
      <p:sp>
        <p:nvSpPr>
          <p:cNvPr id="4" name="Texte_2_3">
            <a:extLst xmlns:a="http://schemas.openxmlformats.org/drawingml/2006/main">
              <a:ext uri="{FF2B5EF4-FFF2-40B4-BE49-F238E27FC236}">
                <a16:creationId xmlns:a16="http://schemas.microsoft.com/office/drawing/2014/main" id="{9597D95D-6ECC-41BB-9589-8F1257E769B4}"/>
              </a:ext>
            </a:extLst>
          </p:cNvPr>
          <p:cNvSpPr>
            <a:spLocks xmlns:a="http://schemas.openxmlformats.org/drawingml/2006/main" noGrp="1"/>
          </p:cNvSpPr>
          <p:nvPr/>
        </p:nvSpPr>
        <p:spPr>
          <a:xfrm xmlns:a="http://schemas.openxmlformats.org/drawingml/2006/main">
            <a:off x="10953750" y="266700"/>
            <a:ext cx="723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00" b="0">
                <a:solidFill>
                  <a:srgbClr val="0B0E13"/>
                </a:solidFill>
                <a:latin typeface="Bahnschrift"/>
                <a:ea typeface="Bahnschrift"/>
                <a:cs typeface="Bahnschrift"/>
              </a:defRPr>
            </a:pPr>
            <a:r>
              <a:rPr sz="1500" b="0">
                <a:solidFill>
                  <a:srgbClr val="0B0E13"/>
                </a:solidFill>
                <a:latin typeface="Bahnschrift"/>
                <a:ea typeface="Bahnschrift"/>
                <a:cs typeface="Bahnschrift"/>
              </a:rPr>
              <a:t>02</a:t>
            </a:r>
          </a:p>
        </p:txBody>
      </p:sp>
      <p:sp>
        <p:nvSpPr>
          <p:cNvPr id="5" name="Texte_2_4">
            <a:extLst xmlns:a="http://schemas.openxmlformats.org/drawingml/2006/main">
              <a:ext uri="{FF2B5EF4-FFF2-40B4-BE49-F238E27FC236}">
                <a16:creationId xmlns:a16="http://schemas.microsoft.com/office/drawing/2014/main" id="{D3DE453F-5D1C-45F6-8C10-F81792B346F6}"/>
              </a:ext>
            </a:extLst>
          </p:cNvPr>
          <p:cNvSpPr>
            <a:spLocks xmlns:a="http://schemas.openxmlformats.org/drawingml/2006/main" noGrp="1"/>
          </p:cNvSpPr>
          <p:nvPr/>
        </p:nvSpPr>
        <p:spPr>
          <a:xfrm xmlns:a="http://schemas.openxmlformats.org/drawingml/2006/main">
            <a:off x="533400" y="952500"/>
            <a:ext cx="111252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525" b="1">
                <a:solidFill>
                  <a:srgbClr val="0B0E13"/>
                </a:solidFill>
                <a:latin typeface="Segoe UI"/>
                <a:ea typeface="Segoe UI"/>
                <a:cs typeface="Segoe UI"/>
              </a:defRPr>
            </a:pPr>
            <a:r>
              <a:rPr sz="3525" b="1">
                <a:solidFill>
                  <a:srgbClr val="0B0E13"/>
                </a:solidFill>
                <a:latin typeface="Segoe UI"/>
                <a:ea typeface="Segoe UI"/>
                <a:cs typeface="Segoe UI"/>
              </a:rPr>
              <a:t>Herkese “iflas etmez” dersek</a:t>
            </a:r>
          </a:p>
        </p:txBody>
      </p:sp>
      <p:sp>
        <p:nvSpPr>
          <p:cNvPr id="6" name="Texte_2_5">
            <a:extLst xmlns:a="http://schemas.openxmlformats.org/drawingml/2006/main">
              <a:ext uri="{FF2B5EF4-FFF2-40B4-BE49-F238E27FC236}">
                <a16:creationId xmlns:a16="http://schemas.microsoft.com/office/drawing/2014/main" id="{9EAE3228-BE9A-4F82-94F6-F1F00AEA4BCA}"/>
              </a:ext>
            </a:extLst>
          </p:cNvPr>
          <p:cNvSpPr>
            <a:spLocks xmlns:a="http://schemas.openxmlformats.org/drawingml/2006/main" noGrp="1"/>
          </p:cNvSpPr>
          <p:nvPr/>
        </p:nvSpPr>
        <p:spPr>
          <a:xfrm xmlns:a="http://schemas.openxmlformats.org/drawingml/2006/main">
            <a:off x="438150" y="2381250"/>
            <a:ext cx="7781925" cy="181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450" b="1">
                <a:solidFill>
                  <a:srgbClr val="0B0E13"/>
                </a:solidFill>
                <a:latin typeface="Bahnschrift"/>
                <a:ea typeface="Bahnschrift"/>
                <a:cs typeface="Bahnschrift"/>
              </a:defRPr>
            </a:pPr>
            <a:r>
              <a:rPr sz="12450" b="1">
                <a:solidFill>
                  <a:srgbClr val="0B0E13"/>
                </a:solidFill>
                <a:latin typeface="Bahnschrift"/>
                <a:ea typeface="Bahnschrift"/>
                <a:cs typeface="Bahnschrift"/>
              </a:rPr>
              <a:t>%92,99</a:t>
            </a:r>
          </a:p>
        </p:txBody>
      </p:sp>
      <p:sp>
        <p:nvSpPr>
          <p:cNvPr id="7" name="Texte_2_6">
            <a:extLst xmlns:a="http://schemas.openxmlformats.org/drawingml/2006/main">
              <a:ext uri="{FF2B5EF4-FFF2-40B4-BE49-F238E27FC236}">
                <a16:creationId xmlns:a16="http://schemas.microsoft.com/office/drawing/2014/main" id="{A97C3CF0-9F3C-4A1A-9764-B43CC0BB6306}"/>
              </a:ext>
            </a:extLst>
          </p:cNvPr>
          <p:cNvSpPr>
            <a:spLocks xmlns:a="http://schemas.openxmlformats.org/drawingml/2006/main" noGrp="1"/>
          </p:cNvSpPr>
          <p:nvPr/>
        </p:nvSpPr>
        <p:spPr>
          <a:xfrm xmlns:a="http://schemas.openxmlformats.org/drawingml/2006/main">
            <a:off x="561975" y="4314825"/>
            <a:ext cx="647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555E68"/>
                </a:solidFill>
                <a:latin typeface="Segoe UI"/>
                <a:ea typeface="Segoe UI"/>
                <a:cs typeface="Segoe UI"/>
              </a:defRPr>
            </a:pPr>
            <a:r>
              <a:rPr sz="1800" b="1">
                <a:solidFill>
                  <a:srgbClr val="555E68"/>
                </a:solidFill>
                <a:latin typeface="Segoe UI"/>
                <a:ea typeface="Segoe UI"/>
                <a:cs typeface="Segoe UI"/>
              </a:rPr>
              <a:t>DOĞRULUK</a:t>
            </a:r>
          </a:p>
        </p:txBody>
      </p:sp>
      <p:sp>
        <p:nvSpPr>
          <p:cNvPr id="8" name="Texte_2_7">
            <a:extLst xmlns:a="http://schemas.openxmlformats.org/drawingml/2006/main">
              <a:ext uri="{FF2B5EF4-FFF2-40B4-BE49-F238E27FC236}">
                <a16:creationId xmlns:a16="http://schemas.microsoft.com/office/drawing/2014/main" id="{F9D68231-467E-4997-AEB5-D16FD64F352F}"/>
              </a:ext>
            </a:extLst>
          </p:cNvPr>
          <p:cNvSpPr>
            <a:spLocks xmlns:a="http://schemas.openxmlformats.org/drawingml/2006/main" noGrp="1"/>
          </p:cNvSpPr>
          <p:nvPr/>
        </p:nvSpPr>
        <p:spPr>
          <a:xfrm xmlns:a="http://schemas.openxmlformats.org/drawingml/2006/main">
            <a:off x="8353425" y="1571625"/>
            <a:ext cx="3486150" cy="403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7450" b="1">
                <a:solidFill>
                  <a:srgbClr val="344BFF"/>
                </a:solidFill>
                <a:latin typeface="Bahnschrift"/>
                <a:ea typeface="Bahnschrift"/>
                <a:cs typeface="Bahnschrift"/>
              </a:defRPr>
            </a:pPr>
            <a:r>
              <a:rPr sz="27450" b="1">
                <a:solidFill>
                  <a:srgbClr val="344BFF"/>
                </a:solidFill>
                <a:latin typeface="Bahnschrift"/>
                <a:ea typeface="Bahnschrift"/>
                <a:cs typeface="Bahnschrift"/>
              </a:rPr>
              <a:t>0</a:t>
            </a:r>
          </a:p>
        </p:txBody>
      </p:sp>
      <p:sp>
        <p:nvSpPr>
          <p:cNvPr id="9" name="Texte_2_8">
            <a:extLst xmlns:a="http://schemas.openxmlformats.org/drawingml/2006/main">
              <a:ext uri="{FF2B5EF4-FFF2-40B4-BE49-F238E27FC236}">
                <a16:creationId xmlns:a16="http://schemas.microsoft.com/office/drawing/2014/main" id="{A12EF773-B5F5-47FD-B3AE-C62AB93FECDB}"/>
              </a:ext>
            </a:extLst>
          </p:cNvPr>
          <p:cNvSpPr>
            <a:spLocks xmlns:a="http://schemas.openxmlformats.org/drawingml/2006/main" noGrp="1"/>
          </p:cNvSpPr>
          <p:nvPr/>
        </p:nvSpPr>
        <p:spPr>
          <a:xfrm xmlns:a="http://schemas.openxmlformats.org/drawingml/2006/main">
            <a:off x="8705850" y="5638800"/>
            <a:ext cx="31146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344BFF"/>
                </a:solidFill>
                <a:latin typeface="Segoe UI"/>
                <a:ea typeface="Segoe UI"/>
                <a:cs typeface="Segoe UI"/>
              </a:defRPr>
            </a:pPr>
            <a:r>
              <a:rPr sz="1875" b="1">
                <a:solidFill>
                  <a:srgbClr val="344BFF"/>
                </a:solidFill>
                <a:latin typeface="Segoe UI"/>
                <a:ea typeface="Segoe UI"/>
                <a:cs typeface="Segoe UI"/>
              </a:rPr>
              <a:t>YAKALANAN İFLAS</a:t>
            </a:r>
          </a:p>
        </p:txBody>
      </p:sp>
      <p:sp>
        <p:nvSpPr>
          <p:cNvPr id="15" name="!!ESIK_THRESHOLD">
            <a:extLst xmlns:a="http://schemas.openxmlformats.org/drawingml/2006/main">
              <a:ext uri="{FF2B5EF4-FFF2-40B4-BE49-F238E27FC236}">
                <a16:creationId xmlns:a16="http://schemas.microsoft.com/office/drawing/2014/main" id="{DF341A53-78F0-490E-BF84-C2631A601F26}"/>
              </a:ext>
            </a:extLst>
          </p:cNvPr>
          <p:cNvSpPr>
            <a:spLocks xmlns:a="http://schemas.openxmlformats.org/drawingml/2006/main" noGrp="1"/>
          </p:cNvSpPr>
          <p:nvPr/>
        </p:nvSpPr>
        <p:spPr>
          <a:xfrm xmlns:a="http://schemas.openxmlformats.org/drawingml/2006/main">
            <a:off x="581025" y="5143500"/>
            <a:ext cx="6905625" cy="38100"/>
          </a:xfrm>
          <a:prstGeom xmlns:a="http://schemas.openxmlformats.org/drawingml/2006/main" prst="rect">
            <a:avLst/>
          </a:prstGeom>
          <a:solidFill xmlns:a="http://schemas.openxmlformats.org/drawingml/2006/main">
            <a:srgbClr val="344BFF"/>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10" name="Texte_2_9">
            <a:extLst xmlns:a="http://schemas.openxmlformats.org/drawingml/2006/main">
              <a:ext uri="{FF2B5EF4-FFF2-40B4-BE49-F238E27FC236}">
                <a16:creationId xmlns:a16="http://schemas.microsoft.com/office/drawing/2014/main" id="{75D9F527-5E28-40D8-88FA-8B056C2F8D20}"/>
              </a:ext>
            </a:extLst>
          </p:cNvPr>
          <p:cNvSpPr>
            <a:spLocks xmlns:a="http://schemas.openxmlformats.org/drawingml/2006/main" noGrp="1"/>
          </p:cNvSpPr>
          <p:nvPr/>
        </p:nvSpPr>
        <p:spPr>
          <a:xfrm xmlns:a="http://schemas.openxmlformats.org/drawingml/2006/main">
            <a:off x="552450" y="5381625"/>
            <a:ext cx="76009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75" b="1">
                <a:solidFill>
                  <a:srgbClr val="0B0E13"/>
                </a:solidFill>
                <a:latin typeface="Segoe UI"/>
                <a:ea typeface="Segoe UI"/>
                <a:cs typeface="Segoe UI"/>
              </a:defRPr>
            </a:pPr>
            <a:r>
              <a:rPr sz="2475" b="1">
                <a:solidFill>
                  <a:srgbClr val="0B0E13"/>
                </a:solidFill>
                <a:latin typeface="Segoe UI"/>
                <a:ea typeface="Segoe UI"/>
                <a:cs typeface="Segoe UI"/>
              </a:rPr>
              <a:t>82 iflasın tamamı</a:t>
            </a:r>
          </a:p>
          <a:p xmlns:a="http://schemas.openxmlformats.org/drawingml/2006/main">
            <a:pPr>
              <a:buNone/>
              <a:defRPr sz="2475" b="1">
                <a:solidFill>
                  <a:srgbClr val="0B0E13"/>
                </a:solidFill>
                <a:latin typeface="Segoe UI"/>
                <a:ea typeface="Segoe UI"/>
                <a:cs typeface="Segoe UI"/>
              </a:defRPr>
            </a:pPr>
            <a:r>
              <a:rPr sz="2475" b="1">
                <a:solidFill>
                  <a:srgbClr val="0B0E13"/>
                </a:solidFill>
                <a:latin typeface="Segoe UI"/>
                <a:ea typeface="Segoe UI"/>
                <a:cs typeface="Segoe UI"/>
              </a:rPr>
              <a:t>gözden kaçıyor.</a:t>
            </a:r>
          </a:p>
        </p:txBody>
      </p:sp>
      <p:sp>
        <p:nvSpPr>
          <p:cNvPr id="14" name="Texte_2_10">
            <a:extLst xmlns:a="http://schemas.openxmlformats.org/drawingml/2006/main">
              <a:ext uri="{FF2B5EF4-FFF2-40B4-BE49-F238E27FC236}">
                <a16:creationId xmlns:a16="http://schemas.microsoft.com/office/drawing/2014/main" id="{E690F5CC-236D-4197-AF60-216882682FCD}"/>
              </a:ext>
            </a:extLst>
          </p:cNvPr>
          <p:cNvSpPr>
            <a:spLocks xmlns:a="http://schemas.openxmlformats.org/drawingml/2006/main" noGrp="1"/>
          </p:cNvSpPr>
          <p:nvPr/>
        </p:nvSpPr>
        <p:spPr>
          <a:xfrm xmlns:a="http://schemas.openxmlformats.org/drawingml/2006/main">
            <a:off x="533400" y="6315075"/>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00" b="0">
                <a:solidFill>
                  <a:srgbClr val="555E68"/>
                </a:solidFill>
                <a:latin typeface="Segoe UI"/>
                <a:ea typeface="Segoe UI"/>
                <a:cs typeface="Segoe UI"/>
              </a:defRPr>
            </a:pPr>
            <a:r>
              <a:rPr sz="1200" b="0">
                <a:solidFill>
                  <a:srgbClr val="555E68"/>
                </a:solidFill>
                <a:latin typeface="Segoe UI"/>
                <a:ea typeface="Segoe UI"/>
                <a:cs typeface="Segoe UI"/>
              </a:rPr>
              <a:t>Tarihsel testte çoğunluk sınıfı %92,99. Hedefimiz: sınırlı inceleme kapasitesinde iflası yakalamak.</a:t>
            </a:r>
          </a:p>
        </p:txBody>
      </p:sp>
    </p:spTree>
    <p:extLst>
      <p:ext uri="{BB962C8B-B14F-4D97-AF65-F5344CB8AC3E}">
        <p14:creationId xmlns:p14="http://schemas.microsoft.com/office/powerpoint/2010/main" val="1920874704"/>
      </p:ext>
    </p:extLst>
  </p:cSld>
  <p:transition spd="fast"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0" nodeType="clickEffect">
                            <p:stCondLst>
                              <p:cond delay="0"/>
                            </p:stCondLst>
                            <p:childTnLst>
                              <p:set>
                                <p:cBhvr>
                                  <p:cTn id="5" dur="1" fill="hold">
                                    <p:stCondLst>
                                      <p:cond delay="0"/>
                                    </p:stCondLst>
                                  </p:cTn>
                                  <p:tgtEl>
                                    <p:spTgt spid="8"/>
                                  </p:tgtEl>
                                  <p:attrNameLst>
                                    <p:attrName>style.visibility</p:attrName>
                                  </p:attrNameLst>
                                </p:cBhvr>
                                <p:to>
                                  <p:strVal val="visible"/>
                                </p:to>
                              </p:set>
                              <p:animEffect transition="in" filter="fade">
                                <p:cBhvr>
                                  <p:cTn id="6" dur="420"/>
                                  <p:tgtEl>
                                    <p:spTgt spid="8"/>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animEffect transition="in" filter="fade">
                                <p:cBhvr>
                                  <p:cTn id="9" dur="420"/>
                                  <p:tgtEl>
                                    <p:spTgt spid="9"/>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420"/>
                                  <p:tgtEl>
                                    <p:spTgt spid="10"/>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p="http://schemas.openxmlformats.org/presentationml/2006/main" show="1">
  <p:cSld>
    <p:bg>
      <p:bgPr>
        <a:solidFill xmlns:a="http://schemas.openxmlformats.org/drawingml/2006/main">
          <a:srgbClr val="F4F5F0"/>
        </a:solidFill>
      </p:bgPr>
    </p:bg>
    <p:spTree>
      <p:nvGrpSpPr>
        <p:cNvPr id="1" name=""/>
        <p:cNvGrpSpPr/>
        <p:nvPr/>
      </p:nvGrpSpPr>
      <p:grpSpPr>
        <a:xfrm xmlns:a="http://schemas.openxmlformats.org/drawingml/2006/main"/>
      </p:grpSpPr>
      <p:sp>
        <p:nvSpPr>
          <p:cNvPr id="19" name="!!ESIK_MARK">
            <a:extLst xmlns:a="http://schemas.openxmlformats.org/drawingml/2006/main">
              <a:ext uri="{FF2B5EF4-FFF2-40B4-BE49-F238E27FC236}">
                <a16:creationId xmlns:a16="http://schemas.microsoft.com/office/drawing/2014/main" id="{FFE3A127-A54F-41E3-ADDA-D720C421CF68}"/>
              </a:ext>
            </a:extLst>
          </p:cNvPr>
          <p:cNvSpPr>
            <a:spLocks xmlns:a="http://schemas.openxmlformats.org/drawingml/2006/main" noGrp="1"/>
          </p:cNvSpPr>
          <p:nvPr/>
        </p:nvSpPr>
        <p:spPr>
          <a:xfrm xmlns:a="http://schemas.openxmlformats.org/drawingml/2006/main">
            <a:off x="533400" y="266700"/>
            <a:ext cx="1190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75" b="1">
                <a:solidFill>
                  <a:srgbClr val="0B0E13"/>
                </a:solidFill>
                <a:latin typeface="Bahnschrift"/>
                <a:ea typeface="Bahnschrift"/>
                <a:cs typeface="Bahnschrift"/>
              </a:defRPr>
            </a:pPr>
            <a:r>
              <a:rPr sz="1575" b="1">
                <a:solidFill>
                  <a:srgbClr val="0B0E13"/>
                </a:solidFill>
                <a:latin typeface="Bahnschrift"/>
                <a:ea typeface="Bahnschrift"/>
                <a:cs typeface="Bahnschrift"/>
              </a:rPr>
              <a:t>EŞİK</a:t>
            </a:r>
          </a:p>
        </p:txBody>
      </p:sp>
      <p:sp>
        <p:nvSpPr>
          <p:cNvPr id="2" name="Texte_3_2">
            <a:extLst xmlns:a="http://schemas.openxmlformats.org/drawingml/2006/main">
              <a:ext uri="{FF2B5EF4-FFF2-40B4-BE49-F238E27FC236}">
                <a16:creationId xmlns:a16="http://schemas.microsoft.com/office/drawing/2014/main" id="{1E38F884-A22D-474C-967B-A456508C1A77}"/>
              </a:ext>
            </a:extLst>
          </p:cNvPr>
          <p:cNvSpPr>
            <a:spLocks xmlns:a="http://schemas.openxmlformats.org/drawingml/2006/main" noGrp="1"/>
          </p:cNvSpPr>
          <p:nvPr/>
        </p:nvSpPr>
        <p:spPr>
          <a:xfrm xmlns:a="http://schemas.openxmlformats.org/drawingml/2006/main">
            <a:off x="1809750" y="295275"/>
            <a:ext cx="7810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555E68"/>
                </a:solidFill>
                <a:latin typeface="Segoe UI"/>
                <a:ea typeface="Segoe UI"/>
                <a:cs typeface="Segoe UI"/>
              </a:defRPr>
            </a:pPr>
            <a:r>
              <a:rPr sz="1275" b="0">
                <a:solidFill>
                  <a:srgbClr val="555E68"/>
                </a:solidFill>
                <a:latin typeface="Segoe UI"/>
                <a:ea typeface="Segoe UI"/>
                <a:cs typeface="Segoe UI"/>
              </a:rPr>
              <a:t>VERİ KAPSAMI</a:t>
            </a:r>
          </a:p>
        </p:txBody>
      </p:sp>
      <p:sp>
        <p:nvSpPr>
          <p:cNvPr id="3" name="Texte_3_3">
            <a:extLst xmlns:a="http://schemas.openxmlformats.org/drawingml/2006/main">
              <a:ext uri="{FF2B5EF4-FFF2-40B4-BE49-F238E27FC236}">
                <a16:creationId xmlns:a16="http://schemas.microsoft.com/office/drawing/2014/main" id="{B160DF6E-D10B-43C9-90B7-42ADD5865B2A}"/>
              </a:ext>
            </a:extLst>
          </p:cNvPr>
          <p:cNvSpPr>
            <a:spLocks xmlns:a="http://schemas.openxmlformats.org/drawingml/2006/main" noGrp="1"/>
          </p:cNvSpPr>
          <p:nvPr/>
        </p:nvSpPr>
        <p:spPr>
          <a:xfrm xmlns:a="http://schemas.openxmlformats.org/drawingml/2006/main">
            <a:off x="10953750" y="266700"/>
            <a:ext cx="723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00" b="0">
                <a:solidFill>
                  <a:srgbClr val="0B0E13"/>
                </a:solidFill>
                <a:latin typeface="Bahnschrift"/>
                <a:ea typeface="Bahnschrift"/>
                <a:cs typeface="Bahnschrift"/>
              </a:defRPr>
            </a:pPr>
            <a:r>
              <a:rPr sz="1500" b="0">
                <a:solidFill>
                  <a:srgbClr val="0B0E13"/>
                </a:solidFill>
                <a:latin typeface="Bahnschrift"/>
                <a:ea typeface="Bahnschrift"/>
                <a:cs typeface="Bahnschrift"/>
              </a:rPr>
              <a:t>03</a:t>
            </a:r>
          </a:p>
        </p:txBody>
      </p:sp>
      <p:sp>
        <p:nvSpPr>
          <p:cNvPr id="4" name="Texte_3_4">
            <a:extLst xmlns:a="http://schemas.openxmlformats.org/drawingml/2006/main">
              <a:ext uri="{FF2B5EF4-FFF2-40B4-BE49-F238E27FC236}">
                <a16:creationId xmlns:a16="http://schemas.microsoft.com/office/drawing/2014/main" id="{D7B2FFC3-9AFE-47E2-BCF9-135E2BFF4E6A}"/>
              </a:ext>
            </a:extLst>
          </p:cNvPr>
          <p:cNvSpPr>
            <a:spLocks xmlns:a="http://schemas.openxmlformats.org/drawingml/2006/main" noGrp="1"/>
          </p:cNvSpPr>
          <p:nvPr/>
        </p:nvSpPr>
        <p:spPr>
          <a:xfrm xmlns:a="http://schemas.openxmlformats.org/drawingml/2006/main">
            <a:off x="533400" y="952500"/>
            <a:ext cx="111252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525" b="1">
                <a:solidFill>
                  <a:srgbClr val="0B0E13"/>
                </a:solidFill>
                <a:latin typeface="Segoe UI"/>
                <a:ea typeface="Segoe UI"/>
                <a:cs typeface="Segoe UI"/>
              </a:defRPr>
            </a:pPr>
            <a:r>
              <a:rPr sz="3525" b="1">
                <a:solidFill>
                  <a:srgbClr val="0B0E13"/>
                </a:solidFill>
                <a:latin typeface="Segoe UI"/>
                <a:ea typeface="Segoe UI"/>
                <a:cs typeface="Segoe UI"/>
              </a:rPr>
              <a:t>5.850 kayıt, 64 finansal oran</a:t>
            </a:r>
          </a:p>
        </p:txBody>
      </p:sp>
      <p:sp>
        <p:nvSpPr>
          <p:cNvPr id="6" name="Texte_3_5">
            <a:extLst xmlns:a="http://schemas.openxmlformats.org/drawingml/2006/main">
              <a:ext uri="{FF2B5EF4-FFF2-40B4-BE49-F238E27FC236}">
                <a16:creationId xmlns:a16="http://schemas.microsoft.com/office/drawing/2014/main" id="{E7FF607B-381D-41A6-B8EE-ABE1090BC5D5}"/>
              </a:ext>
            </a:extLst>
          </p:cNvPr>
          <p:cNvSpPr>
            <a:spLocks xmlns:a="http://schemas.openxmlformats.org/drawingml/2006/main" noGrp="1"/>
          </p:cNvSpPr>
          <p:nvPr/>
        </p:nvSpPr>
        <p:spPr>
          <a:xfrm xmlns:a="http://schemas.openxmlformats.org/drawingml/2006/main">
            <a:off x="514350" y="2381250"/>
            <a:ext cx="4410075"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8175" b="1">
                <a:solidFill>
                  <a:srgbClr val="0B0E13"/>
                </a:solidFill>
                <a:latin typeface="Bahnschrift"/>
                <a:ea typeface="Bahnschrift"/>
                <a:cs typeface="Bahnschrift"/>
              </a:defRPr>
            </a:pPr>
            <a:r>
              <a:rPr sz="8175" b="1">
                <a:solidFill>
                  <a:srgbClr val="0B0E13"/>
                </a:solidFill>
                <a:latin typeface="Bahnschrift"/>
                <a:ea typeface="Bahnschrift"/>
                <a:cs typeface="Bahnschrift"/>
              </a:rPr>
              <a:t>5.910</a:t>
            </a:r>
          </a:p>
        </p:txBody>
      </p:sp>
      <p:sp>
        <p:nvSpPr>
          <p:cNvPr id="7" name="Texte_3_6">
            <a:extLst xmlns:a="http://schemas.openxmlformats.org/drawingml/2006/main">
              <a:ext uri="{FF2B5EF4-FFF2-40B4-BE49-F238E27FC236}">
                <a16:creationId xmlns:a16="http://schemas.microsoft.com/office/drawing/2014/main" id="{C2BB6F4A-B304-4EC6-8BE5-25E7BA9B68FE}"/>
              </a:ext>
            </a:extLst>
          </p:cNvPr>
          <p:cNvSpPr>
            <a:spLocks xmlns:a="http://schemas.openxmlformats.org/drawingml/2006/main" noGrp="1"/>
          </p:cNvSpPr>
          <p:nvPr/>
        </p:nvSpPr>
        <p:spPr>
          <a:xfrm xmlns:a="http://schemas.openxmlformats.org/drawingml/2006/main">
            <a:off x="590550" y="3724275"/>
            <a:ext cx="3524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0B0E13"/>
                </a:solidFill>
                <a:latin typeface="Segoe UI"/>
                <a:ea typeface="Segoe UI"/>
                <a:cs typeface="Segoe UI"/>
              </a:defRPr>
            </a:pPr>
            <a:r>
              <a:rPr sz="2025" b="0">
                <a:solidFill>
                  <a:srgbClr val="0B0E13"/>
                </a:solidFill>
                <a:latin typeface="Segoe UI"/>
                <a:ea typeface="Segoe UI"/>
                <a:cs typeface="Segoe UI"/>
              </a:rPr>
              <a:t>ham kayıt</a:t>
            </a:r>
          </a:p>
        </p:txBody>
      </p:sp>
      <p:sp>
        <p:nvSpPr>
          <p:cNvPr id="8" name="Texte_3_7">
            <a:extLst xmlns:a="http://schemas.openxmlformats.org/drawingml/2006/main">
              <a:ext uri="{FF2B5EF4-FFF2-40B4-BE49-F238E27FC236}">
                <a16:creationId xmlns:a16="http://schemas.microsoft.com/office/drawing/2014/main" id="{86AE5AEB-CF9C-4C31-AC43-05A46A2705E0}"/>
              </a:ext>
            </a:extLst>
          </p:cNvPr>
          <p:cNvSpPr>
            <a:spLocks xmlns:a="http://schemas.openxmlformats.org/drawingml/2006/main" noGrp="1"/>
          </p:cNvSpPr>
          <p:nvPr/>
        </p:nvSpPr>
        <p:spPr>
          <a:xfrm xmlns:a="http://schemas.openxmlformats.org/drawingml/2006/main">
            <a:off x="5000625" y="2552700"/>
            <a:ext cx="26003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5850" b="1">
                <a:solidFill>
                  <a:srgbClr val="555E68"/>
                </a:solidFill>
                <a:latin typeface="Bahnschrift"/>
                <a:ea typeface="Bahnschrift"/>
                <a:cs typeface="Bahnschrift"/>
              </a:defRPr>
            </a:pPr>
            <a:r>
              <a:rPr sz="5850" b="1">
                <a:solidFill>
                  <a:srgbClr val="555E68"/>
                </a:solidFill>
                <a:latin typeface="Bahnschrift"/>
                <a:ea typeface="Bahnschrift"/>
                <a:cs typeface="Bahnschrift"/>
              </a:rPr>
              <a:t>−60</a:t>
            </a:r>
          </a:p>
        </p:txBody>
      </p:sp>
      <p:sp>
        <p:nvSpPr>
          <p:cNvPr id="9" name="Texte_3_8">
            <a:extLst xmlns:a="http://schemas.openxmlformats.org/drawingml/2006/main">
              <a:ext uri="{FF2B5EF4-FFF2-40B4-BE49-F238E27FC236}">
                <a16:creationId xmlns:a16="http://schemas.microsoft.com/office/drawing/2014/main" id="{477A62DE-FABF-44FE-BCA8-CBE74F1CC97B}"/>
              </a:ext>
            </a:extLst>
          </p:cNvPr>
          <p:cNvSpPr>
            <a:spLocks xmlns:a="http://schemas.openxmlformats.org/drawingml/2006/main" noGrp="1"/>
          </p:cNvSpPr>
          <p:nvPr/>
        </p:nvSpPr>
        <p:spPr>
          <a:xfrm xmlns:a="http://schemas.openxmlformats.org/drawingml/2006/main">
            <a:off x="5086350" y="3714750"/>
            <a:ext cx="2619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555E68"/>
                </a:solidFill>
                <a:latin typeface="Segoe UI"/>
                <a:ea typeface="Segoe UI"/>
                <a:cs typeface="Segoe UI"/>
              </a:defRPr>
            </a:pPr>
            <a:r>
              <a:rPr sz="2025" b="0">
                <a:solidFill>
                  <a:srgbClr val="555E68"/>
                </a:solidFill>
                <a:latin typeface="Segoe UI"/>
                <a:ea typeface="Segoe UI"/>
                <a:cs typeface="Segoe UI"/>
              </a:rPr>
              <a:t>tam tekrar</a:t>
            </a:r>
          </a:p>
        </p:txBody>
      </p:sp>
      <p:sp>
        <p:nvSpPr>
          <p:cNvPr id="10" name="Texte_3_9">
            <a:extLst xmlns:a="http://schemas.openxmlformats.org/drawingml/2006/main">
              <a:ext uri="{FF2B5EF4-FFF2-40B4-BE49-F238E27FC236}">
                <a16:creationId xmlns:a16="http://schemas.microsoft.com/office/drawing/2014/main" id="{36C47167-B78B-4F31-9866-039B826E41B0}"/>
              </a:ext>
            </a:extLst>
          </p:cNvPr>
          <p:cNvSpPr>
            <a:spLocks xmlns:a="http://schemas.openxmlformats.org/drawingml/2006/main" noGrp="1"/>
          </p:cNvSpPr>
          <p:nvPr/>
        </p:nvSpPr>
        <p:spPr>
          <a:xfrm xmlns:a="http://schemas.openxmlformats.org/drawingml/2006/main">
            <a:off x="8162925" y="2381250"/>
            <a:ext cx="3590925"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7875" b="1">
                <a:solidFill>
                  <a:srgbClr val="344BFF"/>
                </a:solidFill>
                <a:latin typeface="Bahnschrift"/>
                <a:ea typeface="Bahnschrift"/>
                <a:cs typeface="Bahnschrift"/>
              </a:defRPr>
            </a:pPr>
            <a:r>
              <a:rPr sz="7875" b="1">
                <a:solidFill>
                  <a:srgbClr val="344BFF"/>
                </a:solidFill>
                <a:latin typeface="Bahnschrift"/>
                <a:ea typeface="Bahnschrift"/>
                <a:cs typeface="Bahnschrift"/>
              </a:rPr>
              <a:t>5.850</a:t>
            </a:r>
          </a:p>
        </p:txBody>
      </p:sp>
      <p:sp>
        <p:nvSpPr>
          <p:cNvPr id="13" name="Texte_3_10">
            <a:extLst xmlns:a="http://schemas.openxmlformats.org/drawingml/2006/main">
              <a:ext uri="{FF2B5EF4-FFF2-40B4-BE49-F238E27FC236}">
                <a16:creationId xmlns:a16="http://schemas.microsoft.com/office/drawing/2014/main" id="{A58A23F8-1DBB-4B2A-94BD-54A5D688EAF9}"/>
              </a:ext>
            </a:extLst>
          </p:cNvPr>
          <p:cNvSpPr>
            <a:spLocks xmlns:a="http://schemas.openxmlformats.org/drawingml/2006/main" noGrp="1"/>
          </p:cNvSpPr>
          <p:nvPr/>
        </p:nvSpPr>
        <p:spPr>
          <a:xfrm xmlns:a="http://schemas.openxmlformats.org/drawingml/2006/main">
            <a:off x="8258175" y="3724275"/>
            <a:ext cx="33623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344BFF"/>
                </a:solidFill>
                <a:latin typeface="Segoe UI"/>
                <a:ea typeface="Segoe UI"/>
                <a:cs typeface="Segoe UI"/>
              </a:defRPr>
            </a:pPr>
            <a:r>
              <a:rPr sz="2025" b="0">
                <a:solidFill>
                  <a:srgbClr val="344BFF"/>
                </a:solidFill>
                <a:latin typeface="Segoe UI"/>
                <a:ea typeface="Segoe UI"/>
                <a:cs typeface="Segoe UI"/>
              </a:rPr>
              <a:t>temiz kayıt</a:t>
            </a:r>
          </a:p>
        </p:txBody>
      </p:sp>
      <p:sp>
        <p:nvSpPr>
          <p:cNvPr id="24" name="Diagram_3_1">
            <a:extLst xmlns:a="http://schemas.openxmlformats.org/drawingml/2006/main">
              <a:ext uri="{FF2B5EF4-FFF2-40B4-BE49-F238E27FC236}">
                <a16:creationId xmlns:a16="http://schemas.microsoft.com/office/drawing/2014/main" id="{95A58673-96E9-4541-A74F-2BA55587D383}"/>
              </a:ext>
            </a:extLst>
          </p:cNvPr>
          <p:cNvSpPr>
            <a:spLocks xmlns:a="http://schemas.openxmlformats.org/drawingml/2006/main" noGrp="1"/>
          </p:cNvSpPr>
          <p:nvPr/>
        </p:nvSpPr>
        <p:spPr>
          <a:xfrm xmlns:a="http://schemas.openxmlformats.org/drawingml/2006/main">
            <a:off x="581025" y="4686300"/>
            <a:ext cx="8763000" cy="285750"/>
          </a:xfrm>
          <a:prstGeom xmlns:a="http://schemas.openxmlformats.org/drawingml/2006/main" prst="rect">
            <a:avLst/>
          </a:prstGeom>
          <a:solidFill xmlns:a="http://schemas.openxmlformats.org/drawingml/2006/main">
            <a:srgbClr val="0B0E13"/>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25" name="!!ESIK_CIZGISI">
            <a:extLst xmlns:a="http://schemas.openxmlformats.org/drawingml/2006/main">
              <a:ext uri="{FF2B5EF4-FFF2-40B4-BE49-F238E27FC236}">
                <a16:creationId xmlns:a16="http://schemas.microsoft.com/office/drawing/2014/main" id="{1E3658A8-8516-443E-83B1-55194EEE33C5}"/>
              </a:ext>
            </a:extLst>
          </p:cNvPr>
          <p:cNvSpPr>
            <a:spLocks xmlns:a="http://schemas.openxmlformats.org/drawingml/2006/main" noGrp="1"/>
          </p:cNvSpPr>
          <p:nvPr/>
        </p:nvSpPr>
        <p:spPr>
          <a:xfrm xmlns:a="http://schemas.openxmlformats.org/drawingml/2006/main">
            <a:off x="9344025" y="4686300"/>
            <a:ext cx="2190750" cy="285750"/>
          </a:xfrm>
          <a:prstGeom xmlns:a="http://schemas.openxmlformats.org/drawingml/2006/main" prst="rect">
            <a:avLst/>
          </a:prstGeom>
          <a:solidFill xmlns:a="http://schemas.openxmlformats.org/drawingml/2006/main">
            <a:srgbClr val="344BFF"/>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14" name="Texte_3_11">
            <a:extLst xmlns:a="http://schemas.openxmlformats.org/drawingml/2006/main">
              <a:ext uri="{FF2B5EF4-FFF2-40B4-BE49-F238E27FC236}">
                <a16:creationId xmlns:a16="http://schemas.microsoft.com/office/drawing/2014/main" id="{8E0362FB-731C-443D-9A8D-AEA09B9B0180}"/>
              </a:ext>
            </a:extLst>
          </p:cNvPr>
          <p:cNvSpPr>
            <a:spLocks xmlns:a="http://schemas.openxmlformats.org/drawingml/2006/main" noGrp="1"/>
          </p:cNvSpPr>
          <p:nvPr/>
        </p:nvSpPr>
        <p:spPr>
          <a:xfrm xmlns:a="http://schemas.openxmlformats.org/drawingml/2006/main">
            <a:off x="533400" y="5162550"/>
            <a:ext cx="68008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B0E13"/>
                </a:solidFill>
                <a:latin typeface="Bahnschrift"/>
                <a:ea typeface="Bahnschrift"/>
                <a:cs typeface="Bahnschrift"/>
              </a:defRPr>
            </a:pPr>
            <a:r>
              <a:rPr sz="3600" b="1">
                <a:solidFill>
                  <a:srgbClr val="0B0E13"/>
                </a:solidFill>
                <a:latin typeface="Bahnschrift"/>
                <a:ea typeface="Bahnschrift"/>
                <a:cs typeface="Bahnschrift"/>
              </a:rPr>
              <a:t>4.680</a:t>
            </a:r>
          </a:p>
        </p:txBody>
      </p:sp>
      <p:sp>
        <p:nvSpPr>
          <p:cNvPr id="15" name="Texte_3_12">
            <a:extLst xmlns:a="http://schemas.openxmlformats.org/drawingml/2006/main">
              <a:ext uri="{FF2B5EF4-FFF2-40B4-BE49-F238E27FC236}">
                <a16:creationId xmlns:a16="http://schemas.microsoft.com/office/drawing/2014/main" id="{876411A0-F591-4C06-B3B1-837A6A829BD7}"/>
              </a:ext>
            </a:extLst>
          </p:cNvPr>
          <p:cNvSpPr>
            <a:spLocks xmlns:a="http://schemas.openxmlformats.org/drawingml/2006/main" noGrp="1"/>
          </p:cNvSpPr>
          <p:nvPr/>
        </p:nvSpPr>
        <p:spPr>
          <a:xfrm xmlns:a="http://schemas.openxmlformats.org/drawingml/2006/main">
            <a:off x="9258300" y="5162550"/>
            <a:ext cx="25146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344BFF"/>
                </a:solidFill>
                <a:latin typeface="Bahnschrift"/>
                <a:ea typeface="Bahnschrift"/>
                <a:cs typeface="Bahnschrift"/>
              </a:defRPr>
            </a:pPr>
            <a:r>
              <a:rPr sz="3600" b="1">
                <a:solidFill>
                  <a:srgbClr val="344BFF"/>
                </a:solidFill>
                <a:latin typeface="Bahnschrift"/>
                <a:ea typeface="Bahnschrift"/>
                <a:cs typeface="Bahnschrift"/>
              </a:rPr>
              <a:t>1.170</a:t>
            </a:r>
          </a:p>
        </p:txBody>
      </p:sp>
      <p:sp>
        <p:nvSpPr>
          <p:cNvPr id="16" name="Texte_3_13">
            <a:extLst xmlns:a="http://schemas.openxmlformats.org/drawingml/2006/main">
              <a:ext uri="{FF2B5EF4-FFF2-40B4-BE49-F238E27FC236}">
                <a16:creationId xmlns:a16="http://schemas.microsoft.com/office/drawing/2014/main" id="{ECE6F082-7EC7-41E7-9359-3CCB23F9DC19}"/>
              </a:ext>
            </a:extLst>
          </p:cNvPr>
          <p:cNvSpPr>
            <a:spLocks xmlns:a="http://schemas.openxmlformats.org/drawingml/2006/main" noGrp="1"/>
          </p:cNvSpPr>
          <p:nvPr/>
        </p:nvSpPr>
        <p:spPr>
          <a:xfrm xmlns:a="http://schemas.openxmlformats.org/drawingml/2006/main">
            <a:off x="581025" y="5781675"/>
            <a:ext cx="4933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950" b="0">
                <a:solidFill>
                  <a:srgbClr val="0B0E13"/>
                </a:solidFill>
                <a:latin typeface="Segoe UI"/>
                <a:ea typeface="Segoe UI"/>
                <a:cs typeface="Segoe UI"/>
              </a:defRPr>
            </a:pPr>
            <a:r>
              <a:rPr sz="1950" b="0">
                <a:solidFill>
                  <a:srgbClr val="0B0E13"/>
                </a:solidFill>
                <a:latin typeface="Segoe UI"/>
                <a:ea typeface="Segoe UI"/>
                <a:cs typeface="Segoe UI"/>
              </a:rPr>
              <a:t>geliştirme</a:t>
            </a:r>
          </a:p>
        </p:txBody>
      </p:sp>
      <p:sp>
        <p:nvSpPr>
          <p:cNvPr id="22" name="Texte_3_14">
            <a:extLst xmlns:a="http://schemas.openxmlformats.org/drawingml/2006/main">
              <a:ext uri="{FF2B5EF4-FFF2-40B4-BE49-F238E27FC236}">
                <a16:creationId xmlns:a16="http://schemas.microsoft.com/office/drawing/2014/main" id="{01AE9039-B6D3-4A71-955B-9251BFC7DE16}"/>
              </a:ext>
            </a:extLst>
          </p:cNvPr>
          <p:cNvSpPr>
            <a:spLocks xmlns:a="http://schemas.openxmlformats.org/drawingml/2006/main" noGrp="1"/>
          </p:cNvSpPr>
          <p:nvPr/>
        </p:nvSpPr>
        <p:spPr>
          <a:xfrm xmlns:a="http://schemas.openxmlformats.org/drawingml/2006/main">
            <a:off x="9286875" y="5791200"/>
            <a:ext cx="24860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950" b="0">
                <a:solidFill>
                  <a:srgbClr val="344BFF"/>
                </a:solidFill>
                <a:latin typeface="Segoe UI"/>
                <a:ea typeface="Segoe UI"/>
                <a:cs typeface="Segoe UI"/>
              </a:defRPr>
            </a:pPr>
            <a:r>
              <a:rPr sz="1950" b="0">
                <a:solidFill>
                  <a:srgbClr val="344BFF"/>
                </a:solidFill>
                <a:latin typeface="Segoe UI"/>
                <a:ea typeface="Segoe UI"/>
                <a:cs typeface="Segoe UI"/>
              </a:rPr>
              <a:t>tarihsel test</a:t>
            </a:r>
          </a:p>
        </p:txBody>
      </p:sp>
      <p:sp>
        <p:nvSpPr>
          <p:cNvPr id="23" name="Texte_3_15">
            <a:extLst xmlns:a="http://schemas.openxmlformats.org/drawingml/2006/main">
              <a:ext uri="{FF2B5EF4-FFF2-40B4-BE49-F238E27FC236}">
                <a16:creationId xmlns:a16="http://schemas.microsoft.com/office/drawing/2014/main" id="{8F679A72-C9AA-4940-8975-7AE4A546932B}"/>
              </a:ext>
            </a:extLst>
          </p:cNvPr>
          <p:cNvSpPr>
            <a:spLocks xmlns:a="http://schemas.openxmlformats.org/drawingml/2006/main" noGrp="1"/>
          </p:cNvSpPr>
          <p:nvPr/>
        </p:nvSpPr>
        <p:spPr>
          <a:xfrm xmlns:a="http://schemas.openxmlformats.org/drawingml/2006/main">
            <a:off x="533400" y="6315075"/>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555E68"/>
                </a:solidFill>
                <a:latin typeface="Segoe UI"/>
                <a:ea typeface="Segoe UI"/>
                <a:cs typeface="Segoe UI"/>
              </a:defRPr>
            </a:pPr>
            <a:r>
              <a:rPr sz="1275" b="0">
                <a:solidFill>
                  <a:srgbClr val="555E68"/>
                </a:solidFill>
                <a:latin typeface="Segoe UI"/>
                <a:ea typeface="Segoe UI"/>
                <a:cs typeface="Segoe UI"/>
              </a:rPr>
              <a:t>UCI Polish Companies Bankruptcy. 1 yıllık ufuk. Güncel Türkiye verisinde dış doğrulama yok.</a:t>
            </a:r>
          </a:p>
        </p:txBody>
      </p:sp>
    </p:spTree>
    <p:extLst>
      <p:ext uri="{BB962C8B-B14F-4D97-AF65-F5344CB8AC3E}">
        <p14:creationId xmlns:p14="http://schemas.microsoft.com/office/powerpoint/2010/main" val="1082859666"/>
      </p:ext>
    </p:extLst>
  </p:cSld>
  <mc:AlternateContent xmlns:mc="http://schemas.openxmlformats.org/markup-compatibility/2006" xmlns:p159="http://schemas.microsoft.com/office/powerpoint/2015/09/main" xmlns:p14="http://schemas.microsoft.com/office/powerpoint/2010/main">
    <mc:Choice Requires="p159">
      <p:transition spd="fast" advClick="1" p14:dur="650">
        <p159:morph option="byObject"/>
      </p:transition>
    </mc:Choice>
    <mc:Fallback>
      <p:transition spd="fast" advClick="1">
        <p:fade/>
      </p:transition>
    </mc:Fallback>
  </mc:AlternateContent>
</p:sld>
</file>

<file path=ppt/slides/slide4.xml><?xml version="1.0" encoding="utf-8"?>
<p:sld xmlns:p="http://schemas.openxmlformats.org/presentationml/2006/main" show="1">
  <p:cSld>
    <p:bg>
      <p:bgPr>
        <a:solidFill xmlns:a="http://schemas.openxmlformats.org/drawingml/2006/main">
          <a:srgbClr val="F4F5F0"/>
        </a:solidFill>
      </p:bgPr>
    </p:bg>
    <p:spTree>
      <p:nvGrpSpPr>
        <p:cNvPr id="1" name=""/>
        <p:cNvGrpSpPr/>
        <p:nvPr/>
      </p:nvGrpSpPr>
      <p:grpSpPr>
        <a:xfrm xmlns:a="http://schemas.openxmlformats.org/drawingml/2006/main"/>
      </p:grpSpPr>
      <p:sp>
        <p:nvSpPr>
          <p:cNvPr id="10" name="!!ESIK_MARK">
            <a:extLst xmlns:a="http://schemas.openxmlformats.org/drawingml/2006/main">
              <a:ext uri="{FF2B5EF4-FFF2-40B4-BE49-F238E27FC236}">
                <a16:creationId xmlns:a16="http://schemas.microsoft.com/office/drawing/2014/main" id="{7CC7D24F-7BCB-40FD-9B67-7010CF3742D4}"/>
              </a:ext>
            </a:extLst>
          </p:cNvPr>
          <p:cNvSpPr>
            <a:spLocks xmlns:a="http://schemas.openxmlformats.org/drawingml/2006/main" noGrp="1"/>
          </p:cNvSpPr>
          <p:nvPr/>
        </p:nvSpPr>
        <p:spPr>
          <a:xfrm xmlns:a="http://schemas.openxmlformats.org/drawingml/2006/main">
            <a:off x="533400" y="266700"/>
            <a:ext cx="1190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75" b="1">
                <a:solidFill>
                  <a:srgbClr val="0B0E13"/>
                </a:solidFill>
                <a:latin typeface="Bahnschrift"/>
                <a:ea typeface="Bahnschrift"/>
                <a:cs typeface="Bahnschrift"/>
              </a:defRPr>
            </a:pPr>
            <a:r>
              <a:rPr sz="1575" b="1">
                <a:solidFill>
                  <a:srgbClr val="0B0E13"/>
                </a:solidFill>
                <a:latin typeface="Bahnschrift"/>
                <a:ea typeface="Bahnschrift"/>
                <a:cs typeface="Bahnschrift"/>
              </a:rPr>
              <a:t>EŞİK</a:t>
            </a:r>
          </a:p>
        </p:txBody>
      </p:sp>
      <p:sp>
        <p:nvSpPr>
          <p:cNvPr id="3" name="Texte_4_2">
            <a:extLst xmlns:a="http://schemas.openxmlformats.org/drawingml/2006/main">
              <a:ext uri="{FF2B5EF4-FFF2-40B4-BE49-F238E27FC236}">
                <a16:creationId xmlns:a16="http://schemas.microsoft.com/office/drawing/2014/main" id="{2C80F275-7A02-4239-896A-174C486BAAAD}"/>
              </a:ext>
            </a:extLst>
          </p:cNvPr>
          <p:cNvSpPr>
            <a:spLocks xmlns:a="http://schemas.openxmlformats.org/drawingml/2006/main" noGrp="1"/>
          </p:cNvSpPr>
          <p:nvPr/>
        </p:nvSpPr>
        <p:spPr>
          <a:xfrm xmlns:a="http://schemas.openxmlformats.org/drawingml/2006/main">
            <a:off x="1809750" y="295275"/>
            <a:ext cx="7810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555E68"/>
                </a:solidFill>
                <a:latin typeface="Segoe UI"/>
                <a:ea typeface="Segoe UI"/>
                <a:cs typeface="Segoe UI"/>
              </a:defRPr>
            </a:pPr>
            <a:r>
              <a:rPr sz="1275" b="0">
                <a:solidFill>
                  <a:srgbClr val="555E68"/>
                </a:solidFill>
                <a:latin typeface="Segoe UI"/>
                <a:ea typeface="Segoe UI"/>
                <a:cs typeface="Segoe UI"/>
              </a:rPr>
              <a:t>KEŞİF VE ÖN İŞLEME</a:t>
            </a:r>
          </a:p>
        </p:txBody>
      </p:sp>
      <p:sp>
        <p:nvSpPr>
          <p:cNvPr id="4" name="Texte_4_3">
            <a:extLst xmlns:a="http://schemas.openxmlformats.org/drawingml/2006/main">
              <a:ext uri="{FF2B5EF4-FFF2-40B4-BE49-F238E27FC236}">
                <a16:creationId xmlns:a16="http://schemas.microsoft.com/office/drawing/2014/main" id="{016AAEEF-5789-428D-AD73-401A6AABAEE9}"/>
              </a:ext>
            </a:extLst>
          </p:cNvPr>
          <p:cNvSpPr>
            <a:spLocks xmlns:a="http://schemas.openxmlformats.org/drawingml/2006/main" noGrp="1"/>
          </p:cNvSpPr>
          <p:nvPr/>
        </p:nvSpPr>
        <p:spPr>
          <a:xfrm xmlns:a="http://schemas.openxmlformats.org/drawingml/2006/main">
            <a:off x="10953750" y="266700"/>
            <a:ext cx="723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00" b="0">
                <a:solidFill>
                  <a:srgbClr val="0B0E13"/>
                </a:solidFill>
                <a:latin typeface="Bahnschrift"/>
                <a:ea typeface="Bahnschrift"/>
                <a:cs typeface="Bahnschrift"/>
              </a:defRPr>
            </a:pPr>
            <a:r>
              <a:rPr sz="1500" b="0">
                <a:solidFill>
                  <a:srgbClr val="0B0E13"/>
                </a:solidFill>
                <a:latin typeface="Bahnschrift"/>
                <a:ea typeface="Bahnschrift"/>
                <a:cs typeface="Bahnschrift"/>
              </a:rPr>
              <a:t>04</a:t>
            </a:r>
          </a:p>
        </p:txBody>
      </p:sp>
      <p:sp>
        <p:nvSpPr>
          <p:cNvPr id="5" name="Texte_4_4">
            <a:extLst xmlns:a="http://schemas.openxmlformats.org/drawingml/2006/main">
              <a:ext uri="{FF2B5EF4-FFF2-40B4-BE49-F238E27FC236}">
                <a16:creationId xmlns:a16="http://schemas.microsoft.com/office/drawing/2014/main" id="{5FCBB4FF-9D9F-44CA-8DD8-C69C7A849A78}"/>
              </a:ext>
            </a:extLst>
          </p:cNvPr>
          <p:cNvSpPr>
            <a:spLocks xmlns:a="http://schemas.openxmlformats.org/drawingml/2006/main" noGrp="1"/>
          </p:cNvSpPr>
          <p:nvPr/>
        </p:nvSpPr>
        <p:spPr>
          <a:xfrm xmlns:a="http://schemas.openxmlformats.org/drawingml/2006/main">
            <a:off x="533400" y="952500"/>
            <a:ext cx="111252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525" b="1">
                <a:solidFill>
                  <a:srgbClr val="0B0E13"/>
                </a:solidFill>
                <a:latin typeface="Segoe UI"/>
                <a:ea typeface="Segoe UI"/>
                <a:cs typeface="Segoe UI"/>
              </a:defRPr>
            </a:pPr>
            <a:r>
              <a:rPr sz="3525" b="1">
                <a:solidFill>
                  <a:srgbClr val="0B0E13"/>
                </a:solidFill>
                <a:latin typeface="Segoe UI"/>
                <a:ea typeface="Segoe UI"/>
                <a:cs typeface="Segoe UI"/>
              </a:rPr>
              <a:t>Eksiklik, eğitimin bir parçası</a:t>
            </a:r>
          </a:p>
        </p:txBody>
      </p:sp>
      <p:graphicFrame>
        <p:nvGraphicFramePr>
          <p:cNvPr id="23" name="Chart"/>
          <p:cNvGraphicFramePr/>
          <p:nvPr/>
        </p:nvGraphicFramePr>
        <p:xfrm>
          <a:off xmlns:a="http://schemas.openxmlformats.org/drawingml/2006/main" x="542925" y="2114550"/>
          <a:ext xmlns:a="http://schemas.openxmlformats.org/drawingml/2006/main" cx="11096625" cy="2943225"/>
        </p:xfrm>
        <a:graphic xmlns:a="http://schemas.openxmlformats.org/drawingml/2006/main">
          <a:graphicData uri="http://schemas.openxmlformats.org/drawingml/2006/chart">
            <c:chart xmlns:r="http://schemas.openxmlformats.org/officeDocument/2006/relationships" xmlns:c="http://schemas.openxmlformats.org/drawingml/2006/chart" r:id="R43805f2a6f194d05"/>
          </a:graphicData>
        </a:graphic>
      </p:graphicFrame>
      <p:sp>
        <p:nvSpPr>
          <p:cNvPr id="17" name="!!ESIK_THRESHOLD">
            <a:extLst xmlns:a="http://schemas.openxmlformats.org/drawingml/2006/main">
              <a:ext uri="{FF2B5EF4-FFF2-40B4-BE49-F238E27FC236}">
                <a16:creationId xmlns:a16="http://schemas.microsoft.com/office/drawing/2014/main" id="{55A86179-CFDC-4AEF-929E-8E9355C3FAF3}"/>
              </a:ext>
            </a:extLst>
          </p:cNvPr>
          <p:cNvSpPr>
            <a:spLocks xmlns:a="http://schemas.openxmlformats.org/drawingml/2006/main" noGrp="1"/>
          </p:cNvSpPr>
          <p:nvPr/>
        </p:nvSpPr>
        <p:spPr>
          <a:xfrm xmlns:a="http://schemas.openxmlformats.org/drawingml/2006/main">
            <a:off x="581025" y="5295900"/>
            <a:ext cx="10953750" cy="28575"/>
          </a:xfrm>
          <a:prstGeom xmlns:a="http://schemas.openxmlformats.org/drawingml/2006/main" prst="rect">
            <a:avLst/>
          </a:prstGeom>
          <a:solidFill xmlns:a="http://schemas.openxmlformats.org/drawingml/2006/main">
            <a:srgbClr val="344BFF"/>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6" name="Texte_4_5">
            <a:extLst xmlns:a="http://schemas.openxmlformats.org/drawingml/2006/main">
              <a:ext uri="{FF2B5EF4-FFF2-40B4-BE49-F238E27FC236}">
                <a16:creationId xmlns:a16="http://schemas.microsoft.com/office/drawing/2014/main" id="{74B6503C-BA26-4325-BBC1-709A64BC4CA9}"/>
              </a:ext>
            </a:extLst>
          </p:cNvPr>
          <p:cNvSpPr>
            <a:spLocks xmlns:a="http://schemas.openxmlformats.org/drawingml/2006/main" noGrp="1"/>
          </p:cNvSpPr>
          <p:nvPr/>
        </p:nvSpPr>
        <p:spPr>
          <a:xfrm xmlns:a="http://schemas.openxmlformats.org/drawingml/2006/main">
            <a:off x="542925" y="5534025"/>
            <a:ext cx="110775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550" b="1">
                <a:solidFill>
                  <a:srgbClr val="0B0E13"/>
                </a:solidFill>
                <a:latin typeface="Segoe UI"/>
                <a:ea typeface="Segoe UI"/>
                <a:cs typeface="Segoe UI"/>
              </a:defRPr>
            </a:pPr>
            <a:r>
              <a:rPr sz="2550" b="1">
                <a:solidFill>
                  <a:srgbClr val="0B0E13"/>
                </a:solidFill>
                <a:latin typeface="Segoe UI"/>
                <a:ea typeface="Segoe UI"/>
                <a:cs typeface="Segoe UI"/>
              </a:rPr>
              <a:t>Medyan ve sınıf ağırlığı eğitim katında öğrenilir.</a:t>
            </a:r>
          </a:p>
        </p:txBody>
      </p:sp>
      <p:sp>
        <p:nvSpPr>
          <p:cNvPr id="7" name="Texte_4_6">
            <a:extLst xmlns:a="http://schemas.openxmlformats.org/drawingml/2006/main">
              <a:ext uri="{FF2B5EF4-FFF2-40B4-BE49-F238E27FC236}">
                <a16:creationId xmlns:a16="http://schemas.microsoft.com/office/drawing/2014/main" id="{2DE988E8-AEC5-44E2-8490-E025E52B6E51}"/>
              </a:ext>
            </a:extLst>
          </p:cNvPr>
          <p:cNvSpPr>
            <a:spLocks xmlns:a="http://schemas.openxmlformats.org/drawingml/2006/main" noGrp="1"/>
          </p:cNvSpPr>
          <p:nvPr/>
        </p:nvSpPr>
        <p:spPr>
          <a:xfrm xmlns:a="http://schemas.openxmlformats.org/drawingml/2006/main">
            <a:off x="533400" y="6315075"/>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555E68"/>
                </a:solidFill>
                <a:latin typeface="Segoe UI"/>
                <a:ea typeface="Segoe UI"/>
                <a:cs typeface="Segoe UI"/>
              </a:defRPr>
            </a:pPr>
            <a:r>
              <a:rPr sz="1275" b="0">
                <a:solidFill>
                  <a:srgbClr val="555E68"/>
                </a:solidFill>
                <a:latin typeface="Segoe UI"/>
                <a:ea typeface="Segoe UI"/>
                <a:cs typeface="Segoe UI"/>
              </a:rPr>
              <a:t>Uç değerleri otomatik silmedik. Finansal sıkıntı sinyali de taşıyabilirler.</a:t>
            </a:r>
          </a:p>
        </p:txBody>
      </p:sp>
    </p:spTree>
    <p:extLst>
      <p:ext uri="{BB962C8B-B14F-4D97-AF65-F5344CB8AC3E}">
        <p14:creationId xmlns:p14="http://schemas.microsoft.com/office/powerpoint/2010/main" val="116891751"/>
      </p:ext>
    </p:extLst>
  </p:cSld>
  <mc:AlternateContent xmlns:mc="http://schemas.openxmlformats.org/markup-compatibility/2006" xmlns:p159="http://schemas.microsoft.com/office/powerpoint/2015/09/main" xmlns:p14="http://schemas.microsoft.com/office/powerpoint/2010/main">
    <mc:Choice Requires="p159">
      <p:transition spd="fast" advClick="1" p14:dur="650">
        <p159:morph option="byObject"/>
      </p:transition>
    </mc:Choice>
    <mc:Fallback>
      <p:transition spd="fast" advClick="1">
        <p:fade/>
      </p:transition>
    </mc:Fallback>
  </mc:AlternateContent>
</p:sld>
</file>

<file path=ppt/slides/slide5.xml><?xml version="1.0" encoding="utf-8"?>
<p:sld xmlns:p="http://schemas.openxmlformats.org/presentationml/2006/main" show="1">
  <p:cSld>
    <p:bg>
      <p:bgPr>
        <a:solidFill xmlns:a="http://schemas.openxmlformats.org/drawingml/2006/main">
          <a:srgbClr val="F4F5F0"/>
        </a:solidFill>
      </p:bgPr>
    </p:bg>
    <p:spTree>
      <p:nvGrpSpPr>
        <p:cNvPr id="1" name=""/>
        <p:cNvGrpSpPr/>
        <p:nvPr/>
      </p:nvGrpSpPr>
      <p:grpSpPr>
        <a:xfrm xmlns:a="http://schemas.openxmlformats.org/drawingml/2006/main"/>
      </p:grpSpPr>
      <p:sp>
        <p:nvSpPr>
          <p:cNvPr id="8" name="!!ESIK_MARK">
            <a:extLst xmlns:a="http://schemas.openxmlformats.org/drawingml/2006/main">
              <a:ext uri="{FF2B5EF4-FFF2-40B4-BE49-F238E27FC236}">
                <a16:creationId xmlns:a16="http://schemas.microsoft.com/office/drawing/2014/main" id="{CE755329-E23A-4CF3-9D96-3A375FF7CC5A}"/>
              </a:ext>
            </a:extLst>
          </p:cNvPr>
          <p:cNvSpPr>
            <a:spLocks xmlns:a="http://schemas.openxmlformats.org/drawingml/2006/main" noGrp="1"/>
          </p:cNvSpPr>
          <p:nvPr/>
        </p:nvSpPr>
        <p:spPr>
          <a:xfrm xmlns:a="http://schemas.openxmlformats.org/drawingml/2006/main">
            <a:off x="533400" y="266700"/>
            <a:ext cx="1190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75" b="1">
                <a:solidFill>
                  <a:srgbClr val="0B0E13"/>
                </a:solidFill>
                <a:latin typeface="Bahnschrift"/>
                <a:ea typeface="Bahnschrift"/>
                <a:cs typeface="Bahnschrift"/>
              </a:defRPr>
            </a:pPr>
            <a:r>
              <a:rPr sz="1575" b="1">
                <a:solidFill>
                  <a:srgbClr val="0B0E13"/>
                </a:solidFill>
                <a:latin typeface="Bahnschrift"/>
                <a:ea typeface="Bahnschrift"/>
                <a:cs typeface="Bahnschrift"/>
              </a:rPr>
              <a:t>EŞİK</a:t>
            </a:r>
          </a:p>
        </p:txBody>
      </p:sp>
      <p:sp>
        <p:nvSpPr>
          <p:cNvPr id="2" name="Texte_5_2">
            <a:extLst xmlns:a="http://schemas.openxmlformats.org/drawingml/2006/main">
              <a:ext uri="{FF2B5EF4-FFF2-40B4-BE49-F238E27FC236}">
                <a16:creationId xmlns:a16="http://schemas.microsoft.com/office/drawing/2014/main" id="{3AD07AEF-9C1C-42B4-9A48-B999BC1DF1F1}"/>
              </a:ext>
            </a:extLst>
          </p:cNvPr>
          <p:cNvSpPr>
            <a:spLocks xmlns:a="http://schemas.openxmlformats.org/drawingml/2006/main" noGrp="1"/>
          </p:cNvSpPr>
          <p:nvPr/>
        </p:nvSpPr>
        <p:spPr>
          <a:xfrm xmlns:a="http://schemas.openxmlformats.org/drawingml/2006/main">
            <a:off x="1809750" y="295275"/>
            <a:ext cx="7810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555E68"/>
                </a:solidFill>
                <a:latin typeface="Segoe UI"/>
                <a:ea typeface="Segoe UI"/>
                <a:cs typeface="Segoe UI"/>
              </a:defRPr>
            </a:pPr>
            <a:r>
              <a:rPr sz="1275" b="0">
                <a:solidFill>
                  <a:srgbClr val="555E68"/>
                </a:solidFill>
                <a:latin typeface="Segoe UI"/>
                <a:ea typeface="Segoe UI"/>
                <a:cs typeface="Segoe UI"/>
              </a:rPr>
              <a:t>ÖZELLİK MÜHENDİSLİĞİ</a:t>
            </a:r>
          </a:p>
        </p:txBody>
      </p:sp>
      <p:sp>
        <p:nvSpPr>
          <p:cNvPr id="4" name="Texte_5_3">
            <a:extLst xmlns:a="http://schemas.openxmlformats.org/drawingml/2006/main">
              <a:ext uri="{FF2B5EF4-FFF2-40B4-BE49-F238E27FC236}">
                <a16:creationId xmlns:a16="http://schemas.microsoft.com/office/drawing/2014/main" id="{1DF2688B-41FC-4B3F-9CB1-20B14EAAB8C3}"/>
              </a:ext>
            </a:extLst>
          </p:cNvPr>
          <p:cNvSpPr>
            <a:spLocks xmlns:a="http://schemas.openxmlformats.org/drawingml/2006/main" noGrp="1"/>
          </p:cNvSpPr>
          <p:nvPr/>
        </p:nvSpPr>
        <p:spPr>
          <a:xfrm xmlns:a="http://schemas.openxmlformats.org/drawingml/2006/main">
            <a:off x="10953750" y="266700"/>
            <a:ext cx="723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00" b="0">
                <a:solidFill>
                  <a:srgbClr val="0B0E13"/>
                </a:solidFill>
                <a:latin typeface="Bahnschrift"/>
                <a:ea typeface="Bahnschrift"/>
                <a:cs typeface="Bahnschrift"/>
              </a:defRPr>
            </a:pPr>
            <a:r>
              <a:rPr sz="1500" b="0">
                <a:solidFill>
                  <a:srgbClr val="0B0E13"/>
                </a:solidFill>
                <a:latin typeface="Bahnschrift"/>
                <a:ea typeface="Bahnschrift"/>
                <a:cs typeface="Bahnschrift"/>
              </a:rPr>
              <a:t>05</a:t>
            </a:r>
          </a:p>
        </p:txBody>
      </p:sp>
      <p:sp>
        <p:nvSpPr>
          <p:cNvPr id="5" name="Texte_5_4">
            <a:extLst xmlns:a="http://schemas.openxmlformats.org/drawingml/2006/main">
              <a:ext uri="{FF2B5EF4-FFF2-40B4-BE49-F238E27FC236}">
                <a16:creationId xmlns:a16="http://schemas.microsoft.com/office/drawing/2014/main" id="{A7B0D666-84C7-45C6-B30B-89180F4E153C}"/>
              </a:ext>
            </a:extLst>
          </p:cNvPr>
          <p:cNvSpPr>
            <a:spLocks xmlns:a="http://schemas.openxmlformats.org/drawingml/2006/main" noGrp="1"/>
          </p:cNvSpPr>
          <p:nvPr/>
        </p:nvSpPr>
        <p:spPr>
          <a:xfrm xmlns:a="http://schemas.openxmlformats.org/drawingml/2006/main">
            <a:off x="533400" y="952500"/>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525" b="1">
                <a:solidFill>
                  <a:srgbClr val="0B0E13"/>
                </a:solidFill>
                <a:latin typeface="Segoe UI"/>
                <a:ea typeface="Segoe UI"/>
                <a:cs typeface="Segoe UI"/>
              </a:defRPr>
            </a:pPr>
            <a:r>
              <a:rPr sz="3525" b="1">
                <a:solidFill>
                  <a:srgbClr val="0B0E13"/>
                </a:solidFill>
                <a:latin typeface="Segoe UI"/>
                <a:ea typeface="Segoe UI"/>
                <a:cs typeface="Segoe UI"/>
              </a:rPr>
              <a:t>Özellik mühendisliği: 64 + 4</a:t>
            </a:r>
          </a:p>
        </p:txBody>
      </p:sp>
      <p:sp>
        <p:nvSpPr>
          <p:cNvPr id="6" name="Texte_5_5">
            <a:extLst xmlns:a="http://schemas.openxmlformats.org/drawingml/2006/main">
              <a:ext uri="{FF2B5EF4-FFF2-40B4-BE49-F238E27FC236}">
                <a16:creationId xmlns:a16="http://schemas.microsoft.com/office/drawing/2014/main" id="{2EECD098-C24A-4E66-90BD-07CA05E59FA9}"/>
              </a:ext>
            </a:extLst>
          </p:cNvPr>
          <p:cNvSpPr>
            <a:spLocks xmlns:a="http://schemas.openxmlformats.org/drawingml/2006/main" noGrp="1"/>
          </p:cNvSpPr>
          <p:nvPr/>
        </p:nvSpPr>
        <p:spPr>
          <a:xfrm xmlns:a="http://schemas.openxmlformats.org/drawingml/2006/main">
            <a:off x="561975" y="2009775"/>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B0E13"/>
                </a:solidFill>
                <a:latin typeface="Segoe UI"/>
                <a:ea typeface="Segoe UI"/>
                <a:cs typeface="Segoe UI"/>
              </a:defRPr>
            </a:pPr>
            <a:r>
              <a:rPr sz="1875" b="1">
                <a:solidFill>
                  <a:srgbClr val="0B0E13"/>
                </a:solidFill>
                <a:latin typeface="Segoe UI"/>
                <a:ea typeface="Segoe UI"/>
                <a:cs typeface="Segoe UI"/>
              </a:rPr>
              <a:t>Eksiklik oranı</a:t>
            </a:r>
          </a:p>
        </p:txBody>
      </p:sp>
      <p:sp>
        <p:nvSpPr>
          <p:cNvPr id="7" name="Texte_5_6">
            <a:extLst xmlns:a="http://schemas.openxmlformats.org/drawingml/2006/main">
              <a:ext uri="{FF2B5EF4-FFF2-40B4-BE49-F238E27FC236}">
                <a16:creationId xmlns:a16="http://schemas.microsoft.com/office/drawing/2014/main" id="{28AAEA94-9990-4D27-87B4-474DAE7651A8}"/>
              </a:ext>
            </a:extLst>
          </p:cNvPr>
          <p:cNvSpPr>
            <a:spLocks xmlns:a="http://schemas.openxmlformats.org/drawingml/2006/main" noGrp="1"/>
          </p:cNvSpPr>
          <p:nvPr/>
        </p:nvSpPr>
        <p:spPr>
          <a:xfrm xmlns:a="http://schemas.openxmlformats.org/drawingml/2006/main">
            <a:off x="6229350" y="2009775"/>
            <a:ext cx="5381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950" b="0">
                <a:solidFill>
                  <a:srgbClr val="344BFF"/>
                </a:solidFill>
                <a:latin typeface="Segoe UI"/>
                <a:ea typeface="Segoe UI"/>
                <a:cs typeface="Segoe UI"/>
              </a:defRPr>
            </a:pPr>
            <a:r>
              <a:rPr sz="1950" b="0">
                <a:solidFill>
                  <a:srgbClr val="344BFF"/>
                </a:solidFill>
                <a:latin typeface="Segoe UI"/>
                <a:ea typeface="Segoe UI"/>
                <a:cs typeface="Segoe UI"/>
              </a:rPr>
              <a:t>Eksik oran sayısı / 64</a:t>
            </a:r>
          </a:p>
        </p:txBody>
      </p:sp>
      <p:sp>
        <p:nvSpPr>
          <p:cNvPr id="10" name="Texte_5_7">
            <a:extLst xmlns:a="http://schemas.openxmlformats.org/drawingml/2006/main">
              <a:ext uri="{FF2B5EF4-FFF2-40B4-BE49-F238E27FC236}">
                <a16:creationId xmlns:a16="http://schemas.microsoft.com/office/drawing/2014/main" id="{7A3CF4F7-A994-4B94-BA21-28C38A0E3F27}"/>
              </a:ext>
            </a:extLst>
          </p:cNvPr>
          <p:cNvSpPr>
            <a:spLocks xmlns:a="http://schemas.openxmlformats.org/drawingml/2006/main" noGrp="1"/>
          </p:cNvSpPr>
          <p:nvPr/>
        </p:nvSpPr>
        <p:spPr>
          <a:xfrm xmlns:a="http://schemas.openxmlformats.org/drawingml/2006/main">
            <a:off x="561975" y="247650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B0E13"/>
                </a:solidFill>
                <a:latin typeface="Segoe UI"/>
                <a:ea typeface="Segoe UI"/>
                <a:cs typeface="Segoe UI"/>
              </a:defRPr>
            </a:pPr>
            <a:r>
              <a:rPr sz="1875" b="1">
                <a:solidFill>
                  <a:srgbClr val="0B0E13"/>
                </a:solidFill>
                <a:latin typeface="Segoe UI"/>
                <a:ea typeface="Segoe UI"/>
                <a:cs typeface="Segoe UI"/>
              </a:rPr>
              <a:t>Kısa vadeli borç payı</a:t>
            </a:r>
          </a:p>
        </p:txBody>
      </p:sp>
      <p:sp>
        <p:nvSpPr>
          <p:cNvPr id="17" name="Texte_5_8">
            <a:extLst xmlns:a="http://schemas.openxmlformats.org/drawingml/2006/main">
              <a:ext uri="{FF2B5EF4-FFF2-40B4-BE49-F238E27FC236}">
                <a16:creationId xmlns:a16="http://schemas.microsoft.com/office/drawing/2014/main" id="{BFE6E267-CE82-49DA-A58F-7A1639001C91}"/>
              </a:ext>
            </a:extLst>
          </p:cNvPr>
          <p:cNvSpPr>
            <a:spLocks xmlns:a="http://schemas.openxmlformats.org/drawingml/2006/main" noGrp="1"/>
          </p:cNvSpPr>
          <p:nvPr/>
        </p:nvSpPr>
        <p:spPr>
          <a:xfrm xmlns:a="http://schemas.openxmlformats.org/drawingml/2006/main">
            <a:off x="6229350" y="2476500"/>
            <a:ext cx="5381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950" b="0">
                <a:solidFill>
                  <a:srgbClr val="344BFF"/>
                </a:solidFill>
                <a:latin typeface="Segoe UI"/>
                <a:ea typeface="Segoe UI"/>
                <a:cs typeface="Segoe UI"/>
              </a:defRPr>
            </a:pPr>
            <a:r>
              <a:rPr sz="1950" b="0">
                <a:solidFill>
                  <a:srgbClr val="344BFF"/>
                </a:solidFill>
                <a:latin typeface="Segoe UI"/>
                <a:ea typeface="Segoe UI"/>
                <a:cs typeface="Segoe UI"/>
              </a:rPr>
              <a:t>Attr51 / Attr2</a:t>
            </a:r>
          </a:p>
        </p:txBody>
      </p:sp>
      <p:sp>
        <p:nvSpPr>
          <p:cNvPr id="18" name="Texte_5_9">
            <a:extLst xmlns:a="http://schemas.openxmlformats.org/drawingml/2006/main">
              <a:ext uri="{FF2B5EF4-FFF2-40B4-BE49-F238E27FC236}">
                <a16:creationId xmlns:a16="http://schemas.microsoft.com/office/drawing/2014/main" id="{38A067D5-539C-43D1-8F4A-90FF1BEC5DA4}"/>
              </a:ext>
            </a:extLst>
          </p:cNvPr>
          <p:cNvSpPr>
            <a:spLocks xmlns:a="http://schemas.openxmlformats.org/drawingml/2006/main" noGrp="1"/>
          </p:cNvSpPr>
          <p:nvPr/>
        </p:nvSpPr>
        <p:spPr>
          <a:xfrm xmlns:a="http://schemas.openxmlformats.org/drawingml/2006/main">
            <a:off x="561975" y="2943225"/>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B0E13"/>
                </a:solidFill>
                <a:latin typeface="Segoe UI"/>
                <a:ea typeface="Segoe UI"/>
                <a:cs typeface="Segoe UI"/>
              </a:defRPr>
            </a:pPr>
            <a:r>
              <a:rPr sz="1875" b="1">
                <a:solidFill>
                  <a:srgbClr val="0B0E13"/>
                </a:solidFill>
                <a:latin typeface="Segoe UI"/>
                <a:ea typeface="Segoe UI"/>
                <a:cs typeface="Segoe UI"/>
              </a:rPr>
              <a:t>Zarar ve likidite açığı</a:t>
            </a:r>
          </a:p>
        </p:txBody>
      </p:sp>
      <p:sp>
        <p:nvSpPr>
          <p:cNvPr id="19" name="Texte_5_10">
            <a:extLst xmlns:a="http://schemas.openxmlformats.org/drawingml/2006/main">
              <a:ext uri="{FF2B5EF4-FFF2-40B4-BE49-F238E27FC236}">
                <a16:creationId xmlns:a16="http://schemas.microsoft.com/office/drawing/2014/main" id="{A23A5158-A31D-4A1C-9EFF-C418B7719F44}"/>
              </a:ext>
            </a:extLst>
          </p:cNvPr>
          <p:cNvSpPr>
            <a:spLocks xmlns:a="http://schemas.openxmlformats.org/drawingml/2006/main" noGrp="1"/>
          </p:cNvSpPr>
          <p:nvPr/>
        </p:nvSpPr>
        <p:spPr>
          <a:xfrm xmlns:a="http://schemas.openxmlformats.org/drawingml/2006/main">
            <a:off x="6229350" y="2943225"/>
            <a:ext cx="5381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950" b="0">
                <a:solidFill>
                  <a:srgbClr val="344BFF"/>
                </a:solidFill>
                <a:latin typeface="Segoe UI"/>
                <a:ea typeface="Segoe UI"/>
                <a:cs typeface="Segoe UI"/>
              </a:defRPr>
            </a:pPr>
            <a:r>
              <a:rPr sz="1950" b="0">
                <a:solidFill>
                  <a:srgbClr val="344BFF"/>
                </a:solidFill>
                <a:latin typeface="Segoe UI"/>
                <a:ea typeface="Segoe UI"/>
                <a:cs typeface="Segoe UI"/>
              </a:rPr>
              <a:t>1[Attr1 &lt; 0 ve Attr4 &lt; 1]</a:t>
            </a:r>
          </a:p>
        </p:txBody>
      </p:sp>
      <p:sp>
        <p:nvSpPr>
          <p:cNvPr id="20" name="Texte_5_11">
            <a:extLst xmlns:a="http://schemas.openxmlformats.org/drawingml/2006/main">
              <a:ext uri="{FF2B5EF4-FFF2-40B4-BE49-F238E27FC236}">
                <a16:creationId xmlns:a16="http://schemas.microsoft.com/office/drawing/2014/main" id="{286F4532-9792-40B0-9D4E-07C4C9D9CD0F}"/>
              </a:ext>
            </a:extLst>
          </p:cNvPr>
          <p:cNvSpPr>
            <a:spLocks xmlns:a="http://schemas.openxmlformats.org/drawingml/2006/main" noGrp="1"/>
          </p:cNvSpPr>
          <p:nvPr/>
        </p:nvSpPr>
        <p:spPr>
          <a:xfrm xmlns:a="http://schemas.openxmlformats.org/drawingml/2006/main">
            <a:off x="561975" y="340995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B0E13"/>
                </a:solidFill>
                <a:latin typeface="Segoe UI"/>
                <a:ea typeface="Segoe UI"/>
                <a:cs typeface="Segoe UI"/>
              </a:defRPr>
            </a:pPr>
            <a:r>
              <a:rPr sz="1875" b="1">
                <a:solidFill>
                  <a:srgbClr val="0B0E13"/>
                </a:solidFill>
                <a:latin typeface="Segoe UI"/>
                <a:ea typeface="Segoe UI"/>
                <a:cs typeface="Segoe UI"/>
              </a:rPr>
              <a:t>Zarar ve satış düşüşü</a:t>
            </a:r>
          </a:p>
        </p:txBody>
      </p:sp>
      <p:sp>
        <p:nvSpPr>
          <p:cNvPr id="21" name="Texte_5_12">
            <a:extLst xmlns:a="http://schemas.openxmlformats.org/drawingml/2006/main">
              <a:ext uri="{FF2B5EF4-FFF2-40B4-BE49-F238E27FC236}">
                <a16:creationId xmlns:a16="http://schemas.microsoft.com/office/drawing/2014/main" id="{DF748B55-A27A-44EE-8426-ACEB475CD6D8}"/>
              </a:ext>
            </a:extLst>
          </p:cNvPr>
          <p:cNvSpPr>
            <a:spLocks xmlns:a="http://schemas.openxmlformats.org/drawingml/2006/main" noGrp="1"/>
          </p:cNvSpPr>
          <p:nvPr/>
        </p:nvSpPr>
        <p:spPr>
          <a:xfrm xmlns:a="http://schemas.openxmlformats.org/drawingml/2006/main">
            <a:off x="6229350" y="3409950"/>
            <a:ext cx="5381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950" b="0">
                <a:solidFill>
                  <a:srgbClr val="344BFF"/>
                </a:solidFill>
                <a:latin typeface="Segoe UI"/>
                <a:ea typeface="Segoe UI"/>
                <a:cs typeface="Segoe UI"/>
              </a:defRPr>
            </a:pPr>
            <a:r>
              <a:rPr sz="1950" b="0">
                <a:solidFill>
                  <a:srgbClr val="344BFF"/>
                </a:solidFill>
                <a:latin typeface="Segoe UI"/>
                <a:ea typeface="Segoe UI"/>
                <a:cs typeface="Segoe UI"/>
              </a:rPr>
              <a:t>1[Attr1 &lt; 0 ve Attr21 &lt; 1]</a:t>
            </a:r>
          </a:p>
        </p:txBody>
      </p:sp>
      <p:sp>
        <p:nvSpPr>
          <p:cNvPr id="22" name="!!ESIK_THRESHOLD">
            <a:extLst xmlns:a="http://schemas.openxmlformats.org/drawingml/2006/main">
              <a:ext uri="{FF2B5EF4-FFF2-40B4-BE49-F238E27FC236}">
                <a16:creationId xmlns:a16="http://schemas.microsoft.com/office/drawing/2014/main" id="{6D662675-7E76-4F75-97B8-2A34028E9A39}"/>
              </a:ext>
            </a:extLst>
          </p:cNvPr>
          <p:cNvSpPr>
            <a:spLocks xmlns:a="http://schemas.openxmlformats.org/drawingml/2006/main" noGrp="1"/>
          </p:cNvSpPr>
          <p:nvPr/>
        </p:nvSpPr>
        <p:spPr>
          <a:xfrm xmlns:a="http://schemas.openxmlformats.org/drawingml/2006/main">
            <a:off x="581025" y="3943350"/>
            <a:ext cx="10953750" cy="28575"/>
          </a:xfrm>
          <a:prstGeom xmlns:a="http://schemas.openxmlformats.org/drawingml/2006/main" prst="rect">
            <a:avLst/>
          </a:prstGeom>
          <a:solidFill xmlns:a="http://schemas.openxmlformats.org/drawingml/2006/main">
            <a:srgbClr val="344BFF"/>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graphicFrame>
        <p:nvGraphicFramePr>
          <p:cNvPr id="39" name="Chart"/>
          <p:cNvGraphicFramePr/>
          <p:nvPr/>
        </p:nvGraphicFramePr>
        <p:xfrm>
          <a:off xmlns:a="http://schemas.openxmlformats.org/drawingml/2006/main" x="552450" y="4114800"/>
          <a:ext xmlns:a="http://schemas.openxmlformats.org/drawingml/2006/main" cx="11049000" cy="1676400"/>
        </p:xfrm>
        <a:graphic xmlns:a="http://schemas.openxmlformats.org/drawingml/2006/main">
          <a:graphicData uri="http://schemas.openxmlformats.org/drawingml/2006/chart">
            <c:chart xmlns:r="http://schemas.openxmlformats.org/officeDocument/2006/relationships" xmlns:c="http://schemas.openxmlformats.org/drawingml/2006/chart" r:id="Ra4efd4c3cbeb4bfb"/>
          </a:graphicData>
        </a:graphic>
      </p:graphicFrame>
      <p:sp>
        <p:nvSpPr>
          <p:cNvPr id="23" name="Texte_5_13">
            <a:extLst xmlns:a="http://schemas.openxmlformats.org/drawingml/2006/main">
              <a:ext uri="{FF2B5EF4-FFF2-40B4-BE49-F238E27FC236}">
                <a16:creationId xmlns:a16="http://schemas.microsoft.com/office/drawing/2014/main" id="{05D2E9A5-E645-4E77-B315-43D9F669853B}"/>
              </a:ext>
            </a:extLst>
          </p:cNvPr>
          <p:cNvSpPr>
            <a:spLocks xmlns:a="http://schemas.openxmlformats.org/drawingml/2006/main" noGrp="1"/>
          </p:cNvSpPr>
          <p:nvPr/>
        </p:nvSpPr>
        <p:spPr>
          <a:xfrm xmlns:a="http://schemas.openxmlformats.org/drawingml/2006/main">
            <a:off x="561975" y="5895975"/>
            <a:ext cx="11106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1">
                <a:solidFill>
                  <a:srgbClr val="0B0E13"/>
                </a:solidFill>
                <a:latin typeface="Segoe UI"/>
                <a:ea typeface="Segoe UI"/>
                <a:cs typeface="Segoe UI"/>
              </a:defRPr>
            </a:pPr>
            <a:r>
              <a:rPr sz="2025" b="1">
                <a:solidFill>
                  <a:srgbClr val="0B0E13"/>
                </a:solidFill>
                <a:latin typeface="Segoe UI"/>
                <a:ea typeface="Segoe UI"/>
                <a:cs typeface="Segoe UI"/>
              </a:rPr>
              <a:t>Bu kurulumda −1,53 puan. Ana model 64 oranı koruyor.</a:t>
            </a:r>
          </a:p>
        </p:txBody>
      </p:sp>
      <p:sp>
        <p:nvSpPr>
          <p:cNvPr id="24" name="Texte_5_14">
            <a:extLst xmlns:a="http://schemas.openxmlformats.org/drawingml/2006/main">
              <a:ext uri="{FF2B5EF4-FFF2-40B4-BE49-F238E27FC236}">
                <a16:creationId xmlns:a16="http://schemas.microsoft.com/office/drawing/2014/main" id="{E228ADF2-6AEF-43C4-B90B-4F67830670B5}"/>
              </a:ext>
            </a:extLst>
          </p:cNvPr>
          <p:cNvSpPr>
            <a:spLocks xmlns:a="http://schemas.openxmlformats.org/drawingml/2006/main" noGrp="1"/>
          </p:cNvSpPr>
          <p:nvPr/>
        </p:nvSpPr>
        <p:spPr>
          <a:xfrm xmlns:a="http://schemas.openxmlformats.org/drawingml/2006/main">
            <a:off x="533400" y="6391275"/>
            <a:ext cx="11125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555E68"/>
                </a:solidFill>
                <a:latin typeface="Segoe UI"/>
                <a:ea typeface="Segoe UI"/>
                <a:cs typeface="Segoe UI"/>
              </a:defRPr>
            </a:pPr>
            <a:r>
              <a:rPr sz="1275" b="0">
                <a:solidFill>
                  <a:srgbClr val="555E68"/>
                </a:solidFill>
                <a:latin typeface="Segoe UI"/>
                <a:ea typeface="Segoe UI"/>
                <a:cs typeface="Segoe UI"/>
              </a:rPr>
              <a:t>Sabit XGBoost, 400 ağaç. Keşifsel deney. Tanımsız girdiler eksik kalır. Yeni bağımsız test değildir.</a:t>
            </a:r>
          </a:p>
        </p:txBody>
      </p:sp>
    </p:spTree>
    <p:extLst>
      <p:ext uri="{BB962C8B-B14F-4D97-AF65-F5344CB8AC3E}">
        <p14:creationId xmlns:p14="http://schemas.microsoft.com/office/powerpoint/2010/main" val="928417249"/>
      </p:ext>
    </p:extLst>
  </p:cSld>
  <mc:AlternateContent xmlns:mc="http://schemas.openxmlformats.org/markup-compatibility/2006" xmlns:p159="http://schemas.microsoft.com/office/powerpoint/2015/09/main" xmlns:p14="http://schemas.microsoft.com/office/powerpoint/2010/main">
    <mc:Choice Requires="p159">
      <p:transition spd="fast" advClick="1" p14:dur="650">
        <p159:morph option="byObject"/>
      </p:transition>
    </mc:Choice>
    <mc:Fallback>
      <p:transition spd="fast" advClick="1">
        <p:fade/>
      </p:transition>
    </mc:Fallback>
  </mc:AlternateContent>
</p:sld>
</file>

<file path=ppt/slides/slide6.xml><?xml version="1.0" encoding="utf-8"?>
<p:sld xmlns:p="http://schemas.openxmlformats.org/presentationml/2006/main" show="1">
  <p:cSld>
    <p:bg>
      <p:bgPr>
        <a:solidFill xmlns:a="http://schemas.openxmlformats.org/drawingml/2006/main">
          <a:srgbClr val="0B0E13"/>
        </a:solidFill>
      </p:bgPr>
    </p:bg>
    <p:spTree>
      <p:nvGrpSpPr>
        <p:cNvPr id="1" name=""/>
        <p:cNvGrpSpPr/>
        <p:nvPr/>
      </p:nvGrpSpPr>
      <p:grpSpPr>
        <a:xfrm xmlns:a="http://schemas.openxmlformats.org/drawingml/2006/main"/>
      </p:grpSpPr>
      <p:sp>
        <p:nvSpPr>
          <p:cNvPr id="52" name="!!ESIK_MARK">
            <a:extLst xmlns:a="http://schemas.openxmlformats.org/drawingml/2006/main">
              <a:ext uri="{FF2B5EF4-FFF2-40B4-BE49-F238E27FC236}">
                <a16:creationId xmlns:a16="http://schemas.microsoft.com/office/drawing/2014/main" id="{0A0B63AF-2A31-43C8-A9AA-A705B647DBE8}"/>
              </a:ext>
            </a:extLst>
          </p:cNvPr>
          <p:cNvSpPr>
            <a:spLocks xmlns:a="http://schemas.openxmlformats.org/drawingml/2006/main" noGrp="1"/>
          </p:cNvSpPr>
          <p:nvPr/>
        </p:nvSpPr>
        <p:spPr>
          <a:xfrm xmlns:a="http://schemas.openxmlformats.org/drawingml/2006/main">
            <a:off x="533400" y="266700"/>
            <a:ext cx="1190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75" b="1">
                <a:solidFill>
                  <a:srgbClr val="D7FF42"/>
                </a:solidFill>
                <a:latin typeface="Bahnschrift"/>
                <a:ea typeface="Bahnschrift"/>
                <a:cs typeface="Bahnschrift"/>
              </a:defRPr>
            </a:pPr>
            <a:r>
              <a:rPr sz="1575" b="1">
                <a:solidFill>
                  <a:srgbClr val="D7FF42"/>
                </a:solidFill>
                <a:latin typeface="Bahnschrift"/>
                <a:ea typeface="Bahnschrift"/>
                <a:cs typeface="Bahnschrift"/>
              </a:rPr>
              <a:t>EŞİK</a:t>
            </a:r>
          </a:p>
        </p:txBody>
      </p:sp>
      <p:sp>
        <p:nvSpPr>
          <p:cNvPr id="2" name="Texte_6_2">
            <a:extLst xmlns:a="http://schemas.openxmlformats.org/drawingml/2006/main">
              <a:ext uri="{FF2B5EF4-FFF2-40B4-BE49-F238E27FC236}">
                <a16:creationId xmlns:a16="http://schemas.microsoft.com/office/drawing/2014/main" id="{8D58A150-6EF7-4D78-B206-5DF56A39EEFD}"/>
              </a:ext>
            </a:extLst>
          </p:cNvPr>
          <p:cNvSpPr>
            <a:spLocks xmlns:a="http://schemas.openxmlformats.org/drawingml/2006/main" noGrp="1"/>
          </p:cNvSpPr>
          <p:nvPr/>
        </p:nvSpPr>
        <p:spPr>
          <a:xfrm xmlns:a="http://schemas.openxmlformats.org/drawingml/2006/main">
            <a:off x="1809750" y="295275"/>
            <a:ext cx="7810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ABB1B9"/>
                </a:solidFill>
                <a:latin typeface="Segoe UI"/>
                <a:ea typeface="Segoe UI"/>
                <a:cs typeface="Segoe UI"/>
              </a:defRPr>
            </a:pPr>
            <a:r>
              <a:rPr sz="1275" b="0">
                <a:solidFill>
                  <a:srgbClr val="ABB1B9"/>
                </a:solidFill>
                <a:latin typeface="Segoe UI"/>
                <a:ea typeface="Segoe UI"/>
                <a:cs typeface="Segoe UI"/>
              </a:rPr>
              <a:t>MODELLEME VE OPTİMİZASYON</a:t>
            </a:r>
          </a:p>
        </p:txBody>
      </p:sp>
      <p:sp>
        <p:nvSpPr>
          <p:cNvPr id="3" name="Texte_6_3">
            <a:extLst xmlns:a="http://schemas.openxmlformats.org/drawingml/2006/main">
              <a:ext uri="{FF2B5EF4-FFF2-40B4-BE49-F238E27FC236}">
                <a16:creationId xmlns:a16="http://schemas.microsoft.com/office/drawing/2014/main" id="{7D2F937D-414A-4875-A42F-401E942BB9CB}"/>
              </a:ext>
            </a:extLst>
          </p:cNvPr>
          <p:cNvSpPr>
            <a:spLocks xmlns:a="http://schemas.openxmlformats.org/drawingml/2006/main" noGrp="1"/>
          </p:cNvSpPr>
          <p:nvPr/>
        </p:nvSpPr>
        <p:spPr>
          <a:xfrm xmlns:a="http://schemas.openxmlformats.org/drawingml/2006/main">
            <a:off x="10953750" y="266700"/>
            <a:ext cx="723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00" b="0">
                <a:solidFill>
                  <a:srgbClr val="ABB1B9"/>
                </a:solidFill>
                <a:latin typeface="Bahnschrift"/>
                <a:ea typeface="Bahnschrift"/>
                <a:cs typeface="Bahnschrift"/>
              </a:defRPr>
            </a:pPr>
            <a:r>
              <a:rPr sz="1500" b="0">
                <a:solidFill>
                  <a:srgbClr val="ABB1B9"/>
                </a:solidFill>
                <a:latin typeface="Bahnschrift"/>
                <a:ea typeface="Bahnschrift"/>
                <a:cs typeface="Bahnschrift"/>
              </a:rPr>
              <a:t>06</a:t>
            </a:r>
          </a:p>
        </p:txBody>
      </p:sp>
      <p:sp>
        <p:nvSpPr>
          <p:cNvPr id="4" name="Texte_6_4">
            <a:extLst xmlns:a="http://schemas.openxmlformats.org/drawingml/2006/main">
              <a:ext uri="{FF2B5EF4-FFF2-40B4-BE49-F238E27FC236}">
                <a16:creationId xmlns:a16="http://schemas.microsoft.com/office/drawing/2014/main" id="{2D45E3D4-53C2-48D1-9929-C57F3C0D7080}"/>
              </a:ext>
            </a:extLst>
          </p:cNvPr>
          <p:cNvSpPr>
            <a:spLocks xmlns:a="http://schemas.openxmlformats.org/drawingml/2006/main" noGrp="1"/>
          </p:cNvSpPr>
          <p:nvPr/>
        </p:nvSpPr>
        <p:spPr>
          <a:xfrm xmlns:a="http://schemas.openxmlformats.org/drawingml/2006/main">
            <a:off x="533400" y="952500"/>
            <a:ext cx="111252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225" b="1">
                <a:solidFill>
                  <a:srgbClr val="F4F5F0"/>
                </a:solidFill>
                <a:latin typeface="Segoe UI"/>
                <a:ea typeface="Segoe UI"/>
                <a:cs typeface="Segoe UI"/>
              </a:defRPr>
            </a:pPr>
            <a:r>
              <a:rPr sz="3225" b="1">
                <a:solidFill>
                  <a:srgbClr val="F4F5F0"/>
                </a:solidFill>
                <a:latin typeface="Segoe UI"/>
                <a:ea typeface="Segoe UI"/>
                <a:cs typeface="Segoe UI"/>
              </a:rPr>
              <a:t>Ayarları içeride seç, dışarıda değerlendir</a:t>
            </a:r>
          </a:p>
        </p:txBody>
      </p:sp>
      <p:sp>
        <p:nvSpPr>
          <p:cNvPr id="10" name="Texte_6_5">
            <a:extLst xmlns:a="http://schemas.openxmlformats.org/drawingml/2006/main">
              <a:ext uri="{FF2B5EF4-FFF2-40B4-BE49-F238E27FC236}">
                <a16:creationId xmlns:a16="http://schemas.microsoft.com/office/drawing/2014/main" id="{9388445B-E1F2-4316-9DA6-853E894B9F08}"/>
              </a:ext>
            </a:extLst>
          </p:cNvPr>
          <p:cNvSpPr>
            <a:spLocks xmlns:a="http://schemas.openxmlformats.org/drawingml/2006/main" noGrp="1"/>
          </p:cNvSpPr>
          <p:nvPr/>
        </p:nvSpPr>
        <p:spPr>
          <a:xfrm xmlns:a="http://schemas.openxmlformats.org/drawingml/2006/main">
            <a:off x="542925" y="1962150"/>
            <a:ext cx="11239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D7FF42"/>
                </a:solidFill>
                <a:latin typeface="Segoe UI"/>
                <a:ea typeface="Segoe UI"/>
                <a:cs typeface="Segoe UI"/>
              </a:defRPr>
            </a:pPr>
            <a:r>
              <a:rPr sz="2175" b="1">
                <a:solidFill>
                  <a:srgbClr val="D7FF42"/>
                </a:solidFill>
                <a:latin typeface="Segoe UI"/>
                <a:ea typeface="Segoe UI"/>
                <a:cs typeface="Segoe UI"/>
              </a:rPr>
              <a:t>4.680 geliştirme kaydı</a:t>
            </a:r>
          </a:p>
        </p:txBody>
      </p:sp>
      <p:sp>
        <p:nvSpPr>
          <p:cNvPr id="53" name="Diagram_6_1">
            <a:extLst xmlns:a="http://schemas.openxmlformats.org/drawingml/2006/main">
              <a:ext uri="{FF2B5EF4-FFF2-40B4-BE49-F238E27FC236}">
                <a16:creationId xmlns:a16="http://schemas.microsoft.com/office/drawing/2014/main" id="{32E37C61-196D-45CD-B2E4-45FAA4B719D2}"/>
              </a:ext>
            </a:extLst>
          </p:cNvPr>
          <p:cNvSpPr>
            <a:spLocks xmlns:a="http://schemas.openxmlformats.org/drawingml/2006/main" noGrp="1"/>
          </p:cNvSpPr>
          <p:nvPr/>
        </p:nvSpPr>
        <p:spPr>
          <a:xfrm xmlns:a="http://schemas.openxmlformats.org/drawingml/2006/main">
            <a:off x="590550" y="2590800"/>
            <a:ext cx="8686800" cy="2524125"/>
          </a:xfrm>
          <a:prstGeom xmlns:a="http://schemas.openxmlformats.org/drawingml/2006/main" prst="rect">
            <a:avLst/>
          </a:prstGeom>
          <a:noFill xmlns:a="http://schemas.openxmlformats.org/drawingml/2006/main"/>
          <a:ln xmlns:a="http://schemas.openxmlformats.org/drawingml/2006/main" w="9525">
            <a:solidFill>
              <a:srgbClr val="77818B"/>
            </a:solidFill>
          </a:ln>
        </p:spPr>
        <p:txBody>
          <a:bodyPr xmlns:a="http://schemas.openxmlformats.org/drawingml/2006/main"/>
          <a:lstStyle xmlns:a="http://schemas.openxmlformats.org/drawingml/2006/main"/>
          <a:p xmlns:a="http://schemas.openxmlformats.org/drawingml/2006/main">
            <a:r>
              <a:t/>
            </a:r>
          </a:p>
        </p:txBody>
      </p:sp>
      <p:sp>
        <p:nvSpPr>
          <p:cNvPr id="54" name="Diagram_6_2">
            <a:extLst xmlns:a="http://schemas.openxmlformats.org/drawingml/2006/main">
              <a:ext uri="{FF2B5EF4-FFF2-40B4-BE49-F238E27FC236}">
                <a16:creationId xmlns:a16="http://schemas.microsoft.com/office/drawing/2014/main" id="{9A1290F3-CFBD-44DB-90E7-ADB3907A80F4}"/>
              </a:ext>
            </a:extLst>
          </p:cNvPr>
          <p:cNvSpPr>
            <a:spLocks xmlns:a="http://schemas.openxmlformats.org/drawingml/2006/main" noGrp="1"/>
          </p:cNvSpPr>
          <p:nvPr/>
        </p:nvSpPr>
        <p:spPr>
          <a:xfrm xmlns:a="http://schemas.openxmlformats.org/drawingml/2006/main">
            <a:off x="9477375" y="2590800"/>
            <a:ext cx="2047875" cy="2524125"/>
          </a:xfrm>
          <a:prstGeom xmlns:a="http://schemas.openxmlformats.org/drawingml/2006/main" prst="rect">
            <a:avLst/>
          </a:prstGeom>
          <a:solidFill xmlns:a="http://schemas.openxmlformats.org/drawingml/2006/main">
            <a:srgbClr val="212831"/>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16" name="Texte_6_6">
            <a:extLst xmlns:a="http://schemas.openxmlformats.org/drawingml/2006/main">
              <a:ext uri="{FF2B5EF4-FFF2-40B4-BE49-F238E27FC236}">
                <a16:creationId xmlns:a16="http://schemas.microsoft.com/office/drawing/2014/main" id="{011901BC-FB17-43D5-8F93-BE8FEFAB7027}"/>
              </a:ext>
            </a:extLst>
          </p:cNvPr>
          <p:cNvSpPr>
            <a:spLocks xmlns:a="http://schemas.openxmlformats.org/drawingml/2006/main" noGrp="1"/>
          </p:cNvSpPr>
          <p:nvPr/>
        </p:nvSpPr>
        <p:spPr>
          <a:xfrm xmlns:a="http://schemas.openxmlformats.org/drawingml/2006/main">
            <a:off x="752475" y="2771775"/>
            <a:ext cx="82772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F4F5F0"/>
                </a:solidFill>
                <a:latin typeface="Segoe UI"/>
                <a:ea typeface="Segoe UI"/>
                <a:cs typeface="Segoe UI"/>
              </a:defRPr>
            </a:pPr>
            <a:r>
              <a:rPr sz="2175" b="1">
                <a:solidFill>
                  <a:srgbClr val="F4F5F0"/>
                </a:solidFill>
                <a:latin typeface="Segoe UI"/>
                <a:ea typeface="Segoe UI"/>
                <a:cs typeface="Segoe UI"/>
              </a:rPr>
              <a:t>3.744 dış eğitim kaydı</a:t>
            </a:r>
          </a:p>
        </p:txBody>
      </p:sp>
      <p:sp>
        <p:nvSpPr>
          <p:cNvPr id="22" name="Texte_6_7">
            <a:extLst xmlns:a="http://schemas.openxmlformats.org/drawingml/2006/main">
              <a:ext uri="{FF2B5EF4-FFF2-40B4-BE49-F238E27FC236}">
                <a16:creationId xmlns:a16="http://schemas.microsoft.com/office/drawing/2014/main" id="{DB1EFDE3-DC16-465D-B810-9C30B677EEC5}"/>
              </a:ext>
            </a:extLst>
          </p:cNvPr>
          <p:cNvSpPr>
            <a:spLocks xmlns:a="http://schemas.openxmlformats.org/drawingml/2006/main" noGrp="1"/>
          </p:cNvSpPr>
          <p:nvPr/>
        </p:nvSpPr>
        <p:spPr>
          <a:xfrm xmlns:a="http://schemas.openxmlformats.org/drawingml/2006/main">
            <a:off x="9658350" y="3057525"/>
            <a:ext cx="19526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4425" b="1">
                <a:solidFill>
                  <a:srgbClr val="FF725C"/>
                </a:solidFill>
                <a:latin typeface="Bahnschrift"/>
                <a:ea typeface="Bahnschrift"/>
                <a:cs typeface="Bahnschrift"/>
              </a:defRPr>
            </a:pPr>
            <a:r>
              <a:rPr sz="4425" b="1">
                <a:solidFill>
                  <a:srgbClr val="FF725C"/>
                </a:solidFill>
                <a:latin typeface="Bahnschrift"/>
                <a:ea typeface="Bahnschrift"/>
                <a:cs typeface="Bahnschrift"/>
              </a:rPr>
              <a:t>936</a:t>
            </a:r>
          </a:p>
        </p:txBody>
      </p:sp>
      <p:sp>
        <p:nvSpPr>
          <p:cNvPr id="28" name="Texte_6_8">
            <a:extLst xmlns:a="http://schemas.openxmlformats.org/drawingml/2006/main">
              <a:ext uri="{FF2B5EF4-FFF2-40B4-BE49-F238E27FC236}">
                <a16:creationId xmlns:a16="http://schemas.microsoft.com/office/drawing/2014/main" id="{A586C15F-569D-471D-B76F-D9205E56F56D}"/>
              </a:ext>
            </a:extLst>
          </p:cNvPr>
          <p:cNvSpPr>
            <a:spLocks xmlns:a="http://schemas.openxmlformats.org/drawingml/2006/main" noGrp="1"/>
          </p:cNvSpPr>
          <p:nvPr/>
        </p:nvSpPr>
        <p:spPr>
          <a:xfrm xmlns:a="http://schemas.openxmlformats.org/drawingml/2006/main">
            <a:off x="9658350" y="3943350"/>
            <a:ext cx="17716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F4F5F0"/>
                </a:solidFill>
                <a:latin typeface="Segoe UI"/>
                <a:ea typeface="Segoe UI"/>
                <a:cs typeface="Segoe UI"/>
              </a:defRPr>
            </a:pPr>
            <a:r>
              <a:rPr sz="1800" b="1">
                <a:solidFill>
                  <a:srgbClr val="F4F5F0"/>
                </a:solidFill>
                <a:latin typeface="Segoe UI"/>
                <a:ea typeface="Segoe UI"/>
                <a:cs typeface="Segoe UI"/>
              </a:rPr>
              <a:t>dış doğrulama</a:t>
            </a:r>
          </a:p>
        </p:txBody>
      </p:sp>
      <p:sp>
        <p:nvSpPr>
          <p:cNvPr id="35" name="Texte_6_9">
            <a:extLst xmlns:a="http://schemas.openxmlformats.org/drawingml/2006/main">
              <a:ext uri="{FF2B5EF4-FFF2-40B4-BE49-F238E27FC236}">
                <a16:creationId xmlns:a16="http://schemas.microsoft.com/office/drawing/2014/main" id="{93C13542-717C-477D-A9E2-2D2AC7FC51B2}"/>
              </a:ext>
            </a:extLst>
          </p:cNvPr>
          <p:cNvSpPr>
            <a:spLocks xmlns:a="http://schemas.openxmlformats.org/drawingml/2006/main" noGrp="1"/>
          </p:cNvSpPr>
          <p:nvPr/>
        </p:nvSpPr>
        <p:spPr>
          <a:xfrm xmlns:a="http://schemas.openxmlformats.org/drawingml/2006/main">
            <a:off x="809625" y="3486150"/>
            <a:ext cx="22764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325" b="1">
                <a:solidFill>
                  <a:srgbClr val="D7FF42"/>
                </a:solidFill>
                <a:latin typeface="Segoe UI"/>
                <a:ea typeface="Segoe UI"/>
                <a:cs typeface="Segoe UI"/>
              </a:defRPr>
            </a:pPr>
            <a:r>
              <a:rPr sz="2325" b="1">
                <a:solidFill>
                  <a:srgbClr val="D7FF42"/>
                </a:solidFill>
                <a:latin typeface="Segoe UI"/>
                <a:ea typeface="Segoe UI"/>
                <a:cs typeface="Segoe UI"/>
              </a:rPr>
              <a:t>3 iç kat</a:t>
            </a:r>
          </a:p>
        </p:txBody>
      </p:sp>
      <p:sp>
        <p:nvSpPr>
          <p:cNvPr id="37" name="Texte_6_10">
            <a:extLst xmlns:a="http://schemas.openxmlformats.org/drawingml/2006/main">
              <a:ext uri="{FF2B5EF4-FFF2-40B4-BE49-F238E27FC236}">
                <a16:creationId xmlns:a16="http://schemas.microsoft.com/office/drawing/2014/main" id="{36C193F8-0114-4F42-A0D3-6CB088363137}"/>
              </a:ext>
            </a:extLst>
          </p:cNvPr>
          <p:cNvSpPr>
            <a:spLocks xmlns:a="http://schemas.openxmlformats.org/drawingml/2006/main" noGrp="1"/>
          </p:cNvSpPr>
          <p:nvPr/>
        </p:nvSpPr>
        <p:spPr>
          <a:xfrm xmlns:a="http://schemas.openxmlformats.org/drawingml/2006/main">
            <a:off x="3457575" y="3448050"/>
            <a:ext cx="2571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0">
                <a:solidFill>
                  <a:srgbClr val="F4F5F0"/>
                </a:solidFill>
                <a:latin typeface="Segoe UI"/>
                <a:ea typeface="Segoe UI"/>
                <a:cs typeface="Segoe UI"/>
              </a:defRPr>
            </a:pPr>
            <a:r>
              <a:rPr sz="2175" b="0">
                <a:solidFill>
                  <a:srgbClr val="F4F5F0"/>
                </a:solidFill>
                <a:latin typeface="Segoe UI"/>
                <a:ea typeface="Segoe UI"/>
                <a:cs typeface="Segoe UI"/>
              </a:rPr>
              <a:t>LightGBM</a:t>
            </a:r>
          </a:p>
          <a:p xmlns:a="http://schemas.openxmlformats.org/drawingml/2006/main">
            <a:pPr>
              <a:buNone/>
              <a:defRPr sz="2175" b="0">
                <a:solidFill>
                  <a:srgbClr val="F4F5F0"/>
                </a:solidFill>
                <a:latin typeface="Segoe UI"/>
                <a:ea typeface="Segoe UI"/>
                <a:cs typeface="Segoe UI"/>
              </a:defRPr>
            </a:pPr>
            <a:r>
              <a:rPr sz="2175" b="0">
                <a:solidFill>
                  <a:srgbClr val="F4F5F0"/>
                </a:solidFill>
                <a:latin typeface="Segoe UI"/>
                <a:ea typeface="Segoe UI"/>
                <a:cs typeface="Segoe UI"/>
              </a:rPr>
              <a:t>XGBoost</a:t>
            </a:r>
          </a:p>
        </p:txBody>
      </p:sp>
      <p:sp>
        <p:nvSpPr>
          <p:cNvPr id="39" name="Texte_6_11">
            <a:extLst xmlns:a="http://schemas.openxmlformats.org/drawingml/2006/main">
              <a:ext uri="{FF2B5EF4-FFF2-40B4-BE49-F238E27FC236}">
                <a16:creationId xmlns:a16="http://schemas.microsoft.com/office/drawing/2014/main" id="{B1A1A402-57B5-43C5-8052-B210F056F973}"/>
              </a:ext>
            </a:extLst>
          </p:cNvPr>
          <p:cNvSpPr>
            <a:spLocks xmlns:a="http://schemas.openxmlformats.org/drawingml/2006/main" noGrp="1"/>
          </p:cNvSpPr>
          <p:nvPr/>
        </p:nvSpPr>
        <p:spPr>
          <a:xfrm xmlns:a="http://schemas.openxmlformats.org/drawingml/2006/main">
            <a:off x="6724650" y="3448050"/>
            <a:ext cx="2333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0">
                <a:solidFill>
                  <a:srgbClr val="F4F5F0"/>
                </a:solidFill>
                <a:latin typeface="Segoe UI"/>
                <a:ea typeface="Segoe UI"/>
                <a:cs typeface="Segoe UI"/>
              </a:defRPr>
            </a:pPr>
            <a:r>
              <a:rPr sz="2175" b="0">
                <a:solidFill>
                  <a:srgbClr val="F4F5F0"/>
                </a:solidFill>
                <a:latin typeface="Segoe UI"/>
                <a:ea typeface="Segoe UI"/>
                <a:cs typeface="Segoe UI"/>
              </a:rPr>
              <a:t>40 deneme</a:t>
            </a:r>
          </a:p>
          <a:p xmlns:a="http://schemas.openxmlformats.org/drawingml/2006/main">
            <a:pPr>
              <a:buNone/>
              <a:defRPr sz="2175" b="0">
                <a:solidFill>
                  <a:srgbClr val="F4F5F0"/>
                </a:solidFill>
                <a:latin typeface="Segoe UI"/>
                <a:ea typeface="Segoe UI"/>
                <a:cs typeface="Segoe UI"/>
              </a:defRPr>
            </a:pPr>
            <a:r>
              <a:rPr sz="2175" b="0">
                <a:solidFill>
                  <a:srgbClr val="F4F5F0"/>
                </a:solidFill>
                <a:latin typeface="Segoe UI"/>
                <a:ea typeface="Segoe UI"/>
                <a:cs typeface="Segoe UI"/>
              </a:rPr>
              <a:t>her aile için</a:t>
            </a:r>
          </a:p>
        </p:txBody>
      </p:sp>
      <p:sp>
        <p:nvSpPr>
          <p:cNvPr id="55" name="Diagram_6_3">
            <a:extLst xmlns:a="http://schemas.openxmlformats.org/drawingml/2006/main">
              <a:ext uri="{FF2B5EF4-FFF2-40B4-BE49-F238E27FC236}">
                <a16:creationId xmlns:a16="http://schemas.microsoft.com/office/drawing/2014/main" id="{C22AE0DE-8CC4-41EF-92B1-AF6785A48875}"/>
              </a:ext>
            </a:extLst>
          </p:cNvPr>
          <p:cNvSpPr>
            <a:spLocks xmlns:a="http://schemas.openxmlformats.org/drawingml/2006/main" noGrp="1"/>
          </p:cNvSpPr>
          <p:nvPr/>
        </p:nvSpPr>
        <p:spPr>
          <a:xfrm xmlns:a="http://schemas.openxmlformats.org/drawingml/2006/main">
            <a:off x="828675" y="4429125"/>
            <a:ext cx="2476500" cy="95250"/>
          </a:xfrm>
          <a:prstGeom xmlns:a="http://schemas.openxmlformats.org/drawingml/2006/main" prst="rect">
            <a:avLst/>
          </a:prstGeom>
          <a:solidFill xmlns:a="http://schemas.openxmlformats.org/drawingml/2006/main">
            <a:srgbClr val="344BFF"/>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56" name="Diagram_6_4">
            <a:extLst xmlns:a="http://schemas.openxmlformats.org/drawingml/2006/main">
              <a:ext uri="{FF2B5EF4-FFF2-40B4-BE49-F238E27FC236}">
                <a16:creationId xmlns:a16="http://schemas.microsoft.com/office/drawing/2014/main" id="{2E9CC3C5-1F26-4057-AB13-B1D8EA96DDAF}"/>
              </a:ext>
            </a:extLst>
          </p:cNvPr>
          <p:cNvSpPr>
            <a:spLocks xmlns:a="http://schemas.openxmlformats.org/drawingml/2006/main" noGrp="1"/>
          </p:cNvSpPr>
          <p:nvPr/>
        </p:nvSpPr>
        <p:spPr>
          <a:xfrm xmlns:a="http://schemas.openxmlformats.org/drawingml/2006/main">
            <a:off x="3409950" y="4429125"/>
            <a:ext cx="2476500" cy="95250"/>
          </a:xfrm>
          <a:prstGeom xmlns:a="http://schemas.openxmlformats.org/drawingml/2006/main" prst="rect">
            <a:avLst/>
          </a:prstGeom>
          <a:solidFill xmlns:a="http://schemas.openxmlformats.org/drawingml/2006/main">
            <a:srgbClr val="344BFF"/>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57" name="Diagram_6_5">
            <a:extLst xmlns:a="http://schemas.openxmlformats.org/drawingml/2006/main">
              <a:ext uri="{FF2B5EF4-FFF2-40B4-BE49-F238E27FC236}">
                <a16:creationId xmlns:a16="http://schemas.microsoft.com/office/drawing/2014/main" id="{DA469628-7EC5-4C41-81C8-B5918176D742}"/>
              </a:ext>
            </a:extLst>
          </p:cNvPr>
          <p:cNvSpPr>
            <a:spLocks xmlns:a="http://schemas.openxmlformats.org/drawingml/2006/main" noGrp="1"/>
          </p:cNvSpPr>
          <p:nvPr/>
        </p:nvSpPr>
        <p:spPr>
          <a:xfrm xmlns:a="http://schemas.openxmlformats.org/drawingml/2006/main">
            <a:off x="5991225" y="4429125"/>
            <a:ext cx="2476500" cy="95250"/>
          </a:xfrm>
          <a:prstGeom xmlns:a="http://schemas.openxmlformats.org/drawingml/2006/main" prst="rect">
            <a:avLst/>
          </a:prstGeom>
          <a:solidFill xmlns:a="http://schemas.openxmlformats.org/drawingml/2006/main">
            <a:srgbClr val="D7FF42"/>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3" name="Texte_6_12">
            <a:extLst xmlns:a="http://schemas.openxmlformats.org/drawingml/2006/main">
              <a:ext uri="{FF2B5EF4-FFF2-40B4-BE49-F238E27FC236}">
                <a16:creationId xmlns:a16="http://schemas.microsoft.com/office/drawing/2014/main" id="{14B98B5E-FFF5-411D-8556-2368B0F408C2}"/>
              </a:ext>
            </a:extLst>
          </p:cNvPr>
          <p:cNvSpPr>
            <a:spLocks xmlns:a="http://schemas.openxmlformats.org/drawingml/2006/main" noGrp="1"/>
          </p:cNvSpPr>
          <p:nvPr/>
        </p:nvSpPr>
        <p:spPr>
          <a:xfrm xmlns:a="http://schemas.openxmlformats.org/drawingml/2006/main">
            <a:off x="790575" y="4657725"/>
            <a:ext cx="8362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0">
                <a:solidFill>
                  <a:srgbClr val="ABB1B9"/>
                </a:solidFill>
                <a:latin typeface="Segoe UI"/>
                <a:ea typeface="Segoe UI"/>
                <a:cs typeface="Segoe UI"/>
              </a:defRPr>
            </a:pPr>
            <a:r>
              <a:rPr sz="1650" b="0">
                <a:solidFill>
                  <a:srgbClr val="ABB1B9"/>
                </a:solidFill>
                <a:latin typeface="Segoe UI"/>
                <a:ea typeface="Segoe UI"/>
                <a:cs typeface="Segoe UI"/>
              </a:rPr>
              <a:t>Her ailenin ayarları yalnız iç eğitim ve doğrulama ile seçilir.</a:t>
            </a:r>
          </a:p>
        </p:txBody>
      </p:sp>
      <p:sp>
        <p:nvSpPr>
          <p:cNvPr id="58" name="!!ESIK_CIZGISI">
            <a:extLst xmlns:a="http://schemas.openxmlformats.org/drawingml/2006/main">
              <a:ext uri="{FF2B5EF4-FFF2-40B4-BE49-F238E27FC236}">
                <a16:creationId xmlns:a16="http://schemas.microsoft.com/office/drawing/2014/main" id="{B9E0F190-9252-41BB-AF2E-F9B1137ECD88}"/>
              </a:ext>
            </a:extLst>
          </p:cNvPr>
          <p:cNvSpPr>
            <a:spLocks xmlns:a="http://schemas.openxmlformats.org/drawingml/2006/main" noGrp="1"/>
          </p:cNvSpPr>
          <p:nvPr/>
        </p:nvSpPr>
        <p:spPr>
          <a:xfrm xmlns:a="http://schemas.openxmlformats.org/drawingml/2006/main">
            <a:off x="9334500" y="2581275"/>
            <a:ext cx="38100" cy="2543175"/>
          </a:xfrm>
          <a:prstGeom xmlns:a="http://schemas.openxmlformats.org/drawingml/2006/main" prst="rect">
            <a:avLst/>
          </a:prstGeom>
          <a:solidFill xmlns:a="http://schemas.openxmlformats.org/drawingml/2006/main">
            <a:srgbClr val="D7FF42"/>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4" name="Texte_6_13">
            <a:extLst xmlns:a="http://schemas.openxmlformats.org/drawingml/2006/main">
              <a:ext uri="{FF2B5EF4-FFF2-40B4-BE49-F238E27FC236}">
                <a16:creationId xmlns:a16="http://schemas.microsoft.com/office/drawing/2014/main" id="{A9D0BE5A-9181-40C4-A81C-5080FF28B0BA}"/>
              </a:ext>
            </a:extLst>
          </p:cNvPr>
          <p:cNvSpPr>
            <a:spLocks xmlns:a="http://schemas.openxmlformats.org/drawingml/2006/main" noGrp="1"/>
          </p:cNvSpPr>
          <p:nvPr/>
        </p:nvSpPr>
        <p:spPr>
          <a:xfrm xmlns:a="http://schemas.openxmlformats.org/drawingml/2006/main">
            <a:off x="504825" y="5343525"/>
            <a:ext cx="45910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5100" b="1">
                <a:solidFill>
                  <a:srgbClr val="D7FF42"/>
                </a:solidFill>
                <a:latin typeface="Bahnschrift"/>
                <a:ea typeface="Bahnschrift"/>
                <a:cs typeface="Bahnschrift"/>
              </a:defRPr>
            </a:pPr>
            <a:r>
              <a:rPr sz="5100" b="1">
                <a:solidFill>
                  <a:srgbClr val="D7FF42"/>
                </a:solidFill>
                <a:latin typeface="Bahnschrift"/>
                <a:ea typeface="Bahnschrift"/>
                <a:cs typeface="Bahnschrift"/>
              </a:rPr>
              <a:t>1.440</a:t>
            </a:r>
          </a:p>
        </p:txBody>
      </p:sp>
      <p:sp>
        <p:nvSpPr>
          <p:cNvPr id="45" name="Texte_6_14">
            <a:extLst xmlns:a="http://schemas.openxmlformats.org/drawingml/2006/main">
              <a:ext uri="{FF2B5EF4-FFF2-40B4-BE49-F238E27FC236}">
                <a16:creationId xmlns:a16="http://schemas.microsoft.com/office/drawing/2014/main" id="{36FA6D68-71B3-41FD-9344-C239825F9A8E}"/>
              </a:ext>
            </a:extLst>
          </p:cNvPr>
          <p:cNvSpPr>
            <a:spLocks xmlns:a="http://schemas.openxmlformats.org/drawingml/2006/main" noGrp="1"/>
          </p:cNvSpPr>
          <p:nvPr/>
        </p:nvSpPr>
        <p:spPr>
          <a:xfrm xmlns:a="http://schemas.openxmlformats.org/drawingml/2006/main">
            <a:off x="3667125" y="5553075"/>
            <a:ext cx="2381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00" b="1">
                <a:solidFill>
                  <a:srgbClr val="F4F5F0"/>
                </a:solidFill>
                <a:latin typeface="Segoe UI"/>
                <a:ea typeface="Segoe UI"/>
                <a:cs typeface="Segoe UI"/>
              </a:defRPr>
            </a:pPr>
            <a:r>
              <a:rPr sz="2100" b="1">
                <a:solidFill>
                  <a:srgbClr val="F4F5F0"/>
                </a:solidFill>
                <a:latin typeface="Segoe UI"/>
                <a:ea typeface="Segoe UI"/>
                <a:cs typeface="Segoe UI"/>
              </a:rPr>
              <a:t>iç eğitim</a:t>
            </a:r>
          </a:p>
        </p:txBody>
      </p:sp>
      <p:sp>
        <p:nvSpPr>
          <p:cNvPr id="46" name="Texte_6_15">
            <a:extLst xmlns:a="http://schemas.openxmlformats.org/drawingml/2006/main">
              <a:ext uri="{FF2B5EF4-FFF2-40B4-BE49-F238E27FC236}">
                <a16:creationId xmlns:a16="http://schemas.microsoft.com/office/drawing/2014/main" id="{CE04F282-EF3B-4B53-ABB9-867239EBC212}"/>
              </a:ext>
            </a:extLst>
          </p:cNvPr>
          <p:cNvSpPr>
            <a:spLocks xmlns:a="http://schemas.openxmlformats.org/drawingml/2006/main" noGrp="1"/>
          </p:cNvSpPr>
          <p:nvPr/>
        </p:nvSpPr>
        <p:spPr>
          <a:xfrm xmlns:a="http://schemas.openxmlformats.org/drawingml/2006/main">
            <a:off x="6353175" y="5514975"/>
            <a:ext cx="52768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0">
                <a:solidFill>
                  <a:srgbClr val="F4F5F0"/>
                </a:solidFill>
                <a:latin typeface="Segoe UI"/>
                <a:ea typeface="Segoe UI"/>
                <a:cs typeface="Segoe UI"/>
              </a:defRPr>
            </a:pPr>
            <a:r>
              <a:rPr sz="2175" b="0">
                <a:solidFill>
                  <a:srgbClr val="F4F5F0"/>
                </a:solidFill>
                <a:latin typeface="Segoe UI"/>
                <a:ea typeface="Segoe UI"/>
                <a:cs typeface="Segoe UI"/>
              </a:rPr>
              <a:t>5 dış kat + her aile için son ayarlar</a:t>
            </a:r>
          </a:p>
        </p:txBody>
      </p:sp>
      <p:sp>
        <p:nvSpPr>
          <p:cNvPr id="47" name="Texte_6_16">
            <a:extLst xmlns:a="http://schemas.openxmlformats.org/drawingml/2006/main">
              <a:ext uri="{FF2B5EF4-FFF2-40B4-BE49-F238E27FC236}">
                <a16:creationId xmlns:a16="http://schemas.microsoft.com/office/drawing/2014/main" id="{ACA7EE21-3964-427E-8099-FCBA0F42AB4A}"/>
              </a:ext>
            </a:extLst>
          </p:cNvPr>
          <p:cNvSpPr>
            <a:spLocks xmlns:a="http://schemas.openxmlformats.org/drawingml/2006/main" noGrp="1"/>
          </p:cNvSpPr>
          <p:nvPr/>
        </p:nvSpPr>
        <p:spPr>
          <a:xfrm xmlns:a="http://schemas.openxmlformats.org/drawingml/2006/main">
            <a:off x="533400" y="6315075"/>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125" b="0">
                <a:solidFill>
                  <a:srgbClr val="ABB1B9"/>
                </a:solidFill>
                <a:latin typeface="Segoe UI"/>
                <a:ea typeface="Segoe UI"/>
                <a:cs typeface="Segoe UI"/>
              </a:defRPr>
            </a:pPr>
            <a:r>
              <a:rPr sz="1125" b="0">
                <a:solidFill>
                  <a:srgbClr val="ABB1B9"/>
                </a:solidFill>
                <a:latin typeface="Segoe UI"/>
                <a:ea typeface="Segoe UI"/>
                <a:cs typeface="Segoe UI"/>
              </a:rPr>
              <a:t>2 aile × 40 deneme × 3 iç kat × (5 + 1). Aile tercihi dış kat ortalamalarına dayandı; yeni bağımsız test değildir.</a:t>
            </a:r>
          </a:p>
        </p:txBody>
      </p:sp>
    </p:spTree>
    <p:extLst>
      <p:ext uri="{BB962C8B-B14F-4D97-AF65-F5344CB8AC3E}">
        <p14:creationId xmlns:p14="http://schemas.microsoft.com/office/powerpoint/2010/main" val="338337610"/>
      </p:ext>
    </p:extLst>
  </p:cSld>
  <p:transition spd="fast"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0" nodeType="clickEffect">
                            <p:stCondLst>
                              <p:cond delay="0"/>
                            </p:stCondLst>
                            <p:childTnLst>
                              <p:set>
                                <p:cBhvr>
                                  <p:cTn id="5" dur="1" fill="hold">
                                    <p:stCondLst>
                                      <p:cond delay="0"/>
                                    </p:stCondLst>
                                  </p:cTn>
                                  <p:tgtEl>
                                    <p:spTgt spid="22"/>
                                  </p:tgtEl>
                                  <p:attrNameLst>
                                    <p:attrName>style.visibility</p:attrName>
                                  </p:attrNameLst>
                                </p:cBhvr>
                                <p:to>
                                  <p:strVal val="visible"/>
                                </p:to>
                              </p:set>
                              <p:animEffect transition="in" filter="fade">
                                <p:cBhvr>
                                  <p:cTn id="6" dur="420"/>
                                  <p:tgtEl>
                                    <p:spTgt spid="22"/>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28"/>
                                  </p:tgtEl>
                                  <p:attrNameLst>
                                    <p:attrName>style.visibility</p:attrName>
                                  </p:attrNameLst>
                                </p:cBhvr>
                                <p:to>
                                  <p:strVal val="visible"/>
                                </p:to>
                              </p:set>
                              <p:animEffect transition="in" filter="fade">
                                <p:cBhvr>
                                  <p:cTn id="9" dur="420"/>
                                  <p:tgtEl>
                                    <p:spTgt spid="28"/>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p="http://schemas.openxmlformats.org/presentationml/2006/main" show="1">
  <p:cSld>
    <p:bg>
      <p:bgPr>
        <a:solidFill xmlns:a="http://schemas.openxmlformats.org/drawingml/2006/main">
          <a:srgbClr val="0B0E13"/>
        </a:solidFill>
      </p:bgPr>
    </p:bg>
    <p:spTree>
      <p:nvGrpSpPr>
        <p:cNvPr id="1" name=""/>
        <p:cNvGrpSpPr/>
        <p:nvPr/>
      </p:nvGrpSpPr>
      <p:grpSpPr>
        <a:xfrm xmlns:a="http://schemas.openxmlformats.org/drawingml/2006/main"/>
      </p:grpSpPr>
      <p:sp>
        <p:nvSpPr>
          <p:cNvPr id="6" name="!!ESIK_MARK">
            <a:extLst xmlns:a="http://schemas.openxmlformats.org/drawingml/2006/main">
              <a:ext uri="{FF2B5EF4-FFF2-40B4-BE49-F238E27FC236}">
                <a16:creationId xmlns:a16="http://schemas.microsoft.com/office/drawing/2014/main" id="{8056C7A0-F52A-4271-9A24-EF1C541B94B1}"/>
              </a:ext>
            </a:extLst>
          </p:cNvPr>
          <p:cNvSpPr>
            <a:spLocks xmlns:a="http://schemas.openxmlformats.org/drawingml/2006/main" noGrp="1"/>
          </p:cNvSpPr>
          <p:nvPr/>
        </p:nvSpPr>
        <p:spPr>
          <a:xfrm xmlns:a="http://schemas.openxmlformats.org/drawingml/2006/main">
            <a:off x="533400" y="266700"/>
            <a:ext cx="1190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75" b="1">
                <a:solidFill>
                  <a:srgbClr val="D7FF42"/>
                </a:solidFill>
                <a:latin typeface="Bahnschrift"/>
                <a:ea typeface="Bahnschrift"/>
                <a:cs typeface="Bahnschrift"/>
              </a:defRPr>
            </a:pPr>
            <a:r>
              <a:rPr sz="1575" b="1">
                <a:solidFill>
                  <a:srgbClr val="D7FF42"/>
                </a:solidFill>
                <a:latin typeface="Bahnschrift"/>
                <a:ea typeface="Bahnschrift"/>
                <a:cs typeface="Bahnschrift"/>
              </a:rPr>
              <a:t>EŞİK</a:t>
            </a:r>
          </a:p>
        </p:txBody>
      </p:sp>
      <p:sp>
        <p:nvSpPr>
          <p:cNvPr id="3" name="Texte_7_2">
            <a:extLst xmlns:a="http://schemas.openxmlformats.org/drawingml/2006/main">
              <a:ext uri="{FF2B5EF4-FFF2-40B4-BE49-F238E27FC236}">
                <a16:creationId xmlns:a16="http://schemas.microsoft.com/office/drawing/2014/main" id="{1EB8F927-04E4-4847-988C-D20A0B8CD47F}"/>
              </a:ext>
            </a:extLst>
          </p:cNvPr>
          <p:cNvSpPr>
            <a:spLocks xmlns:a="http://schemas.openxmlformats.org/drawingml/2006/main" noGrp="1"/>
          </p:cNvSpPr>
          <p:nvPr/>
        </p:nvSpPr>
        <p:spPr>
          <a:xfrm xmlns:a="http://schemas.openxmlformats.org/drawingml/2006/main">
            <a:off x="1809750" y="295275"/>
            <a:ext cx="7810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ABB1B9"/>
                </a:solidFill>
                <a:latin typeface="Segoe UI"/>
                <a:ea typeface="Segoe UI"/>
                <a:cs typeface="Segoe UI"/>
              </a:defRPr>
            </a:pPr>
            <a:r>
              <a:rPr sz="1275" b="0">
                <a:solidFill>
                  <a:srgbClr val="ABB1B9"/>
                </a:solidFill>
                <a:latin typeface="Segoe UI"/>
                <a:ea typeface="Segoe UI"/>
                <a:cs typeface="Segoe UI"/>
              </a:rPr>
              <a:t>MODEL KARŞILAŞTIRMASI</a:t>
            </a:r>
          </a:p>
        </p:txBody>
      </p:sp>
      <p:sp>
        <p:nvSpPr>
          <p:cNvPr id="4" name="Texte_7_3">
            <a:extLst xmlns:a="http://schemas.openxmlformats.org/drawingml/2006/main">
              <a:ext uri="{FF2B5EF4-FFF2-40B4-BE49-F238E27FC236}">
                <a16:creationId xmlns:a16="http://schemas.microsoft.com/office/drawing/2014/main" id="{B660E7EE-91B1-4E57-BFE4-F3383E2EBD6D}"/>
              </a:ext>
            </a:extLst>
          </p:cNvPr>
          <p:cNvSpPr>
            <a:spLocks xmlns:a="http://schemas.openxmlformats.org/drawingml/2006/main" noGrp="1"/>
          </p:cNvSpPr>
          <p:nvPr/>
        </p:nvSpPr>
        <p:spPr>
          <a:xfrm xmlns:a="http://schemas.openxmlformats.org/drawingml/2006/main">
            <a:off x="10953750" y="266700"/>
            <a:ext cx="723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00" b="0">
                <a:solidFill>
                  <a:srgbClr val="ABB1B9"/>
                </a:solidFill>
                <a:latin typeface="Bahnschrift"/>
                <a:ea typeface="Bahnschrift"/>
                <a:cs typeface="Bahnschrift"/>
              </a:defRPr>
            </a:pPr>
            <a:r>
              <a:rPr sz="1500" b="0">
                <a:solidFill>
                  <a:srgbClr val="ABB1B9"/>
                </a:solidFill>
                <a:latin typeface="Bahnschrift"/>
                <a:ea typeface="Bahnschrift"/>
                <a:cs typeface="Bahnschrift"/>
              </a:rPr>
              <a:t>07</a:t>
            </a:r>
          </a:p>
        </p:txBody>
      </p:sp>
      <p:sp>
        <p:nvSpPr>
          <p:cNvPr id="5" name="Texte_7_4">
            <a:extLst xmlns:a="http://schemas.openxmlformats.org/drawingml/2006/main">
              <a:ext uri="{FF2B5EF4-FFF2-40B4-BE49-F238E27FC236}">
                <a16:creationId xmlns:a16="http://schemas.microsoft.com/office/drawing/2014/main" id="{A97A9286-63D7-4468-8DEC-7B58BE9D94CA}"/>
              </a:ext>
            </a:extLst>
          </p:cNvPr>
          <p:cNvSpPr>
            <a:spLocks xmlns:a="http://schemas.openxmlformats.org/drawingml/2006/main" noGrp="1"/>
          </p:cNvSpPr>
          <p:nvPr/>
        </p:nvSpPr>
        <p:spPr>
          <a:xfrm xmlns:a="http://schemas.openxmlformats.org/drawingml/2006/main">
            <a:off x="533400" y="952500"/>
            <a:ext cx="111252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525" b="1">
                <a:solidFill>
                  <a:srgbClr val="F4F5F0"/>
                </a:solidFill>
                <a:latin typeface="Segoe UI"/>
                <a:ea typeface="Segoe UI"/>
                <a:cs typeface="Segoe UI"/>
              </a:defRPr>
            </a:pPr>
            <a:r>
              <a:rPr sz="3525" b="1">
                <a:solidFill>
                  <a:srgbClr val="F4F5F0"/>
                </a:solidFill>
                <a:latin typeface="Segoe UI"/>
                <a:ea typeface="Segoe UI"/>
                <a:cs typeface="Segoe UI"/>
              </a:rPr>
              <a:t>Model karşılaştırması ve seçim</a:t>
            </a:r>
          </a:p>
        </p:txBody>
      </p:sp>
      <p:graphicFrame>
        <p:nvGraphicFramePr>
          <p:cNvPr id="20" name=""/>
          <p:cNvGraphicFramePr/>
          <p:nvPr/>
        </p:nvGraphicFramePr>
        <p:xfrm>
          <a:off xmlns:a="http://schemas.openxmlformats.org/drawingml/2006/main" x="590550" y="2133600"/>
          <a:ext xmlns:a="http://schemas.openxmlformats.org/drawingml/2006/main" cx="10972800" cy="3143250"/>
        </p:xfrm>
        <a:graphic xmlns:a="http://schemas.openxmlformats.org/drawingml/2006/main">
          <a:graphicData uri="http://schemas.openxmlformats.org/drawingml/2006/table">
            <a:tbl>
              <a:tblPr/>
              <a:tblGrid>
                <a:gridCol w="5219700"/>
                <a:gridCol w="2676525"/>
                <a:gridCol w="3076575"/>
              </a:tblGrid>
              <a:tr h="523875">
                <a:tc>
                  <a:txBody>
                    <a:bodyPr/>
                    <a:lstStyle/>
                    <a:p>
                      <a:r>
                        <a:rPr sz="1650" b="1">
                          <a:solidFill>
                            <a:srgbClr val="F4F5F0"/>
                          </a:solidFill>
                          <a:latin typeface="Segoe UI"/>
                          <a:ea typeface="Segoe UI"/>
                          <a:cs typeface="Segoe UI"/>
                        </a:rPr>
                        <a:t>Prosedür / model</a:t>
                      </a:r>
                    </a:p>
                  </a:txBody>
                  <a:tcPr marL="91440" marR="91440" marT="45720" marB="45720">
                    <a:solidFill>
                      <a:srgbClr val="252D39"/>
                    </a:solidFill>
                  </a:tcPr>
                </a:tc>
                <a:tc>
                  <a:txBody>
                    <a:bodyPr/>
                    <a:lstStyle/>
                    <a:p>
                      <a:r>
                        <a:rPr sz="1650" b="1">
                          <a:solidFill>
                            <a:srgbClr val="F4F5F0"/>
                          </a:solidFill>
                          <a:latin typeface="Segoe UI"/>
                          <a:ea typeface="Segoe UI"/>
                          <a:cs typeface="Segoe UI"/>
                        </a:rPr>
                        <a:t>Yakalama@%10</a:t>
                      </a:r>
                    </a:p>
                  </a:txBody>
                  <a:tcPr marL="91440" marR="91440" marT="45720" marB="45720">
                    <a:solidFill>
                      <a:srgbClr val="252D39"/>
                    </a:solidFill>
                  </a:tcPr>
                </a:tc>
                <a:tc>
                  <a:txBody>
                    <a:bodyPr/>
                    <a:lstStyle/>
                    <a:p>
                      <a:r>
                        <a:rPr sz="1650" b="1">
                          <a:solidFill>
                            <a:srgbClr val="F4F5F0"/>
                          </a:solidFill>
                          <a:latin typeface="Segoe UI"/>
                          <a:ea typeface="Segoe UI"/>
                          <a:cs typeface="Segoe UI"/>
                        </a:rPr>
                        <a:t>Genel sıralama (AP)</a:t>
                      </a:r>
                    </a:p>
                  </a:txBody>
                  <a:tcPr marL="91440" marR="91440" marT="45720" marB="45720">
                    <a:solidFill>
                      <a:srgbClr val="252D39"/>
                    </a:solidFill>
                  </a:tcPr>
                </a:tc>
              </a:tr>
              <a:tr h="523875">
                <a:tc>
                  <a:txBody>
                    <a:bodyPr/>
                    <a:lstStyle/>
                    <a:p>
                      <a:r>
                        <a:rPr sz="1650" b="0">
                          <a:solidFill>
                            <a:srgbClr val="F4F5F0"/>
                          </a:solidFill>
                          <a:latin typeface="Segoe UI"/>
                          <a:ea typeface="Segoe UI"/>
                          <a:cs typeface="Segoe UI"/>
                        </a:rPr>
                        <a:t>Sabit Gradient Boosting</a:t>
                      </a:r>
                    </a:p>
                  </a:txBody>
                  <a:tcPr marL="91440" marR="91440" marT="45720" marB="45720">
                    <a:solidFill>
                      <a:srgbClr val="0B0E13"/>
                    </a:solidFill>
                  </a:tcPr>
                </a:tc>
                <a:tc>
                  <a:txBody>
                    <a:bodyPr/>
                    <a:lstStyle/>
                    <a:p>
                      <a:r>
                        <a:rPr sz="1650" b="0">
                          <a:solidFill>
                            <a:srgbClr val="F4F5F0"/>
                          </a:solidFill>
                          <a:latin typeface="Segoe UI"/>
                          <a:ea typeface="Segoe UI"/>
                          <a:cs typeface="Segoe UI"/>
                        </a:rPr>
                        <a:t>%75,45</a:t>
                      </a:r>
                    </a:p>
                  </a:txBody>
                  <a:tcPr marL="91440" marR="91440" marT="45720" marB="45720">
                    <a:solidFill>
                      <a:srgbClr val="0B0E13"/>
                    </a:solidFill>
                  </a:tcPr>
                </a:tc>
                <a:tc>
                  <a:txBody>
                    <a:bodyPr/>
                    <a:lstStyle/>
                    <a:p>
                      <a:r>
                        <a:rPr sz="1650" b="0">
                          <a:solidFill>
                            <a:srgbClr val="F4F5F0"/>
                          </a:solidFill>
                          <a:latin typeface="Segoe UI"/>
                          <a:ea typeface="Segoe UI"/>
                          <a:cs typeface="Segoe UI"/>
                        </a:rPr>
                        <a:t>0,7010</a:t>
                      </a:r>
                    </a:p>
                  </a:txBody>
                  <a:tcPr marL="91440" marR="91440" marT="45720" marB="45720">
                    <a:solidFill>
                      <a:srgbClr val="0B0E13"/>
                    </a:solidFill>
                  </a:tcPr>
                </a:tc>
              </a:tr>
              <a:tr h="523875">
                <a:tc>
                  <a:txBody>
                    <a:bodyPr/>
                    <a:lstStyle/>
                    <a:p>
                      <a:r>
                        <a:rPr sz="1650" b="0">
                          <a:solidFill>
                            <a:srgbClr val="F4F5F0"/>
                          </a:solidFill>
                          <a:latin typeface="Segoe UI"/>
                          <a:ea typeface="Segoe UI"/>
                          <a:cs typeface="Segoe UI"/>
                        </a:rPr>
                        <a:t>Sabit XGBoost</a:t>
                      </a:r>
                    </a:p>
                  </a:txBody>
                  <a:tcPr marL="91440" marR="91440" marT="45720" marB="45720">
                    <a:solidFill>
                      <a:srgbClr val="0B0E13"/>
                    </a:solidFill>
                  </a:tcPr>
                </a:tc>
                <a:tc>
                  <a:txBody>
                    <a:bodyPr/>
                    <a:lstStyle/>
                    <a:p>
                      <a:r>
                        <a:rPr sz="1650" b="0">
                          <a:solidFill>
                            <a:srgbClr val="F4F5F0"/>
                          </a:solidFill>
                          <a:latin typeface="Segoe UI"/>
                          <a:ea typeface="Segoe UI"/>
                          <a:cs typeface="Segoe UI"/>
                        </a:rPr>
                        <a:t>%77,60</a:t>
                      </a:r>
                    </a:p>
                  </a:txBody>
                  <a:tcPr marL="91440" marR="91440" marT="45720" marB="45720">
                    <a:solidFill>
                      <a:srgbClr val="0B0E13"/>
                    </a:solidFill>
                  </a:tcPr>
                </a:tc>
                <a:tc>
                  <a:txBody>
                    <a:bodyPr/>
                    <a:lstStyle/>
                    <a:p>
                      <a:r>
                        <a:rPr sz="1650" b="0">
                          <a:solidFill>
                            <a:srgbClr val="F4F5F0"/>
                          </a:solidFill>
                          <a:latin typeface="Segoe UI"/>
                          <a:ea typeface="Segoe UI"/>
                          <a:cs typeface="Segoe UI"/>
                        </a:rPr>
                        <a:t>0,7506</a:t>
                      </a:r>
                    </a:p>
                  </a:txBody>
                  <a:tcPr marL="91440" marR="91440" marT="45720" marB="45720">
                    <a:solidFill>
                      <a:srgbClr val="0B0E13"/>
                    </a:solidFill>
                  </a:tcPr>
                </a:tc>
              </a:tr>
              <a:tr h="523875">
                <a:tc>
                  <a:txBody>
                    <a:bodyPr/>
                    <a:lstStyle/>
                    <a:p>
                      <a:r>
                        <a:rPr sz="1650" b="0">
                          <a:solidFill>
                            <a:srgbClr val="F4F5F0"/>
                          </a:solidFill>
                          <a:latin typeface="Segoe UI"/>
                          <a:ea typeface="Segoe UI"/>
                          <a:cs typeface="Segoe UI"/>
                        </a:rPr>
                        <a:t>Optuna LightGBM</a:t>
                      </a:r>
                    </a:p>
                  </a:txBody>
                  <a:tcPr marL="91440" marR="91440" marT="45720" marB="45720">
                    <a:solidFill>
                      <a:srgbClr val="0B0E13"/>
                    </a:solidFill>
                  </a:tcPr>
                </a:tc>
                <a:tc>
                  <a:txBody>
                    <a:bodyPr/>
                    <a:lstStyle/>
                    <a:p>
                      <a:r>
                        <a:rPr sz="1650" b="0">
                          <a:solidFill>
                            <a:srgbClr val="F4F5F0"/>
                          </a:solidFill>
                          <a:latin typeface="Segoe UI"/>
                          <a:ea typeface="Segoe UI"/>
                          <a:cs typeface="Segoe UI"/>
                        </a:rPr>
                        <a:t>%77,61</a:t>
                      </a:r>
                    </a:p>
                  </a:txBody>
                  <a:tcPr marL="91440" marR="91440" marT="45720" marB="45720">
                    <a:solidFill>
                      <a:srgbClr val="0B0E13"/>
                    </a:solidFill>
                  </a:tcPr>
                </a:tc>
                <a:tc>
                  <a:txBody>
                    <a:bodyPr/>
                    <a:lstStyle/>
                    <a:p>
                      <a:r>
                        <a:rPr sz="1650" b="0">
                          <a:solidFill>
                            <a:srgbClr val="F4F5F0"/>
                          </a:solidFill>
                          <a:latin typeface="Segoe UI"/>
                          <a:ea typeface="Segoe UI"/>
                          <a:cs typeface="Segoe UI"/>
                        </a:rPr>
                        <a:t>0,7520</a:t>
                      </a:r>
                    </a:p>
                  </a:txBody>
                  <a:tcPr marL="91440" marR="91440" marT="45720" marB="45720">
                    <a:solidFill>
                      <a:srgbClr val="0B0E13"/>
                    </a:solidFill>
                  </a:tcPr>
                </a:tc>
              </a:tr>
              <a:tr h="523875">
                <a:tc>
                  <a:txBody>
                    <a:bodyPr/>
                    <a:lstStyle/>
                    <a:p>
                      <a:r>
                        <a:rPr sz="1650" b="1">
                          <a:solidFill>
                            <a:srgbClr val="0B0E13"/>
                          </a:solidFill>
                          <a:latin typeface="Segoe UI"/>
                          <a:ea typeface="Segoe UI"/>
                          <a:cs typeface="Segoe UI"/>
                        </a:rPr>
                        <a:t>Optuna XGBoost</a:t>
                      </a:r>
                    </a:p>
                  </a:txBody>
                  <a:tcPr marL="91440" marR="91440" marT="45720" marB="45720">
                    <a:solidFill>
                      <a:srgbClr val="D7FF42"/>
                    </a:solidFill>
                  </a:tcPr>
                </a:tc>
                <a:tc>
                  <a:txBody>
                    <a:bodyPr/>
                    <a:lstStyle/>
                    <a:p>
                      <a:r>
                        <a:rPr sz="1650" b="1">
                          <a:solidFill>
                            <a:srgbClr val="0B0E13"/>
                          </a:solidFill>
                          <a:latin typeface="Segoe UI"/>
                          <a:ea typeface="Segoe UI"/>
                          <a:cs typeface="Segoe UI"/>
                        </a:rPr>
                        <a:t>%79,15</a:t>
                      </a:r>
                    </a:p>
                  </a:txBody>
                  <a:tcPr marL="91440" marR="91440" marT="45720" marB="45720">
                    <a:solidFill>
                      <a:srgbClr val="D7FF42"/>
                    </a:solidFill>
                  </a:tcPr>
                </a:tc>
                <a:tc>
                  <a:txBody>
                    <a:bodyPr/>
                    <a:lstStyle/>
                    <a:p>
                      <a:r>
                        <a:rPr sz="1650" b="1">
                          <a:solidFill>
                            <a:srgbClr val="0B0E13"/>
                          </a:solidFill>
                          <a:latin typeface="Segoe UI"/>
                          <a:ea typeface="Segoe UI"/>
                          <a:cs typeface="Segoe UI"/>
                        </a:rPr>
                        <a:t>0,7459</a:t>
                      </a:r>
                    </a:p>
                  </a:txBody>
                  <a:tcPr marL="91440" marR="91440" marT="45720" marB="45720">
                    <a:solidFill>
                      <a:srgbClr val="D7FF42"/>
                    </a:solidFill>
                  </a:tcPr>
                </a:tc>
              </a:tr>
              <a:tr h="523875">
                <a:tc>
                  <a:txBody>
                    <a:bodyPr/>
                    <a:lstStyle/>
                    <a:p>
                      <a:r>
                        <a:rPr sz="1650" b="0">
                          <a:solidFill>
                            <a:srgbClr val="F4F5F0"/>
                          </a:solidFill>
                          <a:latin typeface="Segoe UI"/>
                          <a:ea typeface="Segoe UI"/>
                          <a:cs typeface="Segoe UI"/>
                        </a:rPr>
                        <a:t>Eski ortak seçim yöntemi</a:t>
                      </a:r>
                    </a:p>
                  </a:txBody>
                  <a:tcPr marL="91440" marR="91440" marT="45720" marB="45720">
                    <a:solidFill>
                      <a:srgbClr val="0B0E13"/>
                    </a:solidFill>
                  </a:tcPr>
                </a:tc>
                <a:tc>
                  <a:txBody>
                    <a:bodyPr/>
                    <a:lstStyle/>
                    <a:p>
                      <a:r>
                        <a:rPr sz="1650" b="0">
                          <a:solidFill>
                            <a:srgbClr val="F4F5F0"/>
                          </a:solidFill>
                          <a:latin typeface="Segoe UI"/>
                          <a:ea typeface="Segoe UI"/>
                          <a:cs typeface="Segoe UI"/>
                        </a:rPr>
                        <a:t>%77,61</a:t>
                      </a:r>
                    </a:p>
                  </a:txBody>
                  <a:tcPr marL="91440" marR="91440" marT="45720" marB="45720">
                    <a:solidFill>
                      <a:srgbClr val="0B0E13"/>
                    </a:solidFill>
                  </a:tcPr>
                </a:tc>
                <a:tc>
                  <a:txBody>
                    <a:bodyPr/>
                    <a:lstStyle/>
                    <a:p>
                      <a:r>
                        <a:rPr sz="1650" b="0">
                          <a:solidFill>
                            <a:srgbClr val="F4F5F0"/>
                          </a:solidFill>
                          <a:latin typeface="Segoe UI"/>
                          <a:ea typeface="Segoe UI"/>
                          <a:cs typeface="Segoe UI"/>
                        </a:rPr>
                        <a:t>0,7414</a:t>
                      </a:r>
                    </a:p>
                  </a:txBody>
                  <a:tcPr marL="91440" marR="91440" marT="45720" marB="45720">
                    <a:solidFill>
                      <a:srgbClr val="0B0E13"/>
                    </a:solidFill>
                  </a:tcPr>
                </a:tc>
              </a:tr>
            </a:tbl>
          </a:graphicData>
        </a:graphic>
      </p:graphicFrame>
      <p:sp>
        <p:nvSpPr>
          <p:cNvPr id="14" name="!!ESIK_THRESHOLD">
            <a:extLst xmlns:a="http://schemas.openxmlformats.org/drawingml/2006/main">
              <a:ext uri="{FF2B5EF4-FFF2-40B4-BE49-F238E27FC236}">
                <a16:creationId xmlns:a16="http://schemas.microsoft.com/office/drawing/2014/main" id="{5C7A35C3-2CFC-49E4-8028-37ECC1CB8441}"/>
              </a:ext>
            </a:extLst>
          </p:cNvPr>
          <p:cNvSpPr>
            <a:spLocks xmlns:a="http://schemas.openxmlformats.org/drawingml/2006/main" noGrp="1"/>
          </p:cNvSpPr>
          <p:nvPr/>
        </p:nvSpPr>
        <p:spPr>
          <a:xfrm xmlns:a="http://schemas.openxmlformats.org/drawingml/2006/main">
            <a:off x="581025" y="5524500"/>
            <a:ext cx="10953750" cy="28575"/>
          </a:xfrm>
          <a:prstGeom xmlns:a="http://schemas.openxmlformats.org/drawingml/2006/main" prst="rect">
            <a:avLst/>
          </a:prstGeom>
          <a:solidFill xmlns:a="http://schemas.openxmlformats.org/drawingml/2006/main">
            <a:srgbClr val="D7FF42"/>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8" name="Texte_7_5">
            <a:extLst xmlns:a="http://schemas.openxmlformats.org/drawingml/2006/main">
              <a:ext uri="{FF2B5EF4-FFF2-40B4-BE49-F238E27FC236}">
                <a16:creationId xmlns:a16="http://schemas.microsoft.com/office/drawing/2014/main" id="{0101AB3A-120E-4FA0-83B2-AA23A407F4FF}"/>
              </a:ext>
            </a:extLst>
          </p:cNvPr>
          <p:cNvSpPr>
            <a:spLocks xmlns:a="http://schemas.openxmlformats.org/drawingml/2006/main" noGrp="1"/>
          </p:cNvSpPr>
          <p:nvPr/>
        </p:nvSpPr>
        <p:spPr>
          <a:xfrm xmlns:a="http://schemas.openxmlformats.org/drawingml/2006/main">
            <a:off x="561975" y="5715000"/>
            <a:ext cx="111061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325" b="1">
                <a:solidFill>
                  <a:srgbClr val="D7FF42"/>
                </a:solidFill>
                <a:latin typeface="Segoe UI"/>
                <a:ea typeface="Segoe UI"/>
                <a:cs typeface="Segoe UI"/>
              </a:defRPr>
            </a:pPr>
            <a:r>
              <a:rPr sz="2325" b="1">
                <a:solidFill>
                  <a:srgbClr val="D7FF42"/>
                </a:solidFill>
                <a:latin typeface="Segoe UI"/>
                <a:ea typeface="Segoe UI"/>
                <a:cs typeface="Segoe UI"/>
              </a:rPr>
              <a:t>XGBoost: ilk %10’da yakalama ortalamasıyla tercih.</a:t>
            </a:r>
          </a:p>
        </p:txBody>
      </p:sp>
      <p:sp>
        <p:nvSpPr>
          <p:cNvPr id="10" name="Texte_7_6">
            <a:extLst xmlns:a="http://schemas.openxmlformats.org/drawingml/2006/main">
              <a:ext uri="{FF2B5EF4-FFF2-40B4-BE49-F238E27FC236}">
                <a16:creationId xmlns:a16="http://schemas.microsoft.com/office/drawing/2014/main" id="{E3323088-E432-4F79-9FC0-B42074A5115A}"/>
              </a:ext>
            </a:extLst>
          </p:cNvPr>
          <p:cNvSpPr>
            <a:spLocks xmlns:a="http://schemas.openxmlformats.org/drawingml/2006/main" noGrp="1"/>
          </p:cNvSpPr>
          <p:nvPr/>
        </p:nvSpPr>
        <p:spPr>
          <a:xfrm xmlns:a="http://schemas.openxmlformats.org/drawingml/2006/main">
            <a:off x="533400" y="6315075"/>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00" b="0">
                <a:solidFill>
                  <a:srgbClr val="ABB1B9"/>
                </a:solidFill>
                <a:latin typeface="Segoe UI"/>
                <a:ea typeface="Segoe UI"/>
                <a:cs typeface="Segoe UI"/>
              </a:defRPr>
            </a:pPr>
            <a:r>
              <a:rPr sz="1200" b="0">
                <a:solidFill>
                  <a:srgbClr val="ABB1B9"/>
                </a:solidFill>
                <a:latin typeface="Segoe UI"/>
                <a:ea typeface="Segoe UI"/>
                <a:cs typeface="Segoe UI"/>
              </a:rPr>
              <a:t>Aynı 5 dış kat. Fark +1,54 yüzde puan. Aile tercihinde kullanılan bu katlar yeni bağımsız test değildir.</a:t>
            </a:r>
          </a:p>
        </p:txBody>
      </p:sp>
    </p:spTree>
    <p:extLst>
      <p:ext uri="{BB962C8B-B14F-4D97-AF65-F5344CB8AC3E}">
        <p14:creationId xmlns:p14="http://schemas.microsoft.com/office/powerpoint/2010/main" val="921473918"/>
      </p:ext>
    </p:extLst>
  </p:cSld>
  <mc:AlternateContent xmlns:mc="http://schemas.openxmlformats.org/markup-compatibility/2006" xmlns:p159="http://schemas.microsoft.com/office/powerpoint/2015/09/main" xmlns:p14="http://schemas.microsoft.com/office/powerpoint/2010/main">
    <mc:Choice Requires="p159">
      <p:transition spd="fast" advClick="1" p14:dur="650">
        <p159:morph option="byObject"/>
      </p:transition>
    </mc:Choice>
    <mc:Fallback>
      <p:transition spd="fast" advClick="1">
        <p:fade/>
      </p:transition>
    </mc:Fallback>
  </mc:AlternateContent>
</p:sld>
</file>

<file path=ppt/slides/slide8.xml><?xml version="1.0" encoding="utf-8"?>
<p:sld xmlns:p="http://schemas.openxmlformats.org/presentationml/2006/main" show="1">
  <p:cSld>
    <p:bg>
      <p:bgPr>
        <a:solidFill xmlns:a="http://schemas.openxmlformats.org/drawingml/2006/main">
          <a:srgbClr val="0B0E13"/>
        </a:solidFill>
      </p:bgPr>
    </p:bg>
    <p:spTree>
      <p:nvGrpSpPr>
        <p:cNvPr id="1" name=""/>
        <p:cNvGrpSpPr/>
        <p:nvPr/>
      </p:nvGrpSpPr>
      <p:grpSpPr>
        <a:xfrm xmlns:a="http://schemas.openxmlformats.org/drawingml/2006/main"/>
      </p:grpSpPr>
      <p:sp>
        <p:nvSpPr>
          <p:cNvPr id="9" name="!!ESIK_MARK">
            <a:extLst xmlns:a="http://schemas.openxmlformats.org/drawingml/2006/main">
              <a:ext uri="{FF2B5EF4-FFF2-40B4-BE49-F238E27FC236}">
                <a16:creationId xmlns:a16="http://schemas.microsoft.com/office/drawing/2014/main" id="{4C916662-977F-40D8-ABF1-BC1B9F442BE3}"/>
              </a:ext>
            </a:extLst>
          </p:cNvPr>
          <p:cNvSpPr>
            <a:spLocks xmlns:a="http://schemas.openxmlformats.org/drawingml/2006/main" noGrp="1"/>
          </p:cNvSpPr>
          <p:nvPr/>
        </p:nvSpPr>
        <p:spPr>
          <a:xfrm xmlns:a="http://schemas.openxmlformats.org/drawingml/2006/main">
            <a:off x="533400" y="266700"/>
            <a:ext cx="1190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75" b="1">
                <a:solidFill>
                  <a:srgbClr val="D7FF42"/>
                </a:solidFill>
                <a:latin typeface="Bahnschrift"/>
                <a:ea typeface="Bahnschrift"/>
                <a:cs typeface="Bahnschrift"/>
              </a:defRPr>
            </a:pPr>
            <a:r>
              <a:rPr sz="1575" b="1">
                <a:solidFill>
                  <a:srgbClr val="D7FF42"/>
                </a:solidFill>
                <a:latin typeface="Bahnschrift"/>
                <a:ea typeface="Bahnschrift"/>
                <a:cs typeface="Bahnschrift"/>
              </a:rPr>
              <a:t>EŞİK</a:t>
            </a:r>
          </a:p>
        </p:txBody>
      </p:sp>
      <p:sp>
        <p:nvSpPr>
          <p:cNvPr id="3" name="Texte_8_2">
            <a:extLst xmlns:a="http://schemas.openxmlformats.org/drawingml/2006/main">
              <a:ext uri="{FF2B5EF4-FFF2-40B4-BE49-F238E27FC236}">
                <a16:creationId xmlns:a16="http://schemas.microsoft.com/office/drawing/2014/main" id="{C6ED34BB-D383-4AF8-8E2E-795434F98FB7}"/>
              </a:ext>
            </a:extLst>
          </p:cNvPr>
          <p:cNvSpPr>
            <a:spLocks xmlns:a="http://schemas.openxmlformats.org/drawingml/2006/main" noGrp="1"/>
          </p:cNvSpPr>
          <p:nvPr/>
        </p:nvSpPr>
        <p:spPr>
          <a:xfrm xmlns:a="http://schemas.openxmlformats.org/drawingml/2006/main">
            <a:off x="1809750" y="295275"/>
            <a:ext cx="7810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ABB1B9"/>
                </a:solidFill>
                <a:latin typeface="Segoe UI"/>
                <a:ea typeface="Segoe UI"/>
                <a:cs typeface="Segoe UI"/>
              </a:defRPr>
            </a:pPr>
            <a:r>
              <a:rPr sz="1275" b="0">
                <a:solidFill>
                  <a:srgbClr val="ABB1B9"/>
                </a:solidFill>
                <a:latin typeface="Segoe UI"/>
                <a:ea typeface="Segoe UI"/>
                <a:cs typeface="Segoe UI"/>
              </a:rPr>
              <a:t>DIŞ KAT DOĞRULAMASI</a:t>
            </a:r>
          </a:p>
        </p:txBody>
      </p:sp>
      <p:sp>
        <p:nvSpPr>
          <p:cNvPr id="4" name="Texte_8_3">
            <a:extLst xmlns:a="http://schemas.openxmlformats.org/drawingml/2006/main">
              <a:ext uri="{FF2B5EF4-FFF2-40B4-BE49-F238E27FC236}">
                <a16:creationId xmlns:a16="http://schemas.microsoft.com/office/drawing/2014/main" id="{2D05EFAB-3575-4DEC-9AE1-EB5B28766C67}"/>
              </a:ext>
            </a:extLst>
          </p:cNvPr>
          <p:cNvSpPr>
            <a:spLocks xmlns:a="http://schemas.openxmlformats.org/drawingml/2006/main" noGrp="1"/>
          </p:cNvSpPr>
          <p:nvPr/>
        </p:nvSpPr>
        <p:spPr>
          <a:xfrm xmlns:a="http://schemas.openxmlformats.org/drawingml/2006/main">
            <a:off x="10953750" y="266700"/>
            <a:ext cx="723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00" b="0">
                <a:solidFill>
                  <a:srgbClr val="ABB1B9"/>
                </a:solidFill>
                <a:latin typeface="Bahnschrift"/>
                <a:ea typeface="Bahnschrift"/>
                <a:cs typeface="Bahnschrift"/>
              </a:defRPr>
            </a:pPr>
            <a:r>
              <a:rPr sz="1500" b="0">
                <a:solidFill>
                  <a:srgbClr val="ABB1B9"/>
                </a:solidFill>
                <a:latin typeface="Bahnschrift"/>
                <a:ea typeface="Bahnschrift"/>
                <a:cs typeface="Bahnschrift"/>
              </a:rPr>
              <a:t>08</a:t>
            </a:r>
          </a:p>
        </p:txBody>
      </p:sp>
      <p:sp>
        <p:nvSpPr>
          <p:cNvPr id="5" name="Texte_8_4">
            <a:extLst xmlns:a="http://schemas.openxmlformats.org/drawingml/2006/main">
              <a:ext uri="{FF2B5EF4-FFF2-40B4-BE49-F238E27FC236}">
                <a16:creationId xmlns:a16="http://schemas.microsoft.com/office/drawing/2014/main" id="{1FC7DD6F-2F58-4E17-BBF5-C2B2A324B010}"/>
              </a:ext>
            </a:extLst>
          </p:cNvPr>
          <p:cNvSpPr>
            <a:spLocks xmlns:a="http://schemas.openxmlformats.org/drawingml/2006/main" noGrp="1"/>
          </p:cNvSpPr>
          <p:nvPr/>
        </p:nvSpPr>
        <p:spPr>
          <a:xfrm xmlns:a="http://schemas.openxmlformats.org/drawingml/2006/main">
            <a:off x="533400" y="952500"/>
            <a:ext cx="111252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F4F5F0"/>
                </a:solidFill>
                <a:latin typeface="Segoe UI"/>
                <a:ea typeface="Segoe UI"/>
                <a:cs typeface="Segoe UI"/>
              </a:defRPr>
            </a:pPr>
            <a:r>
              <a:rPr sz="3300" b="1">
                <a:solidFill>
                  <a:srgbClr val="F4F5F0"/>
                </a:solidFill>
                <a:latin typeface="Segoe UI"/>
                <a:ea typeface="Segoe UI"/>
                <a:cs typeface="Segoe UI"/>
              </a:rPr>
              <a:t>XGBoost: ilk %10’da %79,15 yakalama</a:t>
            </a:r>
          </a:p>
        </p:txBody>
      </p:sp>
      <p:graphicFrame>
        <p:nvGraphicFramePr>
          <p:cNvPr id="23" name="Chart"/>
          <p:cNvGraphicFramePr/>
          <p:nvPr/>
        </p:nvGraphicFramePr>
        <p:xfrm>
          <a:off xmlns:a="http://schemas.openxmlformats.org/drawingml/2006/main" x="695325" y="2181225"/>
          <a:ext xmlns:a="http://schemas.openxmlformats.org/drawingml/2006/main" cx="10782300" cy="3267075"/>
        </p:xfrm>
        <a:graphic xmlns:a="http://schemas.openxmlformats.org/drawingml/2006/main">
          <a:graphicData uri="http://schemas.openxmlformats.org/drawingml/2006/chart">
            <c:chart xmlns:r="http://schemas.openxmlformats.org/officeDocument/2006/relationships" xmlns:c="http://schemas.openxmlformats.org/drawingml/2006/chart" r:id="R00aa95faa9fe4310"/>
          </a:graphicData>
        </a:graphic>
      </p:graphicFrame>
      <p:sp>
        <p:nvSpPr>
          <p:cNvPr id="17" name="!!ESIK_THRESHOLD">
            <a:extLst xmlns:a="http://schemas.openxmlformats.org/drawingml/2006/main">
              <a:ext uri="{FF2B5EF4-FFF2-40B4-BE49-F238E27FC236}">
                <a16:creationId xmlns:a16="http://schemas.microsoft.com/office/drawing/2014/main" id="{79F8BC8C-93A3-4C0B-AFAF-52DF6545CAC4}"/>
              </a:ext>
            </a:extLst>
          </p:cNvPr>
          <p:cNvSpPr>
            <a:spLocks xmlns:a="http://schemas.openxmlformats.org/drawingml/2006/main" noGrp="1"/>
          </p:cNvSpPr>
          <p:nvPr/>
        </p:nvSpPr>
        <p:spPr>
          <a:xfrm xmlns:a="http://schemas.openxmlformats.org/drawingml/2006/main">
            <a:off x="581025" y="5562600"/>
            <a:ext cx="10953750" cy="28575"/>
          </a:xfrm>
          <a:prstGeom xmlns:a="http://schemas.openxmlformats.org/drawingml/2006/main" prst="rect">
            <a:avLst/>
          </a:prstGeom>
          <a:solidFill xmlns:a="http://schemas.openxmlformats.org/drawingml/2006/main">
            <a:srgbClr val="D7FF42"/>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6" name="Texte_8_5">
            <a:extLst xmlns:a="http://schemas.openxmlformats.org/drawingml/2006/main">
              <a:ext uri="{FF2B5EF4-FFF2-40B4-BE49-F238E27FC236}">
                <a16:creationId xmlns:a16="http://schemas.microsoft.com/office/drawing/2014/main" id="{52E47E78-82D4-4064-A2D2-7E57A019DCFA}"/>
              </a:ext>
            </a:extLst>
          </p:cNvPr>
          <p:cNvSpPr>
            <a:spLocks xmlns:a="http://schemas.openxmlformats.org/drawingml/2006/main" noGrp="1"/>
          </p:cNvSpPr>
          <p:nvPr/>
        </p:nvSpPr>
        <p:spPr>
          <a:xfrm xmlns:a="http://schemas.openxmlformats.org/drawingml/2006/main">
            <a:off x="514350" y="5734050"/>
            <a:ext cx="314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225" b="1">
                <a:solidFill>
                  <a:srgbClr val="D7FF42"/>
                </a:solidFill>
                <a:latin typeface="Bahnschrift"/>
                <a:ea typeface="Bahnschrift"/>
                <a:cs typeface="Bahnschrift"/>
              </a:defRPr>
            </a:pPr>
            <a:r>
              <a:rPr sz="3225" b="1">
                <a:solidFill>
                  <a:srgbClr val="D7FF42"/>
                </a:solidFill>
                <a:latin typeface="Bahnschrift"/>
                <a:ea typeface="Bahnschrift"/>
                <a:cs typeface="Bahnschrift"/>
              </a:rPr>
              <a:t>±2,76</a:t>
            </a:r>
          </a:p>
        </p:txBody>
      </p:sp>
      <p:sp>
        <p:nvSpPr>
          <p:cNvPr id="7" name="Texte_8_6">
            <a:extLst xmlns:a="http://schemas.openxmlformats.org/drawingml/2006/main">
              <a:ext uri="{FF2B5EF4-FFF2-40B4-BE49-F238E27FC236}">
                <a16:creationId xmlns:a16="http://schemas.microsoft.com/office/drawing/2014/main" id="{8E92CFCB-7C0E-4E7F-AF7D-13C0B0DD2364}"/>
              </a:ext>
            </a:extLst>
          </p:cNvPr>
          <p:cNvSpPr>
            <a:spLocks xmlns:a="http://schemas.openxmlformats.org/drawingml/2006/main" noGrp="1"/>
          </p:cNvSpPr>
          <p:nvPr/>
        </p:nvSpPr>
        <p:spPr>
          <a:xfrm xmlns:a="http://schemas.openxmlformats.org/drawingml/2006/main">
            <a:off x="3333750" y="5829300"/>
            <a:ext cx="82581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00" b="0">
                <a:solidFill>
                  <a:srgbClr val="F4F5F0"/>
                </a:solidFill>
                <a:latin typeface="Segoe UI"/>
                <a:ea typeface="Segoe UI"/>
                <a:cs typeface="Segoe UI"/>
              </a:defRPr>
            </a:pPr>
            <a:r>
              <a:rPr sz="2100" b="0">
                <a:solidFill>
                  <a:srgbClr val="F4F5F0"/>
                </a:solidFill>
                <a:latin typeface="Segoe UI"/>
                <a:ea typeface="Segoe UI"/>
                <a:cs typeface="Segoe UI"/>
              </a:rPr>
              <a:t>yüzde puan standart sapma</a:t>
            </a:r>
          </a:p>
        </p:txBody>
      </p:sp>
      <p:sp>
        <p:nvSpPr>
          <p:cNvPr id="8" name="Texte_8_7">
            <a:extLst xmlns:a="http://schemas.openxmlformats.org/drawingml/2006/main">
              <a:ext uri="{FF2B5EF4-FFF2-40B4-BE49-F238E27FC236}">
                <a16:creationId xmlns:a16="http://schemas.microsoft.com/office/drawing/2014/main" id="{771B52AB-8D92-4FEC-A2ED-FFC5F7B50B1E}"/>
              </a:ext>
            </a:extLst>
          </p:cNvPr>
          <p:cNvSpPr>
            <a:spLocks xmlns:a="http://schemas.openxmlformats.org/drawingml/2006/main" noGrp="1"/>
          </p:cNvSpPr>
          <p:nvPr/>
        </p:nvSpPr>
        <p:spPr>
          <a:xfrm xmlns:a="http://schemas.openxmlformats.org/drawingml/2006/main">
            <a:off x="533400" y="6315075"/>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ABB1B9"/>
                </a:solidFill>
                <a:latin typeface="Segoe UI"/>
                <a:ea typeface="Segoe UI"/>
                <a:cs typeface="Segoe UI"/>
              </a:defRPr>
            </a:pPr>
            <a:r>
              <a:rPr sz="1275" b="0">
                <a:solidFill>
                  <a:srgbClr val="ABB1B9"/>
                </a:solidFill>
                <a:latin typeface="Segoe UI"/>
                <a:ea typeface="Segoe UI"/>
                <a:cs typeface="Segoe UI"/>
              </a:rPr>
              <a:t>XGBoost iç arama: %77,30. Dış katlar aile tercihi için kullanıldı. Yeni bağımsız doğrulama değildir.</a:t>
            </a:r>
          </a:p>
        </p:txBody>
      </p:sp>
    </p:spTree>
    <p:extLst>
      <p:ext uri="{BB962C8B-B14F-4D97-AF65-F5344CB8AC3E}">
        <p14:creationId xmlns:p14="http://schemas.microsoft.com/office/powerpoint/2010/main" val="181647443"/>
      </p:ext>
    </p:extLst>
  </p:cSld>
  <mc:AlternateContent xmlns:mc="http://schemas.openxmlformats.org/markup-compatibility/2006" xmlns:p159="http://schemas.microsoft.com/office/powerpoint/2015/09/main" xmlns:p14="http://schemas.microsoft.com/office/powerpoint/2010/main">
    <mc:Choice Requires="p159">
      <p:transition spd="fast" advClick="1" p14:dur="650">
        <p159:morph option="byObject"/>
      </p:transition>
    </mc:Choice>
    <mc:Fallback>
      <p:transition spd="fast" advClick="1">
        <p:fade/>
      </p:transition>
    </mc:Fallback>
  </mc:AlternateContent>
</p:sld>
</file>

<file path=ppt/slides/slide9.xml><?xml version="1.0" encoding="utf-8"?>
<p:sld xmlns:p="http://schemas.openxmlformats.org/presentationml/2006/main" show="1">
  <p:cSld>
    <p:bg>
      <p:bgPr>
        <a:solidFill xmlns:a="http://schemas.openxmlformats.org/drawingml/2006/main">
          <a:srgbClr val="344BFF"/>
        </a:solidFill>
      </p:bgPr>
    </p:bg>
    <p:spTree>
      <p:nvGrpSpPr>
        <p:cNvPr id="1" name=""/>
        <p:cNvGrpSpPr/>
        <p:nvPr/>
      </p:nvGrpSpPr>
      <p:grpSpPr>
        <a:xfrm xmlns:a="http://schemas.openxmlformats.org/drawingml/2006/main"/>
      </p:grpSpPr>
      <p:sp>
        <p:nvSpPr>
          <p:cNvPr id="10" name="!!ESIK_MARK">
            <a:extLst xmlns:a="http://schemas.openxmlformats.org/drawingml/2006/main">
              <a:ext uri="{FF2B5EF4-FFF2-40B4-BE49-F238E27FC236}">
                <a16:creationId xmlns:a16="http://schemas.microsoft.com/office/drawing/2014/main" id="{2CAF125B-8EB3-44F2-A1D5-52C1538BBE93}"/>
              </a:ext>
            </a:extLst>
          </p:cNvPr>
          <p:cNvSpPr>
            <a:spLocks xmlns:a="http://schemas.openxmlformats.org/drawingml/2006/main" noGrp="1"/>
          </p:cNvSpPr>
          <p:nvPr/>
        </p:nvSpPr>
        <p:spPr>
          <a:xfrm xmlns:a="http://schemas.openxmlformats.org/drawingml/2006/main">
            <a:off x="533400" y="266700"/>
            <a:ext cx="1190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75" b="1">
                <a:solidFill>
                  <a:srgbClr val="D7FF42"/>
                </a:solidFill>
                <a:latin typeface="Bahnschrift"/>
                <a:ea typeface="Bahnschrift"/>
                <a:cs typeface="Bahnschrift"/>
              </a:defRPr>
            </a:pPr>
            <a:r>
              <a:rPr sz="1575" b="1">
                <a:solidFill>
                  <a:srgbClr val="D7FF42"/>
                </a:solidFill>
                <a:latin typeface="Bahnschrift"/>
                <a:ea typeface="Bahnschrift"/>
                <a:cs typeface="Bahnschrift"/>
              </a:rPr>
              <a:t>EŞİK</a:t>
            </a:r>
          </a:p>
        </p:txBody>
      </p:sp>
      <p:sp>
        <p:nvSpPr>
          <p:cNvPr id="2" name="Texte_9_2">
            <a:extLst xmlns:a="http://schemas.openxmlformats.org/drawingml/2006/main">
              <a:ext uri="{FF2B5EF4-FFF2-40B4-BE49-F238E27FC236}">
                <a16:creationId xmlns:a16="http://schemas.microsoft.com/office/drawing/2014/main" id="{B8447DA8-3C7F-43F3-8CA9-D73BF20F3C32}"/>
              </a:ext>
            </a:extLst>
          </p:cNvPr>
          <p:cNvSpPr>
            <a:spLocks xmlns:a="http://schemas.openxmlformats.org/drawingml/2006/main" noGrp="1"/>
          </p:cNvSpPr>
          <p:nvPr/>
        </p:nvSpPr>
        <p:spPr>
          <a:xfrm xmlns:a="http://schemas.openxmlformats.org/drawingml/2006/main">
            <a:off x="1809750" y="295275"/>
            <a:ext cx="7810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F4F5F0"/>
                </a:solidFill>
                <a:latin typeface="Segoe UI"/>
                <a:ea typeface="Segoe UI"/>
                <a:cs typeface="Segoe UI"/>
              </a:defRPr>
            </a:pPr>
            <a:r>
              <a:rPr sz="1275" b="0">
                <a:solidFill>
                  <a:srgbClr val="F4F5F0"/>
                </a:solidFill>
                <a:latin typeface="Segoe UI"/>
                <a:ea typeface="Segoe UI"/>
                <a:cs typeface="Segoe UI"/>
              </a:rPr>
              <a:t>TARİHSEL TEST</a:t>
            </a:r>
          </a:p>
        </p:txBody>
      </p:sp>
      <p:sp>
        <p:nvSpPr>
          <p:cNvPr id="4" name="Texte_9_3">
            <a:extLst xmlns:a="http://schemas.openxmlformats.org/drawingml/2006/main">
              <a:ext uri="{FF2B5EF4-FFF2-40B4-BE49-F238E27FC236}">
                <a16:creationId xmlns:a16="http://schemas.microsoft.com/office/drawing/2014/main" id="{9E2D2C01-C1B0-4264-AF76-21E002501662}"/>
              </a:ext>
            </a:extLst>
          </p:cNvPr>
          <p:cNvSpPr>
            <a:spLocks xmlns:a="http://schemas.openxmlformats.org/drawingml/2006/main" noGrp="1"/>
          </p:cNvSpPr>
          <p:nvPr/>
        </p:nvSpPr>
        <p:spPr>
          <a:xfrm xmlns:a="http://schemas.openxmlformats.org/drawingml/2006/main">
            <a:off x="10953750" y="266700"/>
            <a:ext cx="723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00" b="0">
                <a:solidFill>
                  <a:srgbClr val="F4F5F0"/>
                </a:solidFill>
                <a:latin typeface="Bahnschrift"/>
                <a:ea typeface="Bahnschrift"/>
                <a:cs typeface="Bahnschrift"/>
              </a:defRPr>
            </a:pPr>
            <a:r>
              <a:rPr sz="1500" b="0">
                <a:solidFill>
                  <a:srgbClr val="F4F5F0"/>
                </a:solidFill>
                <a:latin typeface="Bahnschrift"/>
                <a:ea typeface="Bahnschrift"/>
                <a:cs typeface="Bahnschrift"/>
              </a:rPr>
              <a:t>09</a:t>
            </a:r>
          </a:p>
        </p:txBody>
      </p:sp>
      <p:sp>
        <p:nvSpPr>
          <p:cNvPr id="5" name="Texte_9_4">
            <a:extLst xmlns:a="http://schemas.openxmlformats.org/drawingml/2006/main">
              <a:ext uri="{FF2B5EF4-FFF2-40B4-BE49-F238E27FC236}">
                <a16:creationId xmlns:a16="http://schemas.microsoft.com/office/drawing/2014/main" id="{526B34F7-4BDF-4B1F-AC09-0403CD1F510D}"/>
              </a:ext>
            </a:extLst>
          </p:cNvPr>
          <p:cNvSpPr>
            <a:spLocks xmlns:a="http://schemas.openxmlformats.org/drawingml/2006/main" noGrp="1"/>
          </p:cNvSpPr>
          <p:nvPr/>
        </p:nvSpPr>
        <p:spPr>
          <a:xfrm xmlns:a="http://schemas.openxmlformats.org/drawingml/2006/main">
            <a:off x="533400" y="952500"/>
            <a:ext cx="111252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75" b="1">
                <a:solidFill>
                  <a:srgbClr val="F4F5F0"/>
                </a:solidFill>
                <a:latin typeface="Segoe UI"/>
                <a:ea typeface="Segoe UI"/>
                <a:cs typeface="Segoe UI"/>
              </a:defRPr>
            </a:pPr>
            <a:r>
              <a:rPr sz="3675" b="1">
                <a:solidFill>
                  <a:srgbClr val="F4F5F0"/>
                </a:solidFill>
                <a:latin typeface="Segoe UI"/>
                <a:ea typeface="Segoe UI"/>
                <a:cs typeface="Segoe UI"/>
              </a:rPr>
              <a:t>İflasların %81,71’i ilk %10’da</a:t>
            </a:r>
          </a:p>
        </p:txBody>
      </p:sp>
      <p:graphicFrame>
        <p:nvGraphicFramePr>
          <p:cNvPr id="25" name="Chart"/>
          <p:cNvGraphicFramePr/>
          <p:nvPr/>
        </p:nvGraphicFramePr>
        <p:xfrm>
          <a:off xmlns:a="http://schemas.openxmlformats.org/drawingml/2006/main" x="581025" y="2114550"/>
          <a:ext xmlns:a="http://schemas.openxmlformats.org/drawingml/2006/main" cx="10972800" cy="2428875"/>
        </p:xfrm>
        <a:graphic xmlns:a="http://schemas.openxmlformats.org/drawingml/2006/main">
          <a:graphicData uri="http://schemas.openxmlformats.org/drawingml/2006/chart">
            <c:chart xmlns:r="http://schemas.openxmlformats.org/officeDocument/2006/relationships" xmlns:c="http://schemas.openxmlformats.org/drawingml/2006/chart" r:id="R620ab5b2581a48d1"/>
          </a:graphicData>
        </a:graphic>
      </p:graphicFrame>
      <p:sp>
        <p:nvSpPr>
          <p:cNvPr id="6" name="Texte_9_5">
            <a:extLst xmlns:a="http://schemas.openxmlformats.org/drawingml/2006/main">
              <a:ext uri="{FF2B5EF4-FFF2-40B4-BE49-F238E27FC236}">
                <a16:creationId xmlns:a16="http://schemas.microsoft.com/office/drawing/2014/main" id="{F93DC492-03E1-4C62-BA0C-7EEC4F14A93C}"/>
              </a:ext>
            </a:extLst>
          </p:cNvPr>
          <p:cNvSpPr>
            <a:spLocks xmlns:a="http://schemas.openxmlformats.org/drawingml/2006/main" noGrp="1"/>
          </p:cNvSpPr>
          <p:nvPr/>
        </p:nvSpPr>
        <p:spPr>
          <a:xfrm xmlns:a="http://schemas.openxmlformats.org/drawingml/2006/main">
            <a:off x="514350" y="4752975"/>
            <a:ext cx="35909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6075" b="1">
                <a:solidFill>
                  <a:srgbClr val="D7FF42"/>
                </a:solidFill>
                <a:latin typeface="Bahnschrift"/>
                <a:ea typeface="Bahnschrift"/>
                <a:cs typeface="Bahnschrift"/>
              </a:defRPr>
            </a:pPr>
            <a:r>
              <a:rPr sz="6075" b="1">
                <a:solidFill>
                  <a:srgbClr val="D7FF42"/>
                </a:solidFill>
                <a:latin typeface="Bahnschrift"/>
                <a:ea typeface="Bahnschrift"/>
                <a:cs typeface="Bahnschrift"/>
              </a:rPr>
              <a:t>117</a:t>
            </a:r>
          </a:p>
        </p:txBody>
      </p:sp>
      <p:sp>
        <p:nvSpPr>
          <p:cNvPr id="7" name="Texte_9_6">
            <a:extLst xmlns:a="http://schemas.openxmlformats.org/drawingml/2006/main">
              <a:ext uri="{FF2B5EF4-FFF2-40B4-BE49-F238E27FC236}">
                <a16:creationId xmlns:a16="http://schemas.microsoft.com/office/drawing/2014/main" id="{2D412310-1222-44D3-B06E-2B5C8BA07544}"/>
              </a:ext>
            </a:extLst>
          </p:cNvPr>
          <p:cNvSpPr>
            <a:spLocks xmlns:a="http://schemas.openxmlformats.org/drawingml/2006/main" noGrp="1"/>
          </p:cNvSpPr>
          <p:nvPr/>
        </p:nvSpPr>
        <p:spPr>
          <a:xfrm xmlns:a="http://schemas.openxmlformats.org/drawingml/2006/main">
            <a:off x="561975" y="5724525"/>
            <a:ext cx="3571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0">
                <a:solidFill>
                  <a:srgbClr val="F4F5F0"/>
                </a:solidFill>
                <a:latin typeface="Segoe UI"/>
                <a:ea typeface="Segoe UI"/>
                <a:cs typeface="Segoe UI"/>
              </a:defRPr>
            </a:pPr>
            <a:r>
              <a:rPr sz="1875" b="0">
                <a:solidFill>
                  <a:srgbClr val="F4F5F0"/>
                </a:solidFill>
                <a:latin typeface="Segoe UI"/>
                <a:ea typeface="Segoe UI"/>
                <a:cs typeface="Segoe UI"/>
              </a:rPr>
              <a:t>incelenen kayıt</a:t>
            </a:r>
          </a:p>
        </p:txBody>
      </p:sp>
      <p:sp>
        <p:nvSpPr>
          <p:cNvPr id="8" name="Texte_9_7">
            <a:extLst xmlns:a="http://schemas.openxmlformats.org/drawingml/2006/main">
              <a:ext uri="{FF2B5EF4-FFF2-40B4-BE49-F238E27FC236}">
                <a16:creationId xmlns:a16="http://schemas.microsoft.com/office/drawing/2014/main" id="{F3363EA8-5987-4F46-A768-9A244499A8E9}"/>
              </a:ext>
            </a:extLst>
          </p:cNvPr>
          <p:cNvSpPr>
            <a:spLocks xmlns:a="http://schemas.openxmlformats.org/drawingml/2006/main" noGrp="1"/>
          </p:cNvSpPr>
          <p:nvPr/>
        </p:nvSpPr>
        <p:spPr>
          <a:xfrm xmlns:a="http://schemas.openxmlformats.org/drawingml/2006/main">
            <a:off x="4419600" y="4752975"/>
            <a:ext cx="3543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5475" b="1">
                <a:solidFill>
                  <a:srgbClr val="D7FF42"/>
                </a:solidFill>
                <a:latin typeface="Bahnschrift"/>
                <a:ea typeface="Bahnschrift"/>
                <a:cs typeface="Bahnschrift"/>
              </a:defRPr>
            </a:pPr>
            <a:r>
              <a:rPr sz="5475" b="1">
                <a:solidFill>
                  <a:srgbClr val="D7FF42"/>
                </a:solidFill>
                <a:latin typeface="Bahnschrift"/>
                <a:ea typeface="Bahnschrift"/>
                <a:cs typeface="Bahnschrift"/>
              </a:rPr>
              <a:t>%57,26</a:t>
            </a:r>
          </a:p>
        </p:txBody>
      </p:sp>
      <p:sp>
        <p:nvSpPr>
          <p:cNvPr id="9" name="Texte_9_8">
            <a:extLst xmlns:a="http://schemas.openxmlformats.org/drawingml/2006/main">
              <a:ext uri="{FF2B5EF4-FFF2-40B4-BE49-F238E27FC236}">
                <a16:creationId xmlns:a16="http://schemas.microsoft.com/office/drawing/2014/main" id="{E68CD3FE-EB78-46CF-9A5B-2E5C160758F9}"/>
              </a:ext>
            </a:extLst>
          </p:cNvPr>
          <p:cNvSpPr>
            <a:spLocks xmlns:a="http://schemas.openxmlformats.org/drawingml/2006/main" noGrp="1"/>
          </p:cNvSpPr>
          <p:nvPr/>
        </p:nvSpPr>
        <p:spPr>
          <a:xfrm xmlns:a="http://schemas.openxmlformats.org/drawingml/2006/main">
            <a:off x="4495800" y="5724525"/>
            <a:ext cx="3114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0">
                <a:solidFill>
                  <a:srgbClr val="F4F5F0"/>
                </a:solidFill>
                <a:latin typeface="Segoe UI"/>
                <a:ea typeface="Segoe UI"/>
                <a:cs typeface="Segoe UI"/>
              </a:defRPr>
            </a:pPr>
            <a:r>
              <a:rPr sz="1875" b="0">
                <a:solidFill>
                  <a:srgbClr val="F4F5F0"/>
                </a:solidFill>
                <a:latin typeface="Segoe UI"/>
                <a:ea typeface="Segoe UI"/>
                <a:cs typeface="Segoe UI"/>
              </a:rPr>
              <a:t>isabet</a:t>
            </a:r>
          </a:p>
        </p:txBody>
      </p:sp>
      <p:sp>
        <p:nvSpPr>
          <p:cNvPr id="13" name="Texte_9_9">
            <a:extLst xmlns:a="http://schemas.openxmlformats.org/drawingml/2006/main">
              <a:ext uri="{FF2B5EF4-FFF2-40B4-BE49-F238E27FC236}">
                <a16:creationId xmlns:a16="http://schemas.microsoft.com/office/drawing/2014/main" id="{6FFE13AD-E9ED-4464-A63B-99B6BB1DCF36}"/>
              </a:ext>
            </a:extLst>
          </p:cNvPr>
          <p:cNvSpPr>
            <a:spLocks xmlns:a="http://schemas.openxmlformats.org/drawingml/2006/main" noGrp="1"/>
          </p:cNvSpPr>
          <p:nvPr/>
        </p:nvSpPr>
        <p:spPr>
          <a:xfrm xmlns:a="http://schemas.openxmlformats.org/drawingml/2006/main">
            <a:off x="8601075" y="4752975"/>
            <a:ext cx="32575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5475" b="1">
                <a:solidFill>
                  <a:srgbClr val="D7FF42"/>
                </a:solidFill>
                <a:latin typeface="Bahnschrift"/>
                <a:ea typeface="Bahnschrift"/>
                <a:cs typeface="Bahnschrift"/>
              </a:defRPr>
            </a:pPr>
            <a:r>
              <a:rPr sz="5475" b="1">
                <a:solidFill>
                  <a:srgbClr val="D7FF42"/>
                </a:solidFill>
                <a:latin typeface="Bahnschrift"/>
                <a:ea typeface="Bahnschrift"/>
                <a:cs typeface="Bahnschrift"/>
              </a:rPr>
              <a:t>8,17×</a:t>
            </a:r>
          </a:p>
        </p:txBody>
      </p:sp>
      <p:sp>
        <p:nvSpPr>
          <p:cNvPr id="14" name="Texte_9_10">
            <a:extLst xmlns:a="http://schemas.openxmlformats.org/drawingml/2006/main">
              <a:ext uri="{FF2B5EF4-FFF2-40B4-BE49-F238E27FC236}">
                <a16:creationId xmlns:a16="http://schemas.microsoft.com/office/drawing/2014/main" id="{3B26E205-6FC0-47C5-B815-B263361649EB}"/>
              </a:ext>
            </a:extLst>
          </p:cNvPr>
          <p:cNvSpPr>
            <a:spLocks xmlns:a="http://schemas.openxmlformats.org/drawingml/2006/main" noGrp="1"/>
          </p:cNvSpPr>
          <p:nvPr/>
        </p:nvSpPr>
        <p:spPr>
          <a:xfrm xmlns:a="http://schemas.openxmlformats.org/drawingml/2006/main">
            <a:off x="8686800" y="5724525"/>
            <a:ext cx="3219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0">
                <a:solidFill>
                  <a:srgbClr val="F4F5F0"/>
                </a:solidFill>
                <a:latin typeface="Segoe UI"/>
                <a:ea typeface="Segoe UI"/>
                <a:cs typeface="Segoe UI"/>
              </a:defRPr>
            </a:pPr>
            <a:r>
              <a:rPr sz="1875" b="0">
                <a:solidFill>
                  <a:srgbClr val="F4F5F0"/>
                </a:solidFill>
                <a:latin typeface="Segoe UI"/>
                <a:ea typeface="Segoe UI"/>
                <a:cs typeface="Segoe UI"/>
              </a:rPr>
              <a:t>iflas yoğunlaşması</a:t>
            </a:r>
          </a:p>
        </p:txBody>
      </p:sp>
      <p:sp>
        <p:nvSpPr>
          <p:cNvPr id="19" name="!!ESIK_THRESHOLD">
            <a:extLst xmlns:a="http://schemas.openxmlformats.org/drawingml/2006/main">
              <a:ext uri="{FF2B5EF4-FFF2-40B4-BE49-F238E27FC236}">
                <a16:creationId xmlns:a16="http://schemas.microsoft.com/office/drawing/2014/main" id="{8A384EDD-17B1-4637-B0C0-D796C621F196}"/>
              </a:ext>
            </a:extLst>
          </p:cNvPr>
          <p:cNvSpPr>
            <a:spLocks xmlns:a="http://schemas.openxmlformats.org/drawingml/2006/main" noGrp="1"/>
          </p:cNvSpPr>
          <p:nvPr/>
        </p:nvSpPr>
        <p:spPr>
          <a:xfrm xmlns:a="http://schemas.openxmlformats.org/drawingml/2006/main">
            <a:off x="581025" y="1866900"/>
            <a:ext cx="10953750" cy="28575"/>
          </a:xfrm>
          <a:prstGeom xmlns:a="http://schemas.openxmlformats.org/drawingml/2006/main" prst="rect">
            <a:avLst/>
          </a:prstGeom>
          <a:solidFill xmlns:a="http://schemas.openxmlformats.org/drawingml/2006/main">
            <a:srgbClr val="D7FF42"/>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15" name="Texte_9_11">
            <a:extLst xmlns:a="http://schemas.openxmlformats.org/drawingml/2006/main">
              <a:ext uri="{FF2B5EF4-FFF2-40B4-BE49-F238E27FC236}">
                <a16:creationId xmlns:a16="http://schemas.microsoft.com/office/drawing/2014/main" id="{E6561CEF-EC50-4023-BA15-FCA04272CA2C}"/>
              </a:ext>
            </a:extLst>
          </p:cNvPr>
          <p:cNvSpPr>
            <a:spLocks xmlns:a="http://schemas.openxmlformats.org/drawingml/2006/main" noGrp="1"/>
          </p:cNvSpPr>
          <p:nvPr/>
        </p:nvSpPr>
        <p:spPr>
          <a:xfrm xmlns:a="http://schemas.openxmlformats.org/drawingml/2006/main">
            <a:off x="533400" y="6315075"/>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00" b="0">
                <a:solidFill>
                  <a:srgbClr val="F4F5F0"/>
                </a:solidFill>
                <a:latin typeface="Segoe UI"/>
                <a:ea typeface="Segoe UI"/>
                <a:cs typeface="Segoe UI"/>
              </a:defRPr>
            </a:pPr>
            <a:r>
              <a:rPr sz="1200" b="0">
                <a:solidFill>
                  <a:srgbClr val="F4F5F0"/>
                </a:solidFill>
                <a:latin typeface="Segoe UI"/>
                <a:ea typeface="Segoe UI"/>
                <a:cs typeface="Segoe UI"/>
              </a:rPr>
              <a:t>XGBoost: 67 doğru, 50 yanlış alarm. Aynı tarihsel testte LightGBM 70/82 yakaladı. Test daha önce incelendi.</a:t>
            </a:r>
          </a:p>
        </p:txBody>
      </p:sp>
    </p:spTree>
    <p:extLst>
      <p:ext uri="{BB962C8B-B14F-4D97-AF65-F5344CB8AC3E}">
        <p14:creationId xmlns:p14="http://schemas.microsoft.com/office/powerpoint/2010/main" val="1265129386"/>
      </p:ext>
    </p:extLst>
  </p:cSld>
  <mc:AlternateContent xmlns:mc="http://schemas.openxmlformats.org/markup-compatibility/2006" xmlns:p159="http://schemas.microsoft.com/office/powerpoint/2015/09/main" xmlns:p14="http://schemas.microsoft.com/office/powerpoint/2010/main">
    <mc:Choice Requires="p159">
      <p:transition spd="fast" advClick="1" p14:dur="650">
        <p159:morph option="byObject"/>
      </p:transition>
    </mc:Choice>
    <mc:Fallback>
      <p:transition spd="fast" advClick="1">
        <p:fade/>
      </p:transition>
    </mc:Fallback>
  </mc:AlternateContent>
</p:sld>
</file>

<file path=ppt/slides/slide10.xml><?xml version="1.0" encoding="utf-8"?>
<p:sld xmlns:p="http://schemas.openxmlformats.org/presentationml/2006/main" show="1">
  <p:cSld>
    <p:bg>
      <p:bgPr>
        <a:solidFill xmlns:a="http://schemas.openxmlformats.org/drawingml/2006/main">
          <a:srgbClr val="F4F5F0"/>
        </a:solidFill>
      </p:bgPr>
    </p:bg>
    <p:spTree>
      <p:nvGrpSpPr>
        <p:cNvPr id="1" name=""/>
        <p:cNvGrpSpPr/>
        <p:nvPr/>
      </p:nvGrpSpPr>
      <p:grpSpPr>
        <a:xfrm xmlns:a="http://schemas.openxmlformats.org/drawingml/2006/main"/>
      </p:grpSpPr>
      <p:sp>
        <p:nvSpPr>
          <p:cNvPr id="14" name="!!ESIK_MARK">
            <a:extLst xmlns:a="http://schemas.openxmlformats.org/drawingml/2006/main">
              <a:ext uri="{FF2B5EF4-FFF2-40B4-BE49-F238E27FC236}">
                <a16:creationId xmlns:a16="http://schemas.microsoft.com/office/drawing/2014/main" id="{B021FF85-F12F-4CEB-A9BC-558EEA0B8570}"/>
              </a:ext>
            </a:extLst>
          </p:cNvPr>
          <p:cNvSpPr>
            <a:spLocks xmlns:a="http://schemas.openxmlformats.org/drawingml/2006/main" noGrp="1"/>
          </p:cNvSpPr>
          <p:nvPr/>
        </p:nvSpPr>
        <p:spPr>
          <a:xfrm xmlns:a="http://schemas.openxmlformats.org/drawingml/2006/main">
            <a:off x="533400" y="266700"/>
            <a:ext cx="1190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75" b="1">
                <a:solidFill>
                  <a:srgbClr val="0B0E13"/>
                </a:solidFill>
                <a:latin typeface="Bahnschrift"/>
                <a:ea typeface="Bahnschrift"/>
                <a:cs typeface="Bahnschrift"/>
              </a:defRPr>
            </a:pPr>
            <a:r>
              <a:rPr sz="1575" b="1">
                <a:solidFill>
                  <a:srgbClr val="0B0E13"/>
                </a:solidFill>
                <a:latin typeface="Bahnschrift"/>
                <a:ea typeface="Bahnschrift"/>
                <a:cs typeface="Bahnschrift"/>
              </a:rPr>
              <a:t>EŞİK</a:t>
            </a:r>
          </a:p>
        </p:txBody>
      </p:sp>
      <p:sp>
        <p:nvSpPr>
          <p:cNvPr id="2" name="Texte_10_2">
            <a:extLst xmlns:a="http://schemas.openxmlformats.org/drawingml/2006/main">
              <a:ext uri="{FF2B5EF4-FFF2-40B4-BE49-F238E27FC236}">
                <a16:creationId xmlns:a16="http://schemas.microsoft.com/office/drawing/2014/main" id="{ECE515F6-1101-48B6-B06F-DEC8002B2F4C}"/>
              </a:ext>
            </a:extLst>
          </p:cNvPr>
          <p:cNvSpPr>
            <a:spLocks xmlns:a="http://schemas.openxmlformats.org/drawingml/2006/main" noGrp="1"/>
          </p:cNvSpPr>
          <p:nvPr/>
        </p:nvSpPr>
        <p:spPr>
          <a:xfrm xmlns:a="http://schemas.openxmlformats.org/drawingml/2006/main">
            <a:off x="1809750" y="295275"/>
            <a:ext cx="7810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555E68"/>
                </a:solidFill>
                <a:latin typeface="Segoe UI"/>
                <a:ea typeface="Segoe UI"/>
                <a:cs typeface="Segoe UI"/>
              </a:defRPr>
            </a:pPr>
            <a:r>
              <a:rPr sz="1275" b="0">
                <a:solidFill>
                  <a:srgbClr val="555E68"/>
                </a:solidFill>
                <a:latin typeface="Segoe UI"/>
                <a:ea typeface="Segoe UI"/>
                <a:cs typeface="Segoe UI"/>
              </a:rPr>
              <a:t>OLASILIK KALİBRASYONU</a:t>
            </a:r>
          </a:p>
        </p:txBody>
      </p:sp>
      <p:sp>
        <p:nvSpPr>
          <p:cNvPr id="3" name="Texte_10_3">
            <a:extLst xmlns:a="http://schemas.openxmlformats.org/drawingml/2006/main">
              <a:ext uri="{FF2B5EF4-FFF2-40B4-BE49-F238E27FC236}">
                <a16:creationId xmlns:a16="http://schemas.microsoft.com/office/drawing/2014/main" id="{78CFEA1C-9039-431C-8054-28F7F19B6A77}"/>
              </a:ext>
            </a:extLst>
          </p:cNvPr>
          <p:cNvSpPr>
            <a:spLocks xmlns:a="http://schemas.openxmlformats.org/drawingml/2006/main" noGrp="1"/>
          </p:cNvSpPr>
          <p:nvPr/>
        </p:nvSpPr>
        <p:spPr>
          <a:xfrm xmlns:a="http://schemas.openxmlformats.org/drawingml/2006/main">
            <a:off x="10953750" y="266700"/>
            <a:ext cx="723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00" b="0">
                <a:solidFill>
                  <a:srgbClr val="0B0E13"/>
                </a:solidFill>
                <a:latin typeface="Bahnschrift"/>
                <a:ea typeface="Bahnschrift"/>
                <a:cs typeface="Bahnschrift"/>
              </a:defRPr>
            </a:pPr>
            <a:r>
              <a:rPr sz="1500" b="0">
                <a:solidFill>
                  <a:srgbClr val="0B0E13"/>
                </a:solidFill>
                <a:latin typeface="Bahnschrift"/>
                <a:ea typeface="Bahnschrift"/>
                <a:cs typeface="Bahnschrift"/>
              </a:rPr>
              <a:t>10</a:t>
            </a:r>
          </a:p>
        </p:txBody>
      </p:sp>
      <p:sp>
        <p:nvSpPr>
          <p:cNvPr id="4" name="Texte_10_4">
            <a:extLst xmlns:a="http://schemas.openxmlformats.org/drawingml/2006/main">
              <a:ext uri="{FF2B5EF4-FFF2-40B4-BE49-F238E27FC236}">
                <a16:creationId xmlns:a16="http://schemas.microsoft.com/office/drawing/2014/main" id="{98058900-FAFB-4804-9C37-E151F4F9F2F5}"/>
              </a:ext>
            </a:extLst>
          </p:cNvPr>
          <p:cNvSpPr>
            <a:spLocks xmlns:a="http://schemas.openxmlformats.org/drawingml/2006/main" noGrp="1"/>
          </p:cNvSpPr>
          <p:nvPr/>
        </p:nvSpPr>
        <p:spPr>
          <a:xfrm xmlns:a="http://schemas.openxmlformats.org/drawingml/2006/main">
            <a:off x="533400" y="952500"/>
            <a:ext cx="111252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000" b="1">
                <a:solidFill>
                  <a:srgbClr val="0B0E13"/>
                </a:solidFill>
                <a:latin typeface="Segoe UI"/>
                <a:ea typeface="Segoe UI"/>
                <a:cs typeface="Segoe UI"/>
              </a:defRPr>
            </a:pPr>
            <a:r>
              <a:rPr sz="3000" b="1">
                <a:solidFill>
                  <a:srgbClr val="0B0E13"/>
                </a:solidFill>
                <a:latin typeface="Segoe UI"/>
                <a:ea typeface="Segoe UI"/>
                <a:cs typeface="Segoe UI"/>
              </a:rPr>
              <a:t>Olasılıkları gözlenen sonuçlara yaklaştırdık</a:t>
            </a:r>
          </a:p>
        </p:txBody>
      </p:sp>
      <p:sp>
        <p:nvSpPr>
          <p:cNvPr id="6" name="Texte_10_5">
            <a:extLst xmlns:a="http://schemas.openxmlformats.org/drawingml/2006/main">
              <a:ext uri="{FF2B5EF4-FFF2-40B4-BE49-F238E27FC236}">
                <a16:creationId xmlns:a16="http://schemas.microsoft.com/office/drawing/2014/main" id="{02772C91-B93E-4E11-B7CF-AC3F81533208}"/>
              </a:ext>
            </a:extLst>
          </p:cNvPr>
          <p:cNvSpPr>
            <a:spLocks xmlns:a="http://schemas.openxmlformats.org/drawingml/2006/main" noGrp="1"/>
          </p:cNvSpPr>
          <p:nvPr/>
        </p:nvSpPr>
        <p:spPr>
          <a:xfrm xmlns:a="http://schemas.openxmlformats.org/drawingml/2006/main">
            <a:off x="571500" y="2219325"/>
            <a:ext cx="3571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55E68"/>
                </a:solidFill>
                <a:latin typeface="Segoe UI"/>
                <a:ea typeface="Segoe UI"/>
                <a:cs typeface="Segoe UI"/>
              </a:defRPr>
            </a:pPr>
            <a:r>
              <a:rPr sz="1650" b="1">
                <a:solidFill>
                  <a:srgbClr val="555E68"/>
                </a:solidFill>
                <a:latin typeface="Segoe UI"/>
                <a:ea typeface="Segoe UI"/>
                <a:cs typeface="Segoe UI"/>
              </a:rPr>
              <a:t>BRIER HATASI</a:t>
            </a:r>
          </a:p>
        </p:txBody>
      </p:sp>
      <p:sp>
        <p:nvSpPr>
          <p:cNvPr id="7" name="Texte_10_6">
            <a:extLst xmlns:a="http://schemas.openxmlformats.org/drawingml/2006/main">
              <a:ext uri="{FF2B5EF4-FFF2-40B4-BE49-F238E27FC236}">
                <a16:creationId xmlns:a16="http://schemas.microsoft.com/office/drawing/2014/main" id="{929E2BF6-CA21-4415-B7AA-348878D27503}"/>
              </a:ext>
            </a:extLst>
          </p:cNvPr>
          <p:cNvSpPr>
            <a:spLocks xmlns:a="http://schemas.openxmlformats.org/drawingml/2006/main" noGrp="1"/>
          </p:cNvSpPr>
          <p:nvPr/>
        </p:nvSpPr>
        <p:spPr>
          <a:xfrm xmlns:a="http://schemas.openxmlformats.org/drawingml/2006/main">
            <a:off x="495300" y="2743200"/>
            <a:ext cx="3838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5100" b="1">
                <a:solidFill>
                  <a:srgbClr val="555E68"/>
                </a:solidFill>
                <a:latin typeface="Bahnschrift"/>
                <a:ea typeface="Bahnschrift"/>
                <a:cs typeface="Bahnschrift"/>
              </a:defRPr>
            </a:pPr>
            <a:r>
              <a:rPr sz="5100" b="1">
                <a:solidFill>
                  <a:srgbClr val="555E68"/>
                </a:solidFill>
                <a:latin typeface="Bahnschrift"/>
                <a:ea typeface="Bahnschrift"/>
                <a:cs typeface="Bahnschrift"/>
              </a:rPr>
              <a:t>0,0344</a:t>
            </a:r>
          </a:p>
        </p:txBody>
      </p:sp>
      <p:sp>
        <p:nvSpPr>
          <p:cNvPr id="8" name="Texte_10_7">
            <a:extLst xmlns:a="http://schemas.openxmlformats.org/drawingml/2006/main">
              <a:ext uri="{FF2B5EF4-FFF2-40B4-BE49-F238E27FC236}">
                <a16:creationId xmlns:a16="http://schemas.microsoft.com/office/drawing/2014/main" id="{3CD068D5-6C08-456E-B5EB-A235C7BF8DEE}"/>
              </a:ext>
            </a:extLst>
          </p:cNvPr>
          <p:cNvSpPr>
            <a:spLocks xmlns:a="http://schemas.openxmlformats.org/drawingml/2006/main" noGrp="1"/>
          </p:cNvSpPr>
          <p:nvPr/>
        </p:nvSpPr>
        <p:spPr>
          <a:xfrm xmlns:a="http://schemas.openxmlformats.org/drawingml/2006/main">
            <a:off x="571500" y="3638550"/>
            <a:ext cx="33051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0">
                <a:solidFill>
                  <a:srgbClr val="555E68"/>
                </a:solidFill>
                <a:latin typeface="Segoe UI"/>
                <a:ea typeface="Segoe UI"/>
                <a:cs typeface="Segoe UI"/>
              </a:defRPr>
            </a:pPr>
            <a:r>
              <a:rPr sz="1875" b="0">
                <a:solidFill>
                  <a:srgbClr val="555E68"/>
                </a:solidFill>
                <a:latin typeface="Segoe UI"/>
                <a:ea typeface="Segoe UI"/>
                <a:cs typeface="Segoe UI"/>
              </a:rPr>
              <a:t>ham çıktı</a:t>
            </a:r>
          </a:p>
        </p:txBody>
      </p:sp>
      <p:sp>
        <p:nvSpPr>
          <p:cNvPr id="9" name="Texte_10_8">
            <a:extLst xmlns:a="http://schemas.openxmlformats.org/drawingml/2006/main">
              <a:ext uri="{FF2B5EF4-FFF2-40B4-BE49-F238E27FC236}">
                <a16:creationId xmlns:a16="http://schemas.microsoft.com/office/drawing/2014/main" id="{CF2D9ABD-6266-48CC-A768-3EC368C37EC3}"/>
              </a:ext>
            </a:extLst>
          </p:cNvPr>
          <p:cNvSpPr>
            <a:spLocks xmlns:a="http://schemas.openxmlformats.org/drawingml/2006/main" noGrp="1"/>
          </p:cNvSpPr>
          <p:nvPr/>
        </p:nvSpPr>
        <p:spPr>
          <a:xfrm xmlns:a="http://schemas.openxmlformats.org/drawingml/2006/main">
            <a:off x="495300" y="4219575"/>
            <a:ext cx="38385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5475" b="1">
                <a:solidFill>
                  <a:srgbClr val="344BFF"/>
                </a:solidFill>
                <a:latin typeface="Bahnschrift"/>
                <a:ea typeface="Bahnschrift"/>
                <a:cs typeface="Bahnschrift"/>
              </a:defRPr>
            </a:pPr>
            <a:r>
              <a:rPr sz="5475" b="1">
                <a:solidFill>
                  <a:srgbClr val="344BFF"/>
                </a:solidFill>
                <a:latin typeface="Bahnschrift"/>
                <a:ea typeface="Bahnschrift"/>
                <a:cs typeface="Bahnschrift"/>
              </a:rPr>
              <a:t>0,0318</a:t>
            </a:r>
          </a:p>
        </p:txBody>
      </p:sp>
      <p:sp>
        <p:nvSpPr>
          <p:cNvPr id="10" name="Texte_10_9">
            <a:extLst xmlns:a="http://schemas.openxmlformats.org/drawingml/2006/main">
              <a:ext uri="{FF2B5EF4-FFF2-40B4-BE49-F238E27FC236}">
                <a16:creationId xmlns:a16="http://schemas.microsoft.com/office/drawing/2014/main" id="{5E343F29-4D0C-4225-B94A-497CB2E427E9}"/>
              </a:ext>
            </a:extLst>
          </p:cNvPr>
          <p:cNvSpPr>
            <a:spLocks xmlns:a="http://schemas.openxmlformats.org/drawingml/2006/main" noGrp="1"/>
          </p:cNvSpPr>
          <p:nvPr/>
        </p:nvSpPr>
        <p:spPr>
          <a:xfrm xmlns:a="http://schemas.openxmlformats.org/drawingml/2006/main">
            <a:off x="571500" y="5219700"/>
            <a:ext cx="352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00" b="1">
                <a:solidFill>
                  <a:srgbClr val="344BFF"/>
                </a:solidFill>
                <a:latin typeface="Segoe UI"/>
                <a:ea typeface="Segoe UI"/>
                <a:cs typeface="Segoe UI"/>
              </a:defRPr>
            </a:pPr>
            <a:r>
              <a:rPr sz="2100" b="1">
                <a:solidFill>
                  <a:srgbClr val="344BFF"/>
                </a:solidFill>
                <a:latin typeface="Segoe UI"/>
                <a:ea typeface="Segoe UI"/>
                <a:cs typeface="Segoe UI"/>
              </a:rPr>
              <a:t>kalibre tahmin</a:t>
            </a:r>
          </a:p>
        </p:txBody>
      </p:sp>
      <p:graphicFrame>
        <p:nvGraphicFramePr>
          <p:cNvPr id="29" name="Chart"/>
          <p:cNvGraphicFramePr/>
          <p:nvPr/>
        </p:nvGraphicFramePr>
        <p:xfrm>
          <a:off xmlns:a="http://schemas.openxmlformats.org/drawingml/2006/main" x="4429125" y="1981200"/>
          <a:ext xmlns:a="http://schemas.openxmlformats.org/drawingml/2006/main" cx="7153275" cy="3724275"/>
        </p:xfrm>
        <a:graphic xmlns:a="http://schemas.openxmlformats.org/drawingml/2006/main">
          <a:graphicData uri="http://schemas.openxmlformats.org/drawingml/2006/chart">
            <c:chart xmlns:r="http://schemas.openxmlformats.org/officeDocument/2006/relationships" xmlns:c="http://schemas.openxmlformats.org/drawingml/2006/chart" r:id="R162a784167694635"/>
          </a:graphicData>
        </a:graphic>
      </p:graphicFrame>
      <p:sp>
        <p:nvSpPr>
          <p:cNvPr id="18" name="!!ESIK_THRESHOLD">
            <a:extLst xmlns:a="http://schemas.openxmlformats.org/drawingml/2006/main">
              <a:ext uri="{FF2B5EF4-FFF2-40B4-BE49-F238E27FC236}">
                <a16:creationId xmlns:a16="http://schemas.microsoft.com/office/drawing/2014/main" id="{CCC025CB-6786-4E97-9FF3-E7A7FFEAA5EF}"/>
              </a:ext>
            </a:extLst>
          </p:cNvPr>
          <p:cNvSpPr>
            <a:spLocks xmlns:a="http://schemas.openxmlformats.org/drawingml/2006/main" noGrp="1"/>
          </p:cNvSpPr>
          <p:nvPr/>
        </p:nvSpPr>
        <p:spPr>
          <a:xfrm xmlns:a="http://schemas.openxmlformats.org/drawingml/2006/main">
            <a:off x="561975" y="5886450"/>
            <a:ext cx="10972800" cy="28575"/>
          </a:xfrm>
          <a:prstGeom xmlns:a="http://schemas.openxmlformats.org/drawingml/2006/main" prst="rect">
            <a:avLst/>
          </a:prstGeom>
          <a:solidFill xmlns:a="http://schemas.openxmlformats.org/drawingml/2006/main">
            <a:srgbClr val="344BFF"/>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11" name="Texte_10_10">
            <a:extLst xmlns:a="http://schemas.openxmlformats.org/drawingml/2006/main">
              <a:ext uri="{FF2B5EF4-FFF2-40B4-BE49-F238E27FC236}">
                <a16:creationId xmlns:a16="http://schemas.microsoft.com/office/drawing/2014/main" id="{24F92009-B834-45EB-B376-8FFB1D006C01}"/>
              </a:ext>
            </a:extLst>
          </p:cNvPr>
          <p:cNvSpPr>
            <a:spLocks xmlns:a="http://schemas.openxmlformats.org/drawingml/2006/main" noGrp="1"/>
          </p:cNvSpPr>
          <p:nvPr/>
        </p:nvSpPr>
        <p:spPr>
          <a:xfrm xmlns:a="http://schemas.openxmlformats.org/drawingml/2006/main">
            <a:off x="561975" y="59817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B0E13"/>
                </a:solidFill>
                <a:latin typeface="Segoe UI"/>
                <a:ea typeface="Segoe UI"/>
                <a:cs typeface="Segoe UI"/>
              </a:defRPr>
            </a:pPr>
            <a:r>
              <a:rPr sz="1875" b="1">
                <a:solidFill>
                  <a:srgbClr val="0B0E13"/>
                </a:solidFill>
                <a:latin typeface="Segoe UI"/>
                <a:ea typeface="Segoe UI"/>
                <a:cs typeface="Segoe UI"/>
              </a:rPr>
              <a:t>Logaritmik kayıp: 0,1391’den 0,1207’e</a:t>
            </a:r>
          </a:p>
        </p:txBody>
      </p:sp>
      <p:sp>
        <p:nvSpPr>
          <p:cNvPr id="13" name="Texte_10_11">
            <a:extLst xmlns:a="http://schemas.openxmlformats.org/drawingml/2006/main">
              <a:ext uri="{FF2B5EF4-FFF2-40B4-BE49-F238E27FC236}">
                <a16:creationId xmlns:a16="http://schemas.microsoft.com/office/drawing/2014/main" id="{7D4C3E60-ABC8-439B-945B-33450D42105A}"/>
              </a:ext>
            </a:extLst>
          </p:cNvPr>
          <p:cNvSpPr>
            <a:spLocks xmlns:a="http://schemas.openxmlformats.org/drawingml/2006/main" noGrp="1"/>
          </p:cNvSpPr>
          <p:nvPr/>
        </p:nvSpPr>
        <p:spPr>
          <a:xfrm xmlns:a="http://schemas.openxmlformats.org/drawingml/2006/main">
            <a:off x="533400" y="6315075"/>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00" b="0">
                <a:solidFill>
                  <a:srgbClr val="555E68"/>
                </a:solidFill>
                <a:latin typeface="Segoe UI"/>
                <a:ea typeface="Segoe UI"/>
                <a:cs typeface="Segoe UI"/>
              </a:defRPr>
            </a:pPr>
            <a:r>
              <a:rPr sz="1200" b="0">
                <a:solidFill>
                  <a:srgbClr val="555E68"/>
                </a:solidFill>
                <a:latin typeface="Segoe UI"/>
                <a:ea typeface="Segoe UI"/>
                <a:cs typeface="Segoe UI"/>
              </a:rPr>
              <a:t>Yalnız XGBoost, 4.680 dış kat kaydı. İncelenmiş katlarla ek deney. Yeni bağımsız doğrulama değildir.</a:t>
            </a:r>
          </a:p>
        </p:txBody>
      </p:sp>
    </p:spTree>
    <p:extLst>
      <p:ext uri="{BB962C8B-B14F-4D97-AF65-F5344CB8AC3E}">
        <p14:creationId xmlns:p14="http://schemas.microsoft.com/office/powerpoint/2010/main" val="582214906"/>
      </p:ext>
    </p:extLst>
  </p:cSld>
  <mc:AlternateContent xmlns:mc="http://schemas.openxmlformats.org/markup-compatibility/2006" xmlns:p159="http://schemas.microsoft.com/office/powerpoint/2015/09/main" xmlns:p14="http://schemas.microsoft.com/office/powerpoint/2010/main">
    <mc:Choice Requires="p159">
      <p:transition spd="fast" advClick="1" p14:dur="650">
        <p159:morph option="byObject"/>
      </p:transition>
    </mc:Choice>
    <mc:Fallback>
      <p:transition spd="fast" advClick="1">
        <p:fade/>
      </p:transition>
    </mc:Fallback>
  </mc:AlternateContent>
</p:sld>
</file>

<file path=ppt/slides/slide11.xml><?xml version="1.0" encoding="utf-8"?>
<p:sld xmlns:p="http://schemas.openxmlformats.org/presentationml/2006/main" show="1">
  <p:cSld>
    <p:bg>
      <p:bgPr>
        <a:solidFill xmlns:a="http://schemas.openxmlformats.org/drawingml/2006/main">
          <a:srgbClr val="0B0E13"/>
        </a:solidFill>
      </p:bgPr>
    </p:bg>
    <p:spTree>
      <p:nvGrpSpPr>
        <p:cNvPr id="1" name=""/>
        <p:cNvGrpSpPr/>
        <p:nvPr/>
      </p:nvGrpSpPr>
      <p:grpSpPr>
        <a:xfrm xmlns:a="http://schemas.openxmlformats.org/drawingml/2006/main"/>
      </p:grpSpPr>
      <p:sp>
        <p:nvSpPr>
          <p:cNvPr id="9" name="!!ESIK_MARK">
            <a:extLst xmlns:a="http://schemas.openxmlformats.org/drawingml/2006/main">
              <a:ext uri="{FF2B5EF4-FFF2-40B4-BE49-F238E27FC236}">
                <a16:creationId xmlns:a16="http://schemas.microsoft.com/office/drawing/2014/main" id="{75C103A0-E6AA-4EFD-BD1C-A85E000801BC}"/>
              </a:ext>
            </a:extLst>
          </p:cNvPr>
          <p:cNvSpPr>
            <a:spLocks xmlns:a="http://schemas.openxmlformats.org/drawingml/2006/main" noGrp="1"/>
          </p:cNvSpPr>
          <p:nvPr/>
        </p:nvSpPr>
        <p:spPr>
          <a:xfrm xmlns:a="http://schemas.openxmlformats.org/drawingml/2006/main">
            <a:off x="533400" y="266700"/>
            <a:ext cx="1190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75" b="1">
                <a:solidFill>
                  <a:srgbClr val="D7FF42"/>
                </a:solidFill>
                <a:latin typeface="Bahnschrift"/>
                <a:ea typeface="Bahnschrift"/>
                <a:cs typeface="Bahnschrift"/>
              </a:defRPr>
            </a:pPr>
            <a:r>
              <a:rPr sz="1575" b="1">
                <a:solidFill>
                  <a:srgbClr val="D7FF42"/>
                </a:solidFill>
                <a:latin typeface="Bahnschrift"/>
                <a:ea typeface="Bahnschrift"/>
                <a:cs typeface="Bahnschrift"/>
              </a:rPr>
              <a:t>EŞİK</a:t>
            </a:r>
          </a:p>
        </p:txBody>
      </p:sp>
      <p:sp>
        <p:nvSpPr>
          <p:cNvPr id="2" name="Texte_11_2">
            <a:extLst xmlns:a="http://schemas.openxmlformats.org/drawingml/2006/main">
              <a:ext uri="{FF2B5EF4-FFF2-40B4-BE49-F238E27FC236}">
                <a16:creationId xmlns:a16="http://schemas.microsoft.com/office/drawing/2014/main" id="{6E1AF54A-AF1D-44AD-BD7F-76DC41A546AA}"/>
              </a:ext>
            </a:extLst>
          </p:cNvPr>
          <p:cNvSpPr>
            <a:spLocks xmlns:a="http://schemas.openxmlformats.org/drawingml/2006/main" noGrp="1"/>
          </p:cNvSpPr>
          <p:nvPr/>
        </p:nvSpPr>
        <p:spPr>
          <a:xfrm xmlns:a="http://schemas.openxmlformats.org/drawingml/2006/main">
            <a:off x="1809750" y="295275"/>
            <a:ext cx="7810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ABB1B9"/>
                </a:solidFill>
                <a:latin typeface="Segoe UI"/>
                <a:ea typeface="Segoe UI"/>
                <a:cs typeface="Segoe UI"/>
              </a:defRPr>
            </a:pPr>
            <a:r>
              <a:rPr sz="1275" b="0">
                <a:solidFill>
                  <a:srgbClr val="ABB1B9"/>
                </a:solidFill>
                <a:latin typeface="Segoe UI"/>
                <a:ea typeface="Segoe UI"/>
                <a:cs typeface="Segoe UI"/>
              </a:rPr>
              <a:t>ŞİRKET AÇIKLAMASI</a:t>
            </a:r>
          </a:p>
        </p:txBody>
      </p:sp>
      <p:sp>
        <p:nvSpPr>
          <p:cNvPr id="4" name="Texte_11_3">
            <a:extLst xmlns:a="http://schemas.openxmlformats.org/drawingml/2006/main">
              <a:ext uri="{FF2B5EF4-FFF2-40B4-BE49-F238E27FC236}">
                <a16:creationId xmlns:a16="http://schemas.microsoft.com/office/drawing/2014/main" id="{F0EE6CA9-494E-49A2-8912-DD48431EADFB}"/>
              </a:ext>
            </a:extLst>
          </p:cNvPr>
          <p:cNvSpPr>
            <a:spLocks xmlns:a="http://schemas.openxmlformats.org/drawingml/2006/main" noGrp="1"/>
          </p:cNvSpPr>
          <p:nvPr/>
        </p:nvSpPr>
        <p:spPr>
          <a:xfrm xmlns:a="http://schemas.openxmlformats.org/drawingml/2006/main">
            <a:off x="10953750" y="266700"/>
            <a:ext cx="723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00" b="0">
                <a:solidFill>
                  <a:srgbClr val="ABB1B9"/>
                </a:solidFill>
                <a:latin typeface="Bahnschrift"/>
                <a:ea typeface="Bahnschrift"/>
                <a:cs typeface="Bahnschrift"/>
              </a:defRPr>
            </a:pPr>
            <a:r>
              <a:rPr sz="1500" b="0">
                <a:solidFill>
                  <a:srgbClr val="ABB1B9"/>
                </a:solidFill>
                <a:latin typeface="Bahnschrift"/>
                <a:ea typeface="Bahnschrift"/>
                <a:cs typeface="Bahnschrift"/>
              </a:rPr>
              <a:t>11</a:t>
            </a:r>
          </a:p>
        </p:txBody>
      </p:sp>
      <p:sp>
        <p:nvSpPr>
          <p:cNvPr id="5" name="Texte_11_4">
            <a:extLst xmlns:a="http://schemas.openxmlformats.org/drawingml/2006/main">
              <a:ext uri="{FF2B5EF4-FFF2-40B4-BE49-F238E27FC236}">
                <a16:creationId xmlns:a16="http://schemas.microsoft.com/office/drawing/2014/main" id="{7C07C95E-61FC-4BB0-8033-782CEEB089A9}"/>
              </a:ext>
            </a:extLst>
          </p:cNvPr>
          <p:cNvSpPr>
            <a:spLocks xmlns:a="http://schemas.openxmlformats.org/drawingml/2006/main" noGrp="1"/>
          </p:cNvSpPr>
          <p:nvPr/>
        </p:nvSpPr>
        <p:spPr>
          <a:xfrm xmlns:a="http://schemas.openxmlformats.org/drawingml/2006/main">
            <a:off x="533400" y="952500"/>
            <a:ext cx="111252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525" b="1">
                <a:solidFill>
                  <a:srgbClr val="F4F5F0"/>
                </a:solidFill>
                <a:latin typeface="Segoe UI"/>
                <a:ea typeface="Segoe UI"/>
                <a:cs typeface="Segoe UI"/>
              </a:defRPr>
            </a:pPr>
            <a:r>
              <a:rPr sz="3525" b="1">
                <a:solidFill>
                  <a:srgbClr val="F4F5F0"/>
                </a:solidFill>
                <a:latin typeface="Segoe UI"/>
                <a:ea typeface="Segoe UI"/>
                <a:cs typeface="Segoe UI"/>
              </a:rPr>
              <a:t>En güçlü sinyalin girdisi eksik</a:t>
            </a:r>
          </a:p>
        </p:txBody>
      </p:sp>
      <p:sp>
        <p:nvSpPr>
          <p:cNvPr id="6" name="!!SIRKET_KODU">
            <a:extLst xmlns:a="http://schemas.openxmlformats.org/drawingml/2006/main">
              <a:ext uri="{FF2B5EF4-FFF2-40B4-BE49-F238E27FC236}">
                <a16:creationId xmlns:a16="http://schemas.microsoft.com/office/drawing/2014/main" id="{8AA0A9A9-747B-4EC6-9845-29044452D581}"/>
              </a:ext>
            </a:extLst>
          </p:cNvPr>
          <p:cNvSpPr>
            <a:spLocks xmlns:a="http://schemas.openxmlformats.org/drawingml/2006/main" noGrp="1"/>
          </p:cNvSpPr>
          <p:nvPr/>
        </p:nvSpPr>
        <p:spPr>
          <a:xfrm xmlns:a="http://schemas.openxmlformats.org/drawingml/2006/main">
            <a:off x="561975" y="1962150"/>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75" b="1">
                <a:solidFill>
                  <a:srgbClr val="D7FF42"/>
                </a:solidFill>
                <a:latin typeface="Bahnschrift"/>
                <a:ea typeface="Bahnschrift"/>
                <a:cs typeface="Bahnschrift"/>
              </a:defRPr>
            </a:pPr>
            <a:r>
              <a:rPr sz="2475" b="1">
                <a:solidFill>
                  <a:srgbClr val="D7FF42"/>
                </a:solidFill>
                <a:latin typeface="Bahnschrift"/>
                <a:ea typeface="Bahnschrift"/>
                <a:cs typeface="Bahnschrift"/>
              </a:rPr>
              <a:t>ESIK-05817</a:t>
            </a:r>
          </a:p>
        </p:txBody>
      </p:sp>
      <p:sp>
        <p:nvSpPr>
          <p:cNvPr id="7" name="Texte_11_6">
            <a:extLst xmlns:a="http://schemas.openxmlformats.org/drawingml/2006/main">
              <a:ext uri="{FF2B5EF4-FFF2-40B4-BE49-F238E27FC236}">
                <a16:creationId xmlns:a16="http://schemas.microsoft.com/office/drawing/2014/main" id="{949388AA-D6F4-4CFB-97A7-66E7147369E4}"/>
              </a:ext>
            </a:extLst>
          </p:cNvPr>
          <p:cNvSpPr>
            <a:spLocks xmlns:a="http://schemas.openxmlformats.org/drawingml/2006/main" noGrp="1"/>
          </p:cNvSpPr>
          <p:nvPr/>
        </p:nvSpPr>
        <p:spPr>
          <a:xfrm xmlns:a="http://schemas.openxmlformats.org/drawingml/2006/main">
            <a:off x="5991225" y="2057400"/>
            <a:ext cx="5657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D7FF42"/>
                </a:solidFill>
                <a:latin typeface="Segoe UI"/>
                <a:ea typeface="Segoe UI"/>
                <a:cs typeface="Segoe UI"/>
              </a:defRPr>
            </a:pPr>
            <a:r>
              <a:rPr sz="1800" b="0">
                <a:solidFill>
                  <a:srgbClr val="D7FF42"/>
                </a:solidFill>
                <a:latin typeface="Segoe UI"/>
                <a:ea typeface="Segoe UI"/>
                <a:cs typeface="Segoe UI"/>
              </a:rPr>
              <a:t>%99,0 keşifsel olasılık tahmini</a:t>
            </a:r>
          </a:p>
        </p:txBody>
      </p:sp>
      <p:graphicFrame>
        <p:nvGraphicFramePr>
          <p:cNvPr id="27" name="Chart"/>
          <p:cNvGraphicFramePr/>
          <p:nvPr/>
        </p:nvGraphicFramePr>
        <p:xfrm>
          <a:off xmlns:a="http://schemas.openxmlformats.org/drawingml/2006/main" x="552450" y="2619375"/>
          <a:ext xmlns:a="http://schemas.openxmlformats.org/drawingml/2006/main" cx="11077575" cy="2543175"/>
        </p:xfrm>
        <a:graphic xmlns:a="http://schemas.openxmlformats.org/drawingml/2006/main">
          <a:graphicData uri="http://schemas.openxmlformats.org/drawingml/2006/chart">
            <c:chart xmlns:r="http://schemas.openxmlformats.org/officeDocument/2006/relationships" xmlns:c="http://schemas.openxmlformats.org/drawingml/2006/chart" r:id="R0941ef0443cb4c3b"/>
          </a:graphicData>
        </a:graphic>
      </p:graphicFrame>
      <p:sp>
        <p:nvSpPr>
          <p:cNvPr id="19" name="!!ESIK_THRESHOLD">
            <a:extLst xmlns:a="http://schemas.openxmlformats.org/drawingml/2006/main">
              <a:ext uri="{FF2B5EF4-FFF2-40B4-BE49-F238E27FC236}">
                <a16:creationId xmlns:a16="http://schemas.microsoft.com/office/drawing/2014/main" id="{B3A03E30-6CF4-4AD9-9DEE-7572D51CA750}"/>
              </a:ext>
            </a:extLst>
          </p:cNvPr>
          <p:cNvSpPr>
            <a:spLocks xmlns:a="http://schemas.openxmlformats.org/drawingml/2006/main" noGrp="1"/>
          </p:cNvSpPr>
          <p:nvPr/>
        </p:nvSpPr>
        <p:spPr>
          <a:xfrm xmlns:a="http://schemas.openxmlformats.org/drawingml/2006/main">
            <a:off x="581025" y="5314950"/>
            <a:ext cx="10953750" cy="28575"/>
          </a:xfrm>
          <a:prstGeom xmlns:a="http://schemas.openxmlformats.org/drawingml/2006/main" prst="rect">
            <a:avLst/>
          </a:prstGeom>
          <a:solidFill xmlns:a="http://schemas.openxmlformats.org/drawingml/2006/main">
            <a:srgbClr val="D7FF42"/>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8" name="Texte_11_7">
            <a:extLst xmlns:a="http://schemas.openxmlformats.org/drawingml/2006/main">
              <a:ext uri="{FF2B5EF4-FFF2-40B4-BE49-F238E27FC236}">
                <a16:creationId xmlns:a16="http://schemas.microsoft.com/office/drawing/2014/main" id="{3F3C0C07-29B0-42CC-923C-09CB31534A51}"/>
              </a:ext>
            </a:extLst>
          </p:cNvPr>
          <p:cNvSpPr>
            <a:spLocks xmlns:a="http://schemas.openxmlformats.org/drawingml/2006/main" noGrp="1"/>
          </p:cNvSpPr>
          <p:nvPr/>
        </p:nvSpPr>
        <p:spPr>
          <a:xfrm xmlns:a="http://schemas.openxmlformats.org/drawingml/2006/main">
            <a:off x="552450" y="5486400"/>
            <a:ext cx="5581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FF725C"/>
                </a:solidFill>
                <a:latin typeface="Segoe UI"/>
                <a:ea typeface="Segoe UI"/>
                <a:cs typeface="Segoe UI"/>
              </a:defRPr>
            </a:pPr>
            <a:r>
              <a:rPr sz="2175" b="1">
                <a:solidFill>
                  <a:srgbClr val="FF725C"/>
                </a:solidFill>
                <a:latin typeface="Segoe UI"/>
                <a:ea typeface="Segoe UI"/>
                <a:cs typeface="Segoe UI"/>
              </a:rPr>
              <a:t>Attr21: eksik</a:t>
            </a:r>
          </a:p>
        </p:txBody>
      </p:sp>
      <p:sp>
        <p:nvSpPr>
          <p:cNvPr id="11" name="Texte_11_8">
            <a:extLst xmlns:a="http://schemas.openxmlformats.org/drawingml/2006/main">
              <a:ext uri="{FF2B5EF4-FFF2-40B4-BE49-F238E27FC236}">
                <a16:creationId xmlns:a16="http://schemas.microsoft.com/office/drawing/2014/main" id="{6CA5DA30-2916-4A00-8E62-4C4594111DC9}"/>
              </a:ext>
            </a:extLst>
          </p:cNvPr>
          <p:cNvSpPr>
            <a:spLocks xmlns:a="http://schemas.openxmlformats.org/drawingml/2006/main" noGrp="1"/>
          </p:cNvSpPr>
          <p:nvPr/>
        </p:nvSpPr>
        <p:spPr>
          <a:xfrm xmlns:a="http://schemas.openxmlformats.org/drawingml/2006/main">
            <a:off x="552450" y="5876925"/>
            <a:ext cx="552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F4F5F0"/>
                </a:solidFill>
                <a:latin typeface="Segoe UI"/>
                <a:ea typeface="Segoe UI"/>
                <a:cs typeface="Segoe UI"/>
              </a:defRPr>
            </a:pPr>
            <a:r>
              <a:rPr sz="1800" b="0">
                <a:solidFill>
                  <a:srgbClr val="F4F5F0"/>
                </a:solidFill>
                <a:latin typeface="Segoe UI"/>
                <a:ea typeface="Segoe UI"/>
                <a:cs typeface="Segoe UI"/>
              </a:rPr>
              <a:t>Model medyanı: 1,1177</a:t>
            </a:r>
          </a:p>
        </p:txBody>
      </p:sp>
      <p:sp>
        <p:nvSpPr>
          <p:cNvPr id="13" name="Texte_11_9">
            <a:extLst xmlns:a="http://schemas.openxmlformats.org/drawingml/2006/main">
              <a:ext uri="{FF2B5EF4-FFF2-40B4-BE49-F238E27FC236}">
                <a16:creationId xmlns:a16="http://schemas.microsoft.com/office/drawing/2014/main" id="{6F626FF8-FAB1-4062-8BEB-32ECFB858EC7}"/>
              </a:ext>
            </a:extLst>
          </p:cNvPr>
          <p:cNvSpPr>
            <a:spLocks xmlns:a="http://schemas.openxmlformats.org/drawingml/2006/main" noGrp="1"/>
          </p:cNvSpPr>
          <p:nvPr/>
        </p:nvSpPr>
        <p:spPr>
          <a:xfrm xmlns:a="http://schemas.openxmlformats.org/drawingml/2006/main">
            <a:off x="6705600" y="5486400"/>
            <a:ext cx="5000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D7FF42"/>
                </a:solidFill>
                <a:latin typeface="Segoe UI"/>
                <a:ea typeface="Segoe UI"/>
                <a:cs typeface="Segoe UI"/>
              </a:defRPr>
            </a:pPr>
            <a:r>
              <a:rPr sz="2175" b="1">
                <a:solidFill>
                  <a:srgbClr val="D7FF42"/>
                </a:solidFill>
                <a:latin typeface="Segoe UI"/>
                <a:ea typeface="Segoe UI"/>
                <a:cs typeface="Segoe UI"/>
              </a:rPr>
              <a:t>Attr35: −2,1101</a:t>
            </a:r>
          </a:p>
        </p:txBody>
      </p:sp>
      <p:sp>
        <p:nvSpPr>
          <p:cNvPr id="14" name="Texte_11_10">
            <a:extLst xmlns:a="http://schemas.openxmlformats.org/drawingml/2006/main">
              <a:ext uri="{FF2B5EF4-FFF2-40B4-BE49-F238E27FC236}">
                <a16:creationId xmlns:a16="http://schemas.microsoft.com/office/drawing/2014/main" id="{A9492FC9-2109-4488-8A0B-7EB23A46F930}"/>
              </a:ext>
            </a:extLst>
          </p:cNvPr>
          <p:cNvSpPr>
            <a:spLocks xmlns:a="http://schemas.openxmlformats.org/drawingml/2006/main" noGrp="1"/>
          </p:cNvSpPr>
          <p:nvPr/>
        </p:nvSpPr>
        <p:spPr>
          <a:xfrm xmlns:a="http://schemas.openxmlformats.org/drawingml/2006/main">
            <a:off x="6705600" y="5876925"/>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F4F5F0"/>
                </a:solidFill>
                <a:latin typeface="Segoe UI"/>
                <a:ea typeface="Segoe UI"/>
                <a:cs typeface="Segoe UI"/>
              </a:defRPr>
            </a:pPr>
            <a:r>
              <a:rPr sz="1800" b="0">
                <a:solidFill>
                  <a:srgbClr val="F4F5F0"/>
                </a:solidFill>
                <a:latin typeface="Segoe UI"/>
                <a:ea typeface="Segoe UI"/>
                <a:cs typeface="Segoe UI"/>
              </a:rPr>
              <a:t>Geliştirme medyanı: 0,0604</a:t>
            </a:r>
          </a:p>
        </p:txBody>
      </p:sp>
      <p:sp>
        <p:nvSpPr>
          <p:cNvPr id="17" name="Texte_11_11">
            <a:extLst xmlns:a="http://schemas.openxmlformats.org/drawingml/2006/main">
              <a:ext uri="{FF2B5EF4-FFF2-40B4-BE49-F238E27FC236}">
                <a16:creationId xmlns:a16="http://schemas.microsoft.com/office/drawing/2014/main" id="{CD3549DF-0A8E-4B49-9FFA-C6FAB8F60667}"/>
              </a:ext>
            </a:extLst>
          </p:cNvPr>
          <p:cNvSpPr>
            <a:spLocks xmlns:a="http://schemas.openxmlformats.org/drawingml/2006/main" noGrp="1"/>
          </p:cNvSpPr>
          <p:nvPr/>
        </p:nvSpPr>
        <p:spPr>
          <a:xfrm xmlns:a="http://schemas.openxmlformats.org/drawingml/2006/main">
            <a:off x="533400" y="6315075"/>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ABB1B9"/>
                </a:solidFill>
                <a:latin typeface="Segoe UI"/>
                <a:ea typeface="Segoe UI"/>
                <a:cs typeface="Segoe UI"/>
              </a:defRPr>
            </a:pPr>
            <a:r>
              <a:rPr sz="1275" b="0">
                <a:solidFill>
                  <a:srgbClr val="ABB1B9"/>
                </a:solidFill>
                <a:latin typeface="Segoe UI"/>
                <a:ea typeface="Segoe UI"/>
                <a:cs typeface="Segoe UI"/>
              </a:rPr>
              <a:t>SHAP ham log-olasılık oranı ölçeğinde. Yüzde katkı veya nedensellik göstermez.</a:t>
            </a:r>
          </a:p>
        </p:txBody>
      </p:sp>
    </p:spTree>
    <p:extLst>
      <p:ext uri="{BB962C8B-B14F-4D97-AF65-F5344CB8AC3E}">
        <p14:creationId xmlns:p14="http://schemas.microsoft.com/office/powerpoint/2010/main" val="243770526"/>
      </p:ext>
    </p:extLst>
  </p:cSld>
  <mc:AlternateContent xmlns:mc="http://schemas.openxmlformats.org/markup-compatibility/2006" xmlns:p159="http://schemas.microsoft.com/office/powerpoint/2015/09/main" xmlns:p14="http://schemas.microsoft.com/office/powerpoint/2010/main">
    <mc:Choice Requires="p159">
      <p:transition spd="fast" advClick="1" p14:dur="650">
        <p159:morph option="byObject"/>
      </p:transition>
    </mc:Choice>
    <mc:Fallback>
      <p:transition spd="fast" advClick="1">
        <p:fade/>
      </p:transition>
    </mc:Fallback>
  </mc:AlternateContent>
</p:sld>
</file>

<file path=ppt/slides/slide12.xml><?xml version="1.0" encoding="utf-8"?>
<p:sld xmlns:p="http://schemas.openxmlformats.org/presentationml/2006/main" show="1">
  <p:cSld>
    <p:bg>
      <p:bgPr>
        <a:solidFill xmlns:a="http://schemas.openxmlformats.org/drawingml/2006/main">
          <a:srgbClr val="F4F5F0"/>
        </a:solidFill>
      </p:bgPr>
    </p:bg>
    <p:spTree>
      <p:nvGrpSpPr>
        <p:cNvPr id="1" name=""/>
        <p:cNvGrpSpPr/>
        <p:nvPr/>
      </p:nvGrpSpPr>
      <p:grpSpPr>
        <a:xfrm xmlns:a="http://schemas.openxmlformats.org/drawingml/2006/main"/>
      </p:grpSpPr>
      <p:sp>
        <p:nvSpPr>
          <p:cNvPr id="28" name="!!ESIK_MARK">
            <a:extLst xmlns:a="http://schemas.openxmlformats.org/drawingml/2006/main">
              <a:ext uri="{FF2B5EF4-FFF2-40B4-BE49-F238E27FC236}">
                <a16:creationId xmlns:a16="http://schemas.microsoft.com/office/drawing/2014/main" id="{D93E9F50-5B31-450F-B195-D1B3B820FA78}"/>
              </a:ext>
            </a:extLst>
          </p:cNvPr>
          <p:cNvSpPr>
            <a:spLocks xmlns:a="http://schemas.openxmlformats.org/drawingml/2006/main" noGrp="1"/>
          </p:cNvSpPr>
          <p:nvPr/>
        </p:nvSpPr>
        <p:spPr>
          <a:xfrm xmlns:a="http://schemas.openxmlformats.org/drawingml/2006/main">
            <a:off x="533400" y="266700"/>
            <a:ext cx="1190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75" b="1">
                <a:solidFill>
                  <a:srgbClr val="0B0E13"/>
                </a:solidFill>
                <a:latin typeface="Bahnschrift"/>
                <a:ea typeface="Bahnschrift"/>
                <a:cs typeface="Bahnschrift"/>
              </a:defRPr>
            </a:pPr>
            <a:r>
              <a:rPr sz="1575" b="1">
                <a:solidFill>
                  <a:srgbClr val="0B0E13"/>
                </a:solidFill>
                <a:latin typeface="Bahnschrift"/>
                <a:ea typeface="Bahnschrift"/>
                <a:cs typeface="Bahnschrift"/>
              </a:rPr>
              <a:t>EŞİK</a:t>
            </a:r>
          </a:p>
        </p:txBody>
      </p:sp>
      <p:sp>
        <p:nvSpPr>
          <p:cNvPr id="2" name="Texte_12_2">
            <a:extLst xmlns:a="http://schemas.openxmlformats.org/drawingml/2006/main">
              <a:ext uri="{FF2B5EF4-FFF2-40B4-BE49-F238E27FC236}">
                <a16:creationId xmlns:a16="http://schemas.microsoft.com/office/drawing/2014/main" id="{F42A9B32-944E-4221-B8B5-98107EBBFFE6}"/>
              </a:ext>
            </a:extLst>
          </p:cNvPr>
          <p:cNvSpPr>
            <a:spLocks xmlns:a="http://schemas.openxmlformats.org/drawingml/2006/main" noGrp="1"/>
          </p:cNvSpPr>
          <p:nvPr/>
        </p:nvSpPr>
        <p:spPr>
          <a:xfrm xmlns:a="http://schemas.openxmlformats.org/drawingml/2006/main">
            <a:off x="1809750" y="295275"/>
            <a:ext cx="7810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555E68"/>
                </a:solidFill>
                <a:latin typeface="Segoe UI"/>
                <a:ea typeface="Segoe UI"/>
                <a:cs typeface="Segoe UI"/>
              </a:defRPr>
            </a:pPr>
            <a:r>
              <a:rPr sz="1275" b="0">
                <a:solidFill>
                  <a:srgbClr val="555E68"/>
                </a:solidFill>
                <a:latin typeface="Segoe UI"/>
                <a:ea typeface="Segoe UI"/>
                <a:cs typeface="Segoe UI"/>
              </a:rPr>
              <a:t>HATA ANALİZİ</a:t>
            </a:r>
          </a:p>
        </p:txBody>
      </p:sp>
      <p:sp>
        <p:nvSpPr>
          <p:cNvPr id="3" name="Texte_12_3">
            <a:extLst xmlns:a="http://schemas.openxmlformats.org/drawingml/2006/main">
              <a:ext uri="{FF2B5EF4-FFF2-40B4-BE49-F238E27FC236}">
                <a16:creationId xmlns:a16="http://schemas.microsoft.com/office/drawing/2014/main" id="{0ECAB9A2-634A-40A2-8E72-EB0F783074D2}"/>
              </a:ext>
            </a:extLst>
          </p:cNvPr>
          <p:cNvSpPr>
            <a:spLocks xmlns:a="http://schemas.openxmlformats.org/drawingml/2006/main" noGrp="1"/>
          </p:cNvSpPr>
          <p:nvPr/>
        </p:nvSpPr>
        <p:spPr>
          <a:xfrm xmlns:a="http://schemas.openxmlformats.org/drawingml/2006/main">
            <a:off x="10953750" y="266700"/>
            <a:ext cx="723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00" b="0">
                <a:solidFill>
                  <a:srgbClr val="0B0E13"/>
                </a:solidFill>
                <a:latin typeface="Bahnschrift"/>
                <a:ea typeface="Bahnschrift"/>
                <a:cs typeface="Bahnschrift"/>
              </a:defRPr>
            </a:pPr>
            <a:r>
              <a:rPr sz="1500" b="0">
                <a:solidFill>
                  <a:srgbClr val="0B0E13"/>
                </a:solidFill>
                <a:latin typeface="Bahnschrift"/>
                <a:ea typeface="Bahnschrift"/>
                <a:cs typeface="Bahnschrift"/>
              </a:rPr>
              <a:t>12</a:t>
            </a:r>
          </a:p>
        </p:txBody>
      </p:sp>
      <p:sp>
        <p:nvSpPr>
          <p:cNvPr id="4" name="Texte_12_4">
            <a:extLst xmlns:a="http://schemas.openxmlformats.org/drawingml/2006/main">
              <a:ext uri="{FF2B5EF4-FFF2-40B4-BE49-F238E27FC236}">
                <a16:creationId xmlns:a16="http://schemas.microsoft.com/office/drawing/2014/main" id="{6928091C-533F-4949-8735-462B61885809}"/>
              </a:ext>
            </a:extLst>
          </p:cNvPr>
          <p:cNvSpPr>
            <a:spLocks xmlns:a="http://schemas.openxmlformats.org/drawingml/2006/main" noGrp="1"/>
          </p:cNvSpPr>
          <p:nvPr/>
        </p:nvSpPr>
        <p:spPr>
          <a:xfrm xmlns:a="http://schemas.openxmlformats.org/drawingml/2006/main">
            <a:off x="533400" y="952500"/>
            <a:ext cx="111252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75" b="1">
                <a:solidFill>
                  <a:srgbClr val="0B0E13"/>
                </a:solidFill>
                <a:latin typeface="Segoe UI"/>
                <a:ea typeface="Segoe UI"/>
                <a:cs typeface="Segoe UI"/>
              </a:defRPr>
            </a:pPr>
            <a:r>
              <a:rPr sz="3375" b="1">
                <a:solidFill>
                  <a:srgbClr val="0B0E13"/>
                </a:solidFill>
                <a:latin typeface="Segoe UI"/>
                <a:ea typeface="Segoe UI"/>
                <a:cs typeface="Segoe UI"/>
              </a:rPr>
              <a:t>117’de durunca 15 iflas dışarıda kalıyor</a:t>
            </a:r>
          </a:p>
        </p:txBody>
      </p:sp>
      <p:sp>
        <p:nvSpPr>
          <p:cNvPr id="5" name="Texte_12_5">
            <a:extLst xmlns:a="http://schemas.openxmlformats.org/drawingml/2006/main">
              <a:ext uri="{FF2B5EF4-FFF2-40B4-BE49-F238E27FC236}">
                <a16:creationId xmlns:a16="http://schemas.microsoft.com/office/drawing/2014/main" id="{7184922B-5B61-4A4A-AA7E-47E6D8B951BA}"/>
              </a:ext>
            </a:extLst>
          </p:cNvPr>
          <p:cNvSpPr>
            <a:spLocks xmlns:a="http://schemas.openxmlformats.org/drawingml/2006/main" noGrp="1"/>
          </p:cNvSpPr>
          <p:nvPr/>
        </p:nvSpPr>
        <p:spPr>
          <a:xfrm xmlns:a="http://schemas.openxmlformats.org/drawingml/2006/main">
            <a:off x="466725" y="2105025"/>
            <a:ext cx="3190875" cy="1514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275" b="1">
                <a:solidFill>
                  <a:srgbClr val="FF725C"/>
                </a:solidFill>
                <a:latin typeface="Bahnschrift"/>
                <a:ea typeface="Bahnschrift"/>
                <a:cs typeface="Bahnschrift"/>
              </a:defRPr>
            </a:pPr>
            <a:r>
              <a:rPr sz="10275" b="1">
                <a:solidFill>
                  <a:srgbClr val="FF725C"/>
                </a:solidFill>
                <a:latin typeface="Bahnschrift"/>
                <a:ea typeface="Bahnschrift"/>
                <a:cs typeface="Bahnschrift"/>
              </a:rPr>
              <a:t>15</a:t>
            </a:r>
          </a:p>
        </p:txBody>
      </p:sp>
      <p:sp>
        <p:nvSpPr>
          <p:cNvPr id="6" name="Texte_12_6">
            <a:extLst xmlns:a="http://schemas.openxmlformats.org/drawingml/2006/main">
              <a:ext uri="{FF2B5EF4-FFF2-40B4-BE49-F238E27FC236}">
                <a16:creationId xmlns:a16="http://schemas.microsoft.com/office/drawing/2014/main" id="{B416F7B4-8704-488C-B489-19FE1CD408F8}"/>
              </a:ext>
            </a:extLst>
          </p:cNvPr>
          <p:cNvSpPr>
            <a:spLocks xmlns:a="http://schemas.openxmlformats.org/drawingml/2006/main" noGrp="1"/>
          </p:cNvSpPr>
          <p:nvPr/>
        </p:nvSpPr>
        <p:spPr>
          <a:xfrm xmlns:a="http://schemas.openxmlformats.org/drawingml/2006/main">
            <a:off x="3076575" y="2476500"/>
            <a:ext cx="503872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775" b="1">
                <a:solidFill>
                  <a:srgbClr val="0B0E13"/>
                </a:solidFill>
                <a:latin typeface="Segoe UI"/>
                <a:ea typeface="Segoe UI"/>
                <a:cs typeface="Segoe UI"/>
              </a:defRPr>
            </a:pPr>
            <a:r>
              <a:rPr sz="2775" b="1">
                <a:solidFill>
                  <a:srgbClr val="0B0E13"/>
                </a:solidFill>
                <a:latin typeface="Segoe UI"/>
                <a:ea typeface="Segoe UI"/>
                <a:cs typeface="Segoe UI"/>
              </a:rPr>
              <a:t>kaçırılan</a:t>
            </a:r>
          </a:p>
          <a:p xmlns:a="http://schemas.openxmlformats.org/drawingml/2006/main">
            <a:pPr>
              <a:buNone/>
              <a:defRPr sz="2775" b="1">
                <a:solidFill>
                  <a:srgbClr val="0B0E13"/>
                </a:solidFill>
                <a:latin typeface="Segoe UI"/>
                <a:ea typeface="Segoe UI"/>
                <a:cs typeface="Segoe UI"/>
              </a:defRPr>
            </a:pPr>
            <a:r>
              <a:rPr sz="2775" b="1">
                <a:solidFill>
                  <a:srgbClr val="0B0E13"/>
                </a:solidFill>
                <a:latin typeface="Segoe UI"/>
                <a:ea typeface="Segoe UI"/>
                <a:cs typeface="Segoe UI"/>
              </a:rPr>
              <a:t>iflas vakası</a:t>
            </a:r>
          </a:p>
        </p:txBody>
      </p:sp>
      <p:sp>
        <p:nvSpPr>
          <p:cNvPr id="7" name="Texte_12_7">
            <a:extLst xmlns:a="http://schemas.openxmlformats.org/drawingml/2006/main">
              <a:ext uri="{FF2B5EF4-FFF2-40B4-BE49-F238E27FC236}">
                <a16:creationId xmlns:a16="http://schemas.microsoft.com/office/drawing/2014/main" id="{A67AFF26-EAD7-4A5F-ACC7-90CD29ED4B19}"/>
              </a:ext>
            </a:extLst>
          </p:cNvPr>
          <p:cNvSpPr>
            <a:spLocks xmlns:a="http://schemas.openxmlformats.org/drawingml/2006/main" noGrp="1"/>
          </p:cNvSpPr>
          <p:nvPr/>
        </p:nvSpPr>
        <p:spPr>
          <a:xfrm xmlns:a="http://schemas.openxmlformats.org/drawingml/2006/main">
            <a:off x="8934450" y="2476500"/>
            <a:ext cx="285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5100" b="1">
                <a:solidFill>
                  <a:srgbClr val="344BFF"/>
                </a:solidFill>
                <a:latin typeface="Bahnschrift"/>
                <a:ea typeface="Bahnschrift"/>
                <a:cs typeface="Bahnschrift"/>
              </a:defRPr>
            </a:pPr>
            <a:r>
              <a:rPr sz="5100" b="1">
                <a:solidFill>
                  <a:srgbClr val="344BFF"/>
                </a:solidFill>
                <a:latin typeface="Bahnschrift"/>
                <a:ea typeface="Bahnschrift"/>
                <a:cs typeface="Bahnschrift"/>
              </a:rPr>
              <a:t>%14,7</a:t>
            </a:r>
          </a:p>
        </p:txBody>
      </p:sp>
      <p:sp>
        <p:nvSpPr>
          <p:cNvPr id="13" name="Texte_12_8">
            <a:extLst xmlns:a="http://schemas.openxmlformats.org/drawingml/2006/main">
              <a:ext uri="{FF2B5EF4-FFF2-40B4-BE49-F238E27FC236}">
                <a16:creationId xmlns:a16="http://schemas.microsoft.com/office/drawing/2014/main" id="{AF21DF3B-9DB1-4732-97E3-89DC0B1F741B}"/>
              </a:ext>
            </a:extLst>
          </p:cNvPr>
          <p:cNvSpPr>
            <a:spLocks xmlns:a="http://schemas.openxmlformats.org/drawingml/2006/main" noGrp="1"/>
          </p:cNvSpPr>
          <p:nvPr/>
        </p:nvSpPr>
        <p:spPr>
          <a:xfrm xmlns:a="http://schemas.openxmlformats.org/drawingml/2006/main">
            <a:off x="8382000" y="3429000"/>
            <a:ext cx="3400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0B0E13"/>
                </a:solidFill>
                <a:latin typeface="Segoe UI"/>
                <a:ea typeface="Segoe UI"/>
                <a:cs typeface="Segoe UI"/>
              </a:defRPr>
            </a:pPr>
            <a:r>
              <a:rPr sz="1800" b="0">
                <a:solidFill>
                  <a:srgbClr val="0B0E13"/>
                </a:solidFill>
                <a:latin typeface="Segoe UI"/>
                <a:ea typeface="Segoe UI"/>
                <a:cs typeface="Segoe UI"/>
              </a:rPr>
              <a:t>örnek şirketin olasılığı</a:t>
            </a:r>
          </a:p>
        </p:txBody>
      </p:sp>
      <p:sp>
        <p:nvSpPr>
          <p:cNvPr id="14" name="Texte_12_9">
            <a:extLst xmlns:a="http://schemas.openxmlformats.org/drawingml/2006/main">
              <a:ext uri="{FF2B5EF4-FFF2-40B4-BE49-F238E27FC236}">
                <a16:creationId xmlns:a16="http://schemas.microsoft.com/office/drawing/2014/main" id="{3A51FC9D-AD3F-4608-BCCE-E9A9FC7496BC}"/>
              </a:ext>
            </a:extLst>
          </p:cNvPr>
          <p:cNvSpPr>
            <a:spLocks xmlns:a="http://schemas.openxmlformats.org/drawingml/2006/main" noGrp="1"/>
          </p:cNvSpPr>
          <p:nvPr/>
        </p:nvSpPr>
        <p:spPr>
          <a:xfrm xmlns:a="http://schemas.openxmlformats.org/drawingml/2006/main">
            <a:off x="561975" y="4010025"/>
            <a:ext cx="10896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1">
                <a:solidFill>
                  <a:srgbClr val="0B0E13"/>
                </a:solidFill>
                <a:latin typeface="Segoe UI"/>
                <a:ea typeface="Segoe UI"/>
                <a:cs typeface="Segoe UI"/>
              </a:defRPr>
            </a:pPr>
            <a:r>
              <a:rPr sz="2025" b="1">
                <a:solidFill>
                  <a:srgbClr val="0B0E13"/>
                </a:solidFill>
                <a:latin typeface="Segoe UI"/>
                <a:ea typeface="Segoe UI"/>
                <a:cs typeface="Segoe UI"/>
              </a:rPr>
              <a:t>İlk 234 sıranın görünümü</a:t>
            </a:r>
          </a:p>
        </p:txBody>
      </p:sp>
      <p:sp>
        <p:nvSpPr>
          <p:cNvPr id="34" name="Diagram_12_1">
            <a:extLst xmlns:a="http://schemas.openxmlformats.org/drawingml/2006/main">
              <a:ext uri="{FF2B5EF4-FFF2-40B4-BE49-F238E27FC236}">
                <a16:creationId xmlns:a16="http://schemas.microsoft.com/office/drawing/2014/main" id="{5BE49470-63B4-4273-A02D-82C239B057B9}"/>
              </a:ext>
            </a:extLst>
          </p:cNvPr>
          <p:cNvSpPr>
            <a:spLocks xmlns:a="http://schemas.openxmlformats.org/drawingml/2006/main" noGrp="1"/>
          </p:cNvSpPr>
          <p:nvPr/>
        </p:nvSpPr>
        <p:spPr>
          <a:xfrm xmlns:a="http://schemas.openxmlformats.org/drawingml/2006/main">
            <a:off x="581025" y="4743450"/>
            <a:ext cx="10953750" cy="247650"/>
          </a:xfrm>
          <a:prstGeom xmlns:a="http://schemas.openxmlformats.org/drawingml/2006/main" prst="rect">
            <a:avLst/>
          </a:prstGeom>
          <a:solidFill xmlns:a="http://schemas.openxmlformats.org/drawingml/2006/main">
            <a:srgbClr val="DDE1E4"/>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35" name="Diagram_12_2">
            <a:extLst xmlns:a="http://schemas.openxmlformats.org/drawingml/2006/main">
              <a:ext uri="{FF2B5EF4-FFF2-40B4-BE49-F238E27FC236}">
                <a16:creationId xmlns:a16="http://schemas.microsoft.com/office/drawing/2014/main" id="{7397313D-7710-4D56-A574-E9F9015F5377}"/>
              </a:ext>
            </a:extLst>
          </p:cNvPr>
          <p:cNvSpPr>
            <a:spLocks xmlns:a="http://schemas.openxmlformats.org/drawingml/2006/main" noGrp="1"/>
          </p:cNvSpPr>
          <p:nvPr/>
        </p:nvSpPr>
        <p:spPr>
          <a:xfrm xmlns:a="http://schemas.openxmlformats.org/drawingml/2006/main">
            <a:off x="581025" y="4743450"/>
            <a:ext cx="5476875" cy="247650"/>
          </a:xfrm>
          <a:prstGeom xmlns:a="http://schemas.openxmlformats.org/drawingml/2006/main" prst="rect">
            <a:avLst/>
          </a:prstGeom>
          <a:solidFill xmlns:a="http://schemas.openxmlformats.org/drawingml/2006/main">
            <a:srgbClr val="344BFF"/>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36" name="!!ESIK_CIZGISI">
            <a:extLst xmlns:a="http://schemas.openxmlformats.org/drawingml/2006/main">
              <a:ext uri="{FF2B5EF4-FFF2-40B4-BE49-F238E27FC236}">
                <a16:creationId xmlns:a16="http://schemas.microsoft.com/office/drawing/2014/main" id="{B4EA80E3-6B0A-4535-9836-A15373B14770}"/>
              </a:ext>
            </a:extLst>
          </p:cNvPr>
          <p:cNvSpPr>
            <a:spLocks xmlns:a="http://schemas.openxmlformats.org/drawingml/2006/main" noGrp="1"/>
          </p:cNvSpPr>
          <p:nvPr/>
        </p:nvSpPr>
        <p:spPr>
          <a:xfrm xmlns:a="http://schemas.openxmlformats.org/drawingml/2006/main">
            <a:off x="6038850" y="4476750"/>
            <a:ext cx="38100" cy="781050"/>
          </a:xfrm>
          <a:prstGeom xmlns:a="http://schemas.openxmlformats.org/drawingml/2006/main" prst="rect">
            <a:avLst/>
          </a:prstGeom>
          <a:solidFill xmlns:a="http://schemas.openxmlformats.org/drawingml/2006/main">
            <a:srgbClr val="344BFF"/>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37" name="Diagram_12_4">
            <a:extLst xmlns:a="http://schemas.openxmlformats.org/drawingml/2006/main">
              <a:ext uri="{FF2B5EF4-FFF2-40B4-BE49-F238E27FC236}">
                <a16:creationId xmlns:a16="http://schemas.microsoft.com/office/drawing/2014/main" id="{A26CB545-625D-4166-B025-97B58D110B6E}"/>
              </a:ext>
            </a:extLst>
          </p:cNvPr>
          <p:cNvSpPr>
            <a:spLocks xmlns:a="http://schemas.openxmlformats.org/drawingml/2006/main" noGrp="1"/>
          </p:cNvSpPr>
          <p:nvPr/>
        </p:nvSpPr>
        <p:spPr>
          <a:xfrm xmlns:a="http://schemas.openxmlformats.org/drawingml/2006/main">
            <a:off x="6432387" y="4657725"/>
            <a:ext cx="47625" cy="419100"/>
          </a:xfrm>
          <a:prstGeom xmlns:a="http://schemas.openxmlformats.org/drawingml/2006/main" prst="rect">
            <a:avLst/>
          </a:prstGeom>
          <a:solidFill xmlns:a="http://schemas.openxmlformats.org/drawingml/2006/main">
            <a:srgbClr val="FF725C"/>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15" name="Texte_12_10">
            <a:extLst xmlns:a="http://schemas.openxmlformats.org/drawingml/2006/main">
              <a:ext uri="{FF2B5EF4-FFF2-40B4-BE49-F238E27FC236}">
                <a16:creationId xmlns:a16="http://schemas.microsoft.com/office/drawing/2014/main" id="{B420B36C-146F-4900-A2A7-4C4387EBE067}"/>
              </a:ext>
            </a:extLst>
          </p:cNvPr>
          <p:cNvSpPr>
            <a:spLocks xmlns:a="http://schemas.openxmlformats.org/drawingml/2006/main" noGrp="1"/>
          </p:cNvSpPr>
          <p:nvPr/>
        </p:nvSpPr>
        <p:spPr>
          <a:xfrm xmlns:a="http://schemas.openxmlformats.org/drawingml/2006/main">
            <a:off x="561975" y="5105400"/>
            <a:ext cx="838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0">
                <a:solidFill>
                  <a:srgbClr val="0B0E13"/>
                </a:solidFill>
                <a:latin typeface="Segoe UI"/>
                <a:ea typeface="Segoe UI"/>
                <a:cs typeface="Segoe UI"/>
              </a:defRPr>
            </a:pPr>
            <a:r>
              <a:rPr sz="1650" b="0">
                <a:solidFill>
                  <a:srgbClr val="0B0E13"/>
                </a:solidFill>
                <a:latin typeface="Segoe UI"/>
                <a:ea typeface="Segoe UI"/>
                <a:cs typeface="Segoe UI"/>
              </a:rPr>
              <a:t>1</a:t>
            </a:r>
          </a:p>
        </p:txBody>
      </p:sp>
      <p:sp>
        <p:nvSpPr>
          <p:cNvPr id="16" name="Texte_12_11">
            <a:extLst xmlns:a="http://schemas.openxmlformats.org/drawingml/2006/main">
              <a:ext uri="{FF2B5EF4-FFF2-40B4-BE49-F238E27FC236}">
                <a16:creationId xmlns:a16="http://schemas.microsoft.com/office/drawing/2014/main" id="{245D4ED4-1D63-4A3B-9252-8156BB4863F2}"/>
              </a:ext>
            </a:extLst>
          </p:cNvPr>
          <p:cNvSpPr>
            <a:spLocks xmlns:a="http://schemas.openxmlformats.org/drawingml/2006/main" noGrp="1"/>
          </p:cNvSpPr>
          <p:nvPr/>
        </p:nvSpPr>
        <p:spPr>
          <a:xfrm xmlns:a="http://schemas.openxmlformats.org/drawingml/2006/main">
            <a:off x="4467225" y="5324475"/>
            <a:ext cx="33623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1">
                <a:solidFill>
                  <a:srgbClr val="344BFF"/>
                </a:solidFill>
                <a:latin typeface="Segoe UI"/>
                <a:ea typeface="Segoe UI"/>
                <a:cs typeface="Segoe UI"/>
              </a:defRPr>
            </a:pPr>
            <a:r>
              <a:rPr sz="2025" b="1">
                <a:solidFill>
                  <a:srgbClr val="344BFF"/>
                </a:solidFill>
                <a:latin typeface="Segoe UI"/>
                <a:ea typeface="Segoe UI"/>
                <a:cs typeface="Segoe UI"/>
              </a:rPr>
              <a:t>117 inceleme sınırı</a:t>
            </a:r>
          </a:p>
        </p:txBody>
      </p:sp>
      <p:sp>
        <p:nvSpPr>
          <p:cNvPr id="17" name="Texte_12_12">
            <a:extLst xmlns:a="http://schemas.openxmlformats.org/drawingml/2006/main">
              <a:ext uri="{FF2B5EF4-FFF2-40B4-BE49-F238E27FC236}">
                <a16:creationId xmlns:a16="http://schemas.microsoft.com/office/drawing/2014/main" id="{12015AC0-C1BA-4F29-8186-117F46BAD03E}"/>
              </a:ext>
            </a:extLst>
          </p:cNvPr>
          <p:cNvSpPr>
            <a:spLocks xmlns:a="http://schemas.openxmlformats.org/drawingml/2006/main" noGrp="1"/>
          </p:cNvSpPr>
          <p:nvPr/>
        </p:nvSpPr>
        <p:spPr>
          <a:xfrm xmlns:a="http://schemas.openxmlformats.org/drawingml/2006/main">
            <a:off x="10953750" y="5124450"/>
            <a:ext cx="876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0">
                <a:solidFill>
                  <a:srgbClr val="0B0E13"/>
                </a:solidFill>
                <a:latin typeface="Segoe UI"/>
                <a:ea typeface="Segoe UI"/>
                <a:cs typeface="Segoe UI"/>
              </a:defRPr>
            </a:pPr>
            <a:r>
              <a:rPr sz="1650" b="0">
                <a:solidFill>
                  <a:srgbClr val="0B0E13"/>
                </a:solidFill>
                <a:latin typeface="Segoe UI"/>
                <a:ea typeface="Segoe UI"/>
                <a:cs typeface="Segoe UI"/>
              </a:rPr>
              <a:t>234</a:t>
            </a:r>
          </a:p>
        </p:txBody>
      </p:sp>
      <p:sp>
        <p:nvSpPr>
          <p:cNvPr id="18" name="Texte_12_13">
            <a:extLst xmlns:a="http://schemas.openxmlformats.org/drawingml/2006/main">
              <a:ext uri="{FF2B5EF4-FFF2-40B4-BE49-F238E27FC236}">
                <a16:creationId xmlns:a16="http://schemas.microsoft.com/office/drawing/2014/main" id="{6AD80E11-B505-4787-9A31-378F3C19B1CD}"/>
              </a:ext>
            </a:extLst>
          </p:cNvPr>
          <p:cNvSpPr>
            <a:spLocks xmlns:a="http://schemas.openxmlformats.org/drawingml/2006/main" noGrp="1"/>
          </p:cNvSpPr>
          <p:nvPr/>
        </p:nvSpPr>
        <p:spPr>
          <a:xfrm xmlns:a="http://schemas.openxmlformats.org/drawingml/2006/main">
            <a:off x="561975" y="5715000"/>
            <a:ext cx="5295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625" b="1">
                <a:solidFill>
                  <a:srgbClr val="0B0E13"/>
                </a:solidFill>
                <a:latin typeface="Bahnschrift"/>
                <a:ea typeface="Bahnschrift"/>
                <a:cs typeface="Bahnschrift"/>
              </a:defRPr>
            </a:pPr>
            <a:r>
              <a:rPr sz="2625" b="1">
                <a:solidFill>
                  <a:srgbClr val="0B0E13"/>
                </a:solidFill>
                <a:latin typeface="Bahnschrift"/>
                <a:ea typeface="Bahnschrift"/>
                <a:cs typeface="Bahnschrift"/>
              </a:rPr>
              <a:t>ESIK-05511</a:t>
            </a:r>
          </a:p>
        </p:txBody>
      </p:sp>
      <p:sp>
        <p:nvSpPr>
          <p:cNvPr id="19" name="Texte_12_14">
            <a:extLst xmlns:a="http://schemas.openxmlformats.org/drawingml/2006/main">
              <a:ext uri="{FF2B5EF4-FFF2-40B4-BE49-F238E27FC236}">
                <a16:creationId xmlns:a16="http://schemas.microsoft.com/office/drawing/2014/main" id="{6EA9F9CF-9EBB-471A-8F91-11DF8F2C9158}"/>
              </a:ext>
            </a:extLst>
          </p:cNvPr>
          <p:cNvSpPr>
            <a:spLocks xmlns:a="http://schemas.openxmlformats.org/drawingml/2006/main" noGrp="1"/>
          </p:cNvSpPr>
          <p:nvPr/>
        </p:nvSpPr>
        <p:spPr>
          <a:xfrm xmlns:a="http://schemas.openxmlformats.org/drawingml/2006/main">
            <a:off x="6629400" y="5781675"/>
            <a:ext cx="4991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FF725C"/>
                </a:solidFill>
                <a:latin typeface="Segoe UI"/>
                <a:ea typeface="Segoe UI"/>
                <a:cs typeface="Segoe UI"/>
              </a:defRPr>
            </a:pPr>
            <a:r>
              <a:rPr sz="2175" b="1">
                <a:solidFill>
                  <a:srgbClr val="FF725C"/>
                </a:solidFill>
                <a:latin typeface="Segoe UI"/>
                <a:ea typeface="Segoe UI"/>
                <a:cs typeface="Segoe UI"/>
              </a:rPr>
              <a:t>125. sıra, eksik girdi 0 / 64</a:t>
            </a:r>
          </a:p>
        </p:txBody>
      </p:sp>
      <p:sp>
        <p:nvSpPr>
          <p:cNvPr id="33" name="Texte_12_15">
            <a:extLst xmlns:a="http://schemas.openxmlformats.org/drawingml/2006/main">
              <a:ext uri="{FF2B5EF4-FFF2-40B4-BE49-F238E27FC236}">
                <a16:creationId xmlns:a16="http://schemas.microsoft.com/office/drawing/2014/main" id="{48702747-7BAC-412D-B5C8-1FDE77FEA0E4}"/>
              </a:ext>
            </a:extLst>
          </p:cNvPr>
          <p:cNvSpPr>
            <a:spLocks xmlns:a="http://schemas.openxmlformats.org/drawingml/2006/main" noGrp="1"/>
          </p:cNvSpPr>
          <p:nvPr/>
        </p:nvSpPr>
        <p:spPr>
          <a:xfrm xmlns:a="http://schemas.openxmlformats.org/drawingml/2006/main">
            <a:off x="533400" y="6315075"/>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555E68"/>
                </a:solidFill>
                <a:latin typeface="Segoe UI"/>
                <a:ea typeface="Segoe UI"/>
                <a:cs typeface="Segoe UI"/>
              </a:defRPr>
            </a:pPr>
            <a:r>
              <a:rPr sz="1275" b="0">
                <a:solidFill>
                  <a:srgbClr val="555E68"/>
                </a:solidFill>
                <a:latin typeface="Segoe UI"/>
                <a:ea typeface="Segoe UI"/>
                <a:cs typeface="Segoe UI"/>
              </a:rPr>
              <a:t>Tarihsel testte gerçekten iflas eden kayıt. Düşük tahmin, iflası dışlamaz.</a:t>
            </a:r>
          </a:p>
        </p:txBody>
      </p:sp>
    </p:spTree>
    <p:extLst>
      <p:ext uri="{BB962C8B-B14F-4D97-AF65-F5344CB8AC3E}">
        <p14:creationId xmlns:p14="http://schemas.microsoft.com/office/powerpoint/2010/main" val="1408196674"/>
      </p:ext>
    </p:extLst>
  </p:cSld>
  <mc:AlternateContent xmlns:mc="http://schemas.openxmlformats.org/markup-compatibility/2006" xmlns:p159="http://schemas.microsoft.com/office/powerpoint/2015/09/main" xmlns:p14="http://schemas.microsoft.com/office/powerpoint/2010/main">
    <mc:Choice Requires="p159">
      <p:transition spd="fast" advClick="1" p14:dur="650">
        <p159:morph option="byObject"/>
      </p:transition>
    </mc:Choice>
    <mc:Fallback>
      <p:transition spd="fast" advClick="1">
        <p:fade/>
      </p:transition>
    </mc:Fallback>
  </mc:AlternateContent>
</p:sld>
</file>

<file path=ppt/slides/slide13.xml><?xml version="1.0" encoding="utf-8"?>
<p:sld xmlns:p="http://schemas.openxmlformats.org/presentationml/2006/main" show="1">
  <p:cSld>
    <p:bg>
      <p:bgPr>
        <a:solidFill xmlns:a="http://schemas.openxmlformats.org/drawingml/2006/main">
          <a:srgbClr val="0B0E13"/>
        </a:solidFill>
      </p:bgPr>
    </p:bg>
    <p:spTree>
      <p:nvGrpSpPr>
        <p:cNvPr id="1" name=""/>
        <p:cNvGrpSpPr/>
        <p:nvPr/>
      </p:nvGrpSpPr>
      <p:grpSpPr>
        <a:xfrm xmlns:a="http://schemas.openxmlformats.org/drawingml/2006/main"/>
      </p:grpSpPr>
      <p:sp>
        <p:nvSpPr>
          <p:cNvPr id="11" name="!!ESIK_MARK">
            <a:extLst xmlns:a="http://schemas.openxmlformats.org/drawingml/2006/main">
              <a:ext uri="{FF2B5EF4-FFF2-40B4-BE49-F238E27FC236}">
                <a16:creationId xmlns:a16="http://schemas.microsoft.com/office/drawing/2014/main" id="{FEE43338-14DB-4433-81E3-94021A7C5710}"/>
              </a:ext>
            </a:extLst>
          </p:cNvPr>
          <p:cNvSpPr>
            <a:spLocks xmlns:a="http://schemas.openxmlformats.org/drawingml/2006/main" noGrp="1"/>
          </p:cNvSpPr>
          <p:nvPr/>
        </p:nvSpPr>
        <p:spPr>
          <a:xfrm xmlns:a="http://schemas.openxmlformats.org/drawingml/2006/main">
            <a:off x="533400" y="266700"/>
            <a:ext cx="1190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75" b="1">
                <a:solidFill>
                  <a:srgbClr val="D7FF42"/>
                </a:solidFill>
                <a:latin typeface="Bahnschrift"/>
                <a:ea typeface="Bahnschrift"/>
                <a:cs typeface="Bahnschrift"/>
              </a:defRPr>
            </a:pPr>
            <a:r>
              <a:rPr sz="1575" b="1">
                <a:solidFill>
                  <a:srgbClr val="D7FF42"/>
                </a:solidFill>
                <a:latin typeface="Bahnschrift"/>
                <a:ea typeface="Bahnschrift"/>
                <a:cs typeface="Bahnschrift"/>
              </a:rPr>
              <a:t>EŞİK</a:t>
            </a:r>
          </a:p>
        </p:txBody>
      </p:sp>
      <p:sp>
        <p:nvSpPr>
          <p:cNvPr id="3" name="Texte_13_2">
            <a:extLst xmlns:a="http://schemas.openxmlformats.org/drawingml/2006/main">
              <a:ext uri="{FF2B5EF4-FFF2-40B4-BE49-F238E27FC236}">
                <a16:creationId xmlns:a16="http://schemas.microsoft.com/office/drawing/2014/main" id="{E78DD081-D379-497B-9FEE-BD17B36D68C2}"/>
              </a:ext>
            </a:extLst>
          </p:cNvPr>
          <p:cNvSpPr>
            <a:spLocks xmlns:a="http://schemas.openxmlformats.org/drawingml/2006/main" noGrp="1"/>
          </p:cNvSpPr>
          <p:nvPr/>
        </p:nvSpPr>
        <p:spPr>
          <a:xfrm xmlns:a="http://schemas.openxmlformats.org/drawingml/2006/main">
            <a:off x="1809750" y="295275"/>
            <a:ext cx="7810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ABB1B9"/>
                </a:solidFill>
                <a:latin typeface="Segoe UI"/>
                <a:ea typeface="Segoe UI"/>
                <a:cs typeface="Segoe UI"/>
              </a:defRPr>
            </a:pPr>
            <a:r>
              <a:rPr sz="1275" b="0">
                <a:solidFill>
                  <a:srgbClr val="ABB1B9"/>
                </a:solidFill>
                <a:latin typeface="Segoe UI"/>
                <a:ea typeface="Segoe UI"/>
                <a:cs typeface="Segoe UI"/>
              </a:rPr>
              <a:t>İNCELEME KAPASİTESİ</a:t>
            </a:r>
          </a:p>
        </p:txBody>
      </p:sp>
      <p:sp>
        <p:nvSpPr>
          <p:cNvPr id="4" name="Texte_13_3">
            <a:extLst xmlns:a="http://schemas.openxmlformats.org/drawingml/2006/main">
              <a:ext uri="{FF2B5EF4-FFF2-40B4-BE49-F238E27FC236}">
                <a16:creationId xmlns:a16="http://schemas.microsoft.com/office/drawing/2014/main" id="{9947FAF9-9478-439A-88E9-BA2C2F7B5957}"/>
              </a:ext>
            </a:extLst>
          </p:cNvPr>
          <p:cNvSpPr>
            <a:spLocks xmlns:a="http://schemas.openxmlformats.org/drawingml/2006/main" noGrp="1"/>
          </p:cNvSpPr>
          <p:nvPr/>
        </p:nvSpPr>
        <p:spPr>
          <a:xfrm xmlns:a="http://schemas.openxmlformats.org/drawingml/2006/main">
            <a:off x="10953750" y="266700"/>
            <a:ext cx="723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00" b="0">
                <a:solidFill>
                  <a:srgbClr val="ABB1B9"/>
                </a:solidFill>
                <a:latin typeface="Bahnschrift"/>
                <a:ea typeface="Bahnschrift"/>
                <a:cs typeface="Bahnschrift"/>
              </a:defRPr>
            </a:pPr>
            <a:r>
              <a:rPr sz="1500" b="0">
                <a:solidFill>
                  <a:srgbClr val="ABB1B9"/>
                </a:solidFill>
                <a:latin typeface="Bahnschrift"/>
                <a:ea typeface="Bahnschrift"/>
                <a:cs typeface="Bahnschrift"/>
              </a:rPr>
              <a:t>13</a:t>
            </a:r>
          </a:p>
        </p:txBody>
      </p:sp>
      <p:sp>
        <p:nvSpPr>
          <p:cNvPr id="5" name="Texte_13_4">
            <a:extLst xmlns:a="http://schemas.openxmlformats.org/drawingml/2006/main">
              <a:ext uri="{FF2B5EF4-FFF2-40B4-BE49-F238E27FC236}">
                <a16:creationId xmlns:a16="http://schemas.microsoft.com/office/drawing/2014/main" id="{BA07067F-F275-4544-8581-DC41AFBAB188}"/>
              </a:ext>
            </a:extLst>
          </p:cNvPr>
          <p:cNvSpPr>
            <a:spLocks xmlns:a="http://schemas.openxmlformats.org/drawingml/2006/main" noGrp="1"/>
          </p:cNvSpPr>
          <p:nvPr/>
        </p:nvSpPr>
        <p:spPr>
          <a:xfrm xmlns:a="http://schemas.openxmlformats.org/drawingml/2006/main">
            <a:off x="533400" y="952500"/>
            <a:ext cx="111252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525" b="1">
                <a:solidFill>
                  <a:srgbClr val="F4F5F0"/>
                </a:solidFill>
                <a:latin typeface="Segoe UI"/>
                <a:ea typeface="Segoe UI"/>
                <a:cs typeface="Segoe UI"/>
              </a:defRPr>
            </a:pPr>
            <a:r>
              <a:rPr sz="3525" b="1">
                <a:solidFill>
                  <a:srgbClr val="F4F5F0"/>
                </a:solidFill>
                <a:latin typeface="Segoe UI"/>
                <a:ea typeface="Segoe UI"/>
                <a:cs typeface="Segoe UI"/>
              </a:rPr>
              <a:t>117 ek inceleme, 8 ek vaka</a:t>
            </a:r>
          </a:p>
        </p:txBody>
      </p:sp>
      <p:graphicFrame>
        <p:nvGraphicFramePr>
          <p:cNvPr id="28" name="Chart"/>
          <p:cNvGraphicFramePr/>
          <p:nvPr/>
        </p:nvGraphicFramePr>
        <p:xfrm>
          <a:off xmlns:a="http://schemas.openxmlformats.org/drawingml/2006/main" x="542925" y="2085975"/>
          <a:ext xmlns:a="http://schemas.openxmlformats.org/drawingml/2006/main" cx="11020425" cy="2114550"/>
        </p:xfrm>
        <a:graphic xmlns:a="http://schemas.openxmlformats.org/drawingml/2006/main">
          <a:graphicData uri="http://schemas.openxmlformats.org/drawingml/2006/chart">
            <c:chart xmlns:r="http://schemas.openxmlformats.org/officeDocument/2006/relationships" xmlns:c="http://schemas.openxmlformats.org/drawingml/2006/chart" r:id="R1e1b055aad4349e1"/>
          </a:graphicData>
        </a:graphic>
      </p:graphicFrame>
      <p:graphicFrame>
        <p:nvGraphicFramePr>
          <p:cNvPr id="29" name=""/>
          <p:cNvGraphicFramePr/>
          <p:nvPr/>
        </p:nvGraphicFramePr>
        <p:xfrm>
          <a:off xmlns:a="http://schemas.openxmlformats.org/drawingml/2006/main" x="600075" y="4514850"/>
          <a:ext xmlns:a="http://schemas.openxmlformats.org/drawingml/2006/main" cx="10963275" cy="1638300"/>
        </p:xfrm>
        <a:graphic xmlns:a="http://schemas.openxmlformats.org/drawingml/2006/main">
          <a:graphicData uri="http://schemas.openxmlformats.org/drawingml/2006/table">
            <a:tbl>
              <a:tblPr/>
              <a:tblGrid>
                <a:gridCol w="1724025"/>
                <a:gridCol w="1981200"/>
                <a:gridCol w="2543175"/>
                <a:gridCol w="2047875"/>
                <a:gridCol w="2667000"/>
              </a:tblGrid>
              <a:tr h="409575">
                <a:tc>
                  <a:txBody>
                    <a:bodyPr/>
                    <a:lstStyle/>
                    <a:p>
                      <a:r>
                        <a:rPr sz="1500" b="1">
                          <a:solidFill>
                            <a:srgbClr val="F4F5F0"/>
                          </a:solidFill>
                          <a:latin typeface="Segoe UI"/>
                          <a:ea typeface="Segoe UI"/>
                          <a:cs typeface="Segoe UI"/>
                        </a:rPr>
                        <a:t>Kapasite</a:t>
                      </a:r>
                    </a:p>
                  </a:txBody>
                  <a:tcPr marL="91440" marR="91440" marT="45720" marB="45720">
                    <a:solidFill>
                      <a:srgbClr val="252D39"/>
                    </a:solidFill>
                  </a:tcPr>
                </a:tc>
                <a:tc>
                  <a:txBody>
                    <a:bodyPr/>
                    <a:lstStyle/>
                    <a:p>
                      <a:r>
                        <a:rPr sz="1500" b="1">
                          <a:solidFill>
                            <a:srgbClr val="F4F5F0"/>
                          </a:solidFill>
                          <a:latin typeface="Segoe UI"/>
                          <a:ea typeface="Segoe UI"/>
                          <a:cs typeface="Segoe UI"/>
                        </a:rPr>
                        <a:t>İnceleme</a:t>
                      </a:r>
                    </a:p>
                  </a:txBody>
                  <a:tcPr marL="91440" marR="91440" marT="45720" marB="45720">
                    <a:solidFill>
                      <a:srgbClr val="252D39"/>
                    </a:solidFill>
                  </a:tcPr>
                </a:tc>
                <a:tc>
                  <a:txBody>
                    <a:bodyPr/>
                    <a:lstStyle/>
                    <a:p>
                      <a:r>
                        <a:rPr sz="1500" b="1">
                          <a:solidFill>
                            <a:srgbClr val="F4F5F0"/>
                          </a:solidFill>
                          <a:latin typeface="Segoe UI"/>
                          <a:ea typeface="Segoe UI"/>
                          <a:cs typeface="Segoe UI"/>
                        </a:rPr>
                        <a:t>Yakalanan / 82</a:t>
                      </a:r>
                    </a:p>
                  </a:txBody>
                  <a:tcPr marL="91440" marR="91440" marT="45720" marB="45720">
                    <a:solidFill>
                      <a:srgbClr val="252D39"/>
                    </a:solidFill>
                  </a:tcPr>
                </a:tc>
                <a:tc>
                  <a:txBody>
                    <a:bodyPr/>
                    <a:lstStyle/>
                    <a:p>
                      <a:r>
                        <a:rPr sz="1500" b="1">
                          <a:solidFill>
                            <a:srgbClr val="F4F5F0"/>
                          </a:solidFill>
                          <a:latin typeface="Segoe UI"/>
                          <a:ea typeface="Segoe UI"/>
                          <a:cs typeface="Segoe UI"/>
                        </a:rPr>
                        <a:t>Kaçırılan</a:t>
                      </a:r>
                    </a:p>
                  </a:txBody>
                  <a:tcPr marL="91440" marR="91440" marT="45720" marB="45720">
                    <a:solidFill>
                      <a:srgbClr val="252D39"/>
                    </a:solidFill>
                  </a:tcPr>
                </a:tc>
                <a:tc>
                  <a:txBody>
                    <a:bodyPr/>
                    <a:lstStyle/>
                    <a:p>
                      <a:r>
                        <a:rPr sz="1500" b="1">
                          <a:solidFill>
                            <a:srgbClr val="F4F5F0"/>
                          </a:solidFill>
                          <a:latin typeface="Segoe UI"/>
                          <a:ea typeface="Segoe UI"/>
                          <a:cs typeface="Segoe UI"/>
                        </a:rPr>
                        <a:t>Yakalama</a:t>
                      </a:r>
                    </a:p>
                  </a:txBody>
                  <a:tcPr marL="91440" marR="91440" marT="45720" marB="45720">
                    <a:solidFill>
                      <a:srgbClr val="252D39"/>
                    </a:solidFill>
                  </a:tcPr>
                </a:tc>
              </a:tr>
              <a:tr h="409575">
                <a:tc>
                  <a:txBody>
                    <a:bodyPr/>
                    <a:lstStyle/>
                    <a:p>
                      <a:r>
                        <a:rPr sz="1650" b="0">
                          <a:solidFill>
                            <a:srgbClr val="F4F5F0"/>
                          </a:solidFill>
                          <a:latin typeface="Segoe UI"/>
                          <a:ea typeface="Segoe UI"/>
                          <a:cs typeface="Segoe UI"/>
                        </a:rPr>
                        <a:t>%5</a:t>
                      </a:r>
                    </a:p>
                  </a:txBody>
                  <a:tcPr marL="91440" marR="91440" marT="45720" marB="45720">
                    <a:solidFill>
                      <a:srgbClr val="0B0E13"/>
                    </a:solidFill>
                  </a:tcPr>
                </a:tc>
                <a:tc>
                  <a:txBody>
                    <a:bodyPr/>
                    <a:lstStyle/>
                    <a:p>
                      <a:r>
                        <a:rPr sz="1650" b="0">
                          <a:solidFill>
                            <a:srgbClr val="F4F5F0"/>
                          </a:solidFill>
                          <a:latin typeface="Segoe UI"/>
                          <a:ea typeface="Segoe UI"/>
                          <a:cs typeface="Segoe UI"/>
                        </a:rPr>
                        <a:t>59</a:t>
                      </a:r>
                    </a:p>
                  </a:txBody>
                  <a:tcPr marL="91440" marR="91440" marT="45720" marB="45720">
                    <a:solidFill>
                      <a:srgbClr val="0B0E13"/>
                    </a:solidFill>
                  </a:tcPr>
                </a:tc>
                <a:tc>
                  <a:txBody>
                    <a:bodyPr/>
                    <a:lstStyle/>
                    <a:p>
                      <a:r>
                        <a:rPr sz="1650" b="0">
                          <a:solidFill>
                            <a:srgbClr val="F4F5F0"/>
                          </a:solidFill>
                          <a:latin typeface="Segoe UI"/>
                          <a:ea typeface="Segoe UI"/>
                          <a:cs typeface="Segoe UI"/>
                        </a:rPr>
                        <a:t>47</a:t>
                      </a:r>
                    </a:p>
                  </a:txBody>
                  <a:tcPr marL="91440" marR="91440" marT="45720" marB="45720">
                    <a:solidFill>
                      <a:srgbClr val="0B0E13"/>
                    </a:solidFill>
                  </a:tcPr>
                </a:tc>
                <a:tc>
                  <a:txBody>
                    <a:bodyPr/>
                    <a:lstStyle/>
                    <a:p>
                      <a:r>
                        <a:rPr sz="1650" b="0">
                          <a:solidFill>
                            <a:srgbClr val="F4F5F0"/>
                          </a:solidFill>
                          <a:latin typeface="Segoe UI"/>
                          <a:ea typeface="Segoe UI"/>
                          <a:cs typeface="Segoe UI"/>
                        </a:rPr>
                        <a:t>35</a:t>
                      </a:r>
                    </a:p>
                  </a:txBody>
                  <a:tcPr marL="91440" marR="91440" marT="45720" marB="45720">
                    <a:solidFill>
                      <a:srgbClr val="0B0E13"/>
                    </a:solidFill>
                  </a:tcPr>
                </a:tc>
                <a:tc>
                  <a:txBody>
                    <a:bodyPr/>
                    <a:lstStyle/>
                    <a:p>
                      <a:r>
                        <a:rPr sz="1650" b="0">
                          <a:solidFill>
                            <a:srgbClr val="F4F5F0"/>
                          </a:solidFill>
                          <a:latin typeface="Segoe UI"/>
                          <a:ea typeface="Segoe UI"/>
                          <a:cs typeface="Segoe UI"/>
                        </a:rPr>
                        <a:t>%57,32</a:t>
                      </a:r>
                    </a:p>
                  </a:txBody>
                  <a:tcPr marL="91440" marR="91440" marT="45720" marB="45720">
                    <a:solidFill>
                      <a:srgbClr val="0B0E13"/>
                    </a:solidFill>
                  </a:tcPr>
                </a:tc>
              </a:tr>
              <a:tr h="409575">
                <a:tc>
                  <a:txBody>
                    <a:bodyPr/>
                    <a:lstStyle/>
                    <a:p>
                      <a:r>
                        <a:rPr sz="1650" b="1">
                          <a:solidFill>
                            <a:srgbClr val="0B0E13"/>
                          </a:solidFill>
                          <a:latin typeface="Segoe UI"/>
                          <a:ea typeface="Segoe UI"/>
                          <a:cs typeface="Segoe UI"/>
                        </a:rPr>
                        <a:t>%10</a:t>
                      </a:r>
                    </a:p>
                  </a:txBody>
                  <a:tcPr marL="91440" marR="91440" marT="45720" marB="45720">
                    <a:solidFill>
                      <a:srgbClr val="D7FF42"/>
                    </a:solidFill>
                  </a:tcPr>
                </a:tc>
                <a:tc>
                  <a:txBody>
                    <a:bodyPr/>
                    <a:lstStyle/>
                    <a:p>
                      <a:r>
                        <a:rPr sz="1650" b="1">
                          <a:solidFill>
                            <a:srgbClr val="0B0E13"/>
                          </a:solidFill>
                          <a:latin typeface="Segoe UI"/>
                          <a:ea typeface="Segoe UI"/>
                          <a:cs typeface="Segoe UI"/>
                        </a:rPr>
                        <a:t>117</a:t>
                      </a:r>
                    </a:p>
                  </a:txBody>
                  <a:tcPr marL="91440" marR="91440" marT="45720" marB="45720">
                    <a:solidFill>
                      <a:srgbClr val="D7FF42"/>
                    </a:solidFill>
                  </a:tcPr>
                </a:tc>
                <a:tc>
                  <a:txBody>
                    <a:bodyPr/>
                    <a:lstStyle/>
                    <a:p>
                      <a:r>
                        <a:rPr sz="1650" b="1">
                          <a:solidFill>
                            <a:srgbClr val="0B0E13"/>
                          </a:solidFill>
                          <a:latin typeface="Segoe UI"/>
                          <a:ea typeface="Segoe UI"/>
                          <a:cs typeface="Segoe UI"/>
                        </a:rPr>
                        <a:t>67</a:t>
                      </a:r>
                    </a:p>
                  </a:txBody>
                  <a:tcPr marL="91440" marR="91440" marT="45720" marB="45720">
                    <a:solidFill>
                      <a:srgbClr val="D7FF42"/>
                    </a:solidFill>
                  </a:tcPr>
                </a:tc>
                <a:tc>
                  <a:txBody>
                    <a:bodyPr/>
                    <a:lstStyle/>
                    <a:p>
                      <a:r>
                        <a:rPr sz="1650" b="1">
                          <a:solidFill>
                            <a:srgbClr val="0B0E13"/>
                          </a:solidFill>
                          <a:latin typeface="Segoe UI"/>
                          <a:ea typeface="Segoe UI"/>
                          <a:cs typeface="Segoe UI"/>
                        </a:rPr>
                        <a:t>15</a:t>
                      </a:r>
                    </a:p>
                  </a:txBody>
                  <a:tcPr marL="91440" marR="91440" marT="45720" marB="45720">
                    <a:solidFill>
                      <a:srgbClr val="D7FF42"/>
                    </a:solidFill>
                  </a:tcPr>
                </a:tc>
                <a:tc>
                  <a:txBody>
                    <a:bodyPr/>
                    <a:lstStyle/>
                    <a:p>
                      <a:r>
                        <a:rPr sz="1650" b="1">
                          <a:solidFill>
                            <a:srgbClr val="0B0E13"/>
                          </a:solidFill>
                          <a:latin typeface="Segoe UI"/>
                          <a:ea typeface="Segoe UI"/>
                          <a:cs typeface="Segoe UI"/>
                        </a:rPr>
                        <a:t>%81,71</a:t>
                      </a:r>
                    </a:p>
                  </a:txBody>
                  <a:tcPr marL="91440" marR="91440" marT="45720" marB="45720">
                    <a:solidFill>
                      <a:srgbClr val="D7FF42"/>
                    </a:solidFill>
                  </a:tcPr>
                </a:tc>
              </a:tr>
              <a:tr h="409575">
                <a:tc>
                  <a:txBody>
                    <a:bodyPr/>
                    <a:lstStyle/>
                    <a:p>
                      <a:r>
                        <a:rPr sz="1650" b="0">
                          <a:solidFill>
                            <a:srgbClr val="F4F5F0"/>
                          </a:solidFill>
                          <a:latin typeface="Segoe UI"/>
                          <a:ea typeface="Segoe UI"/>
                          <a:cs typeface="Segoe UI"/>
                        </a:rPr>
                        <a:t>%20</a:t>
                      </a:r>
                    </a:p>
                  </a:txBody>
                  <a:tcPr marL="91440" marR="91440" marT="45720" marB="45720">
                    <a:solidFill>
                      <a:srgbClr val="0B0E13"/>
                    </a:solidFill>
                  </a:tcPr>
                </a:tc>
                <a:tc>
                  <a:txBody>
                    <a:bodyPr/>
                    <a:lstStyle/>
                    <a:p>
                      <a:r>
                        <a:rPr sz="1650" b="0">
                          <a:solidFill>
                            <a:srgbClr val="F4F5F0"/>
                          </a:solidFill>
                          <a:latin typeface="Segoe UI"/>
                          <a:ea typeface="Segoe UI"/>
                          <a:cs typeface="Segoe UI"/>
                        </a:rPr>
                        <a:t>234</a:t>
                      </a:r>
                    </a:p>
                  </a:txBody>
                  <a:tcPr marL="91440" marR="91440" marT="45720" marB="45720">
                    <a:solidFill>
                      <a:srgbClr val="0B0E13"/>
                    </a:solidFill>
                  </a:tcPr>
                </a:tc>
                <a:tc>
                  <a:txBody>
                    <a:bodyPr/>
                    <a:lstStyle/>
                    <a:p>
                      <a:r>
                        <a:rPr sz="1650" b="0">
                          <a:solidFill>
                            <a:srgbClr val="F4F5F0"/>
                          </a:solidFill>
                          <a:latin typeface="Segoe UI"/>
                          <a:ea typeface="Segoe UI"/>
                          <a:cs typeface="Segoe UI"/>
                        </a:rPr>
                        <a:t>75</a:t>
                      </a:r>
                    </a:p>
                  </a:txBody>
                  <a:tcPr marL="91440" marR="91440" marT="45720" marB="45720">
                    <a:solidFill>
                      <a:srgbClr val="0B0E13"/>
                    </a:solidFill>
                  </a:tcPr>
                </a:tc>
                <a:tc>
                  <a:txBody>
                    <a:bodyPr/>
                    <a:lstStyle/>
                    <a:p>
                      <a:r>
                        <a:rPr sz="1650" b="0">
                          <a:solidFill>
                            <a:srgbClr val="F4F5F0"/>
                          </a:solidFill>
                          <a:latin typeface="Segoe UI"/>
                          <a:ea typeface="Segoe UI"/>
                          <a:cs typeface="Segoe UI"/>
                        </a:rPr>
                        <a:t>7</a:t>
                      </a:r>
                    </a:p>
                  </a:txBody>
                  <a:tcPr marL="91440" marR="91440" marT="45720" marB="45720">
                    <a:solidFill>
                      <a:srgbClr val="0B0E13"/>
                    </a:solidFill>
                  </a:tcPr>
                </a:tc>
                <a:tc>
                  <a:txBody>
                    <a:bodyPr/>
                    <a:lstStyle/>
                    <a:p>
                      <a:r>
                        <a:rPr sz="1650" b="0">
                          <a:solidFill>
                            <a:srgbClr val="F4F5F0"/>
                          </a:solidFill>
                          <a:latin typeface="Segoe UI"/>
                          <a:ea typeface="Segoe UI"/>
                          <a:cs typeface="Segoe UI"/>
                        </a:rPr>
                        <a:t>%91,46</a:t>
                      </a:r>
                    </a:p>
                  </a:txBody>
                  <a:tcPr marL="91440" marR="91440" marT="45720" marB="45720">
                    <a:solidFill>
                      <a:srgbClr val="0B0E13"/>
                    </a:solidFill>
                  </a:tcPr>
                </a:tc>
              </a:tr>
            </a:tbl>
          </a:graphicData>
        </a:graphic>
      </p:graphicFrame>
      <p:sp>
        <p:nvSpPr>
          <p:cNvPr id="21" name="!!ESIK_THRESHOLD">
            <a:extLst xmlns:a="http://schemas.openxmlformats.org/drawingml/2006/main">
              <a:ext uri="{FF2B5EF4-FFF2-40B4-BE49-F238E27FC236}">
                <a16:creationId xmlns:a16="http://schemas.microsoft.com/office/drawing/2014/main" id="{F32D0744-FE12-4C1C-A990-A09D7712136F}"/>
              </a:ext>
            </a:extLst>
          </p:cNvPr>
          <p:cNvSpPr>
            <a:spLocks xmlns:a="http://schemas.openxmlformats.org/drawingml/2006/main" noGrp="1"/>
          </p:cNvSpPr>
          <p:nvPr/>
        </p:nvSpPr>
        <p:spPr>
          <a:xfrm xmlns:a="http://schemas.openxmlformats.org/drawingml/2006/main">
            <a:off x="581025" y="4362450"/>
            <a:ext cx="10953750" cy="28575"/>
          </a:xfrm>
          <a:prstGeom xmlns:a="http://schemas.openxmlformats.org/drawingml/2006/main" prst="rect">
            <a:avLst/>
          </a:prstGeom>
          <a:solidFill xmlns:a="http://schemas.openxmlformats.org/drawingml/2006/main">
            <a:srgbClr val="D7FF42"/>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6" name="Texte_13_5">
            <a:extLst xmlns:a="http://schemas.openxmlformats.org/drawingml/2006/main">
              <a:ext uri="{FF2B5EF4-FFF2-40B4-BE49-F238E27FC236}">
                <a16:creationId xmlns:a16="http://schemas.microsoft.com/office/drawing/2014/main" id="{F1B0112A-D641-4406-8EAC-E2DDA1A8B6E2}"/>
              </a:ext>
            </a:extLst>
          </p:cNvPr>
          <p:cNvSpPr>
            <a:spLocks xmlns:a="http://schemas.openxmlformats.org/drawingml/2006/main" noGrp="1"/>
          </p:cNvSpPr>
          <p:nvPr/>
        </p:nvSpPr>
        <p:spPr>
          <a:xfrm xmlns:a="http://schemas.openxmlformats.org/drawingml/2006/main">
            <a:off x="533400" y="6315075"/>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ABB1B9"/>
                </a:solidFill>
                <a:latin typeface="Segoe UI"/>
                <a:ea typeface="Segoe UI"/>
                <a:cs typeface="Segoe UI"/>
              </a:defRPr>
            </a:pPr>
            <a:r>
              <a:rPr sz="1275" b="0">
                <a:solidFill>
                  <a:srgbClr val="ABB1B9"/>
                </a:solidFill>
                <a:latin typeface="Segoe UI"/>
                <a:ea typeface="Segoe UI"/>
                <a:cs typeface="Segoe UI"/>
              </a:rPr>
              <a:t>İlk %10’dan %20’ye geçiş. Aynı tarihsel skorlar. Analist maliyetini ayrıca ölçmek gerekiyor.</a:t>
            </a:r>
          </a:p>
        </p:txBody>
      </p:sp>
    </p:spTree>
    <p:extLst>
      <p:ext uri="{BB962C8B-B14F-4D97-AF65-F5344CB8AC3E}">
        <p14:creationId xmlns:p14="http://schemas.microsoft.com/office/powerpoint/2010/main" val="948021192"/>
      </p:ext>
    </p:extLst>
  </p:cSld>
  <mc:AlternateContent xmlns:mc="http://schemas.openxmlformats.org/markup-compatibility/2006" xmlns:p159="http://schemas.microsoft.com/office/powerpoint/2015/09/main" xmlns:p14="http://schemas.microsoft.com/office/powerpoint/2010/main">
    <mc:Choice Requires="p159">
      <p:transition spd="fast" advClick="1" p14:dur="650">
        <p159:morph option="byObject"/>
      </p:transition>
    </mc:Choice>
    <mc:Fallback>
      <p:transition spd="fast" advClick="1">
        <p:fade/>
      </p:transition>
    </mc:Fallback>
  </mc:AlternateContent>
</p:sld>
</file>

<file path=ppt/slides/slide14.xml><?xml version="1.0" encoding="utf-8"?>
<p:sld xmlns:p="http://schemas.openxmlformats.org/presentationml/2006/main" show="1">
  <p:cSld>
    <p:bg>
      <p:bgPr>
        <a:solidFill xmlns:a="http://schemas.openxmlformats.org/drawingml/2006/main">
          <a:srgbClr val="0B0E13"/>
        </a:solidFill>
      </p:bgPr>
    </p:bg>
    <p:spTree>
      <p:nvGrpSpPr>
        <p:cNvPr id="1" name=""/>
        <p:cNvGrpSpPr/>
        <p:nvPr/>
      </p:nvGrpSpPr>
      <p:grpSpPr>
        <a:xfrm xmlns:a="http://schemas.openxmlformats.org/drawingml/2006/main"/>
      </p:grpSpPr>
      <p:sp>
        <p:nvSpPr>
          <p:cNvPr id="10" name="!!ESIK_MARK">
            <a:extLst xmlns:a="http://schemas.openxmlformats.org/drawingml/2006/main">
              <a:ext uri="{FF2B5EF4-FFF2-40B4-BE49-F238E27FC236}">
                <a16:creationId xmlns:a16="http://schemas.microsoft.com/office/drawing/2014/main" id="{A2B7020A-9326-4005-85A6-5967751C99C1}"/>
              </a:ext>
            </a:extLst>
          </p:cNvPr>
          <p:cNvSpPr>
            <a:spLocks xmlns:a="http://schemas.openxmlformats.org/drawingml/2006/main" noGrp="1"/>
          </p:cNvSpPr>
          <p:nvPr/>
        </p:nvSpPr>
        <p:spPr>
          <a:xfrm xmlns:a="http://schemas.openxmlformats.org/drawingml/2006/main">
            <a:off x="533400" y="266700"/>
            <a:ext cx="1190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75" b="1">
                <a:solidFill>
                  <a:srgbClr val="D7FF42"/>
                </a:solidFill>
                <a:latin typeface="Bahnschrift"/>
                <a:ea typeface="Bahnschrift"/>
                <a:cs typeface="Bahnschrift"/>
              </a:defRPr>
            </a:pPr>
            <a:r>
              <a:rPr sz="1575" b="1">
                <a:solidFill>
                  <a:srgbClr val="D7FF42"/>
                </a:solidFill>
                <a:latin typeface="Bahnschrift"/>
                <a:ea typeface="Bahnschrift"/>
                <a:cs typeface="Bahnschrift"/>
              </a:rPr>
              <a:t>EŞİK</a:t>
            </a:r>
          </a:p>
        </p:txBody>
      </p:sp>
      <p:sp>
        <p:nvSpPr>
          <p:cNvPr id="3" name="Texte_14_2">
            <a:extLst xmlns:a="http://schemas.openxmlformats.org/drawingml/2006/main">
              <a:ext uri="{FF2B5EF4-FFF2-40B4-BE49-F238E27FC236}">
                <a16:creationId xmlns:a16="http://schemas.microsoft.com/office/drawing/2014/main" id="{BC87DEEE-98F5-4FF8-9DB9-22E4DBBB6B5E}"/>
              </a:ext>
            </a:extLst>
          </p:cNvPr>
          <p:cNvSpPr>
            <a:spLocks xmlns:a="http://schemas.openxmlformats.org/drawingml/2006/main" noGrp="1"/>
          </p:cNvSpPr>
          <p:nvPr/>
        </p:nvSpPr>
        <p:spPr>
          <a:xfrm xmlns:a="http://schemas.openxmlformats.org/drawingml/2006/main">
            <a:off x="1809750" y="295275"/>
            <a:ext cx="7810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ABB1B9"/>
                </a:solidFill>
                <a:latin typeface="Segoe UI"/>
                <a:ea typeface="Segoe UI"/>
                <a:cs typeface="Segoe UI"/>
              </a:defRPr>
            </a:pPr>
            <a:r>
              <a:rPr sz="1275" b="0">
                <a:solidFill>
                  <a:srgbClr val="ABB1B9"/>
                </a:solidFill>
                <a:latin typeface="Segoe UI"/>
                <a:ea typeface="Segoe UI"/>
                <a:cs typeface="Segoe UI"/>
              </a:rPr>
              <a:t>CANLI DEMO</a:t>
            </a:r>
          </a:p>
        </p:txBody>
      </p:sp>
      <p:sp>
        <p:nvSpPr>
          <p:cNvPr id="4" name="Texte_14_3">
            <a:extLst xmlns:a="http://schemas.openxmlformats.org/drawingml/2006/main">
              <a:ext uri="{FF2B5EF4-FFF2-40B4-BE49-F238E27FC236}">
                <a16:creationId xmlns:a16="http://schemas.microsoft.com/office/drawing/2014/main" id="{22D3A8C3-A483-46C0-94BF-1FF1FA2E41BE}"/>
              </a:ext>
            </a:extLst>
          </p:cNvPr>
          <p:cNvSpPr>
            <a:spLocks xmlns:a="http://schemas.openxmlformats.org/drawingml/2006/main" noGrp="1"/>
          </p:cNvSpPr>
          <p:nvPr/>
        </p:nvSpPr>
        <p:spPr>
          <a:xfrm xmlns:a="http://schemas.openxmlformats.org/drawingml/2006/main">
            <a:off x="10953750" y="266700"/>
            <a:ext cx="723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00" b="0">
                <a:solidFill>
                  <a:srgbClr val="ABB1B9"/>
                </a:solidFill>
                <a:latin typeface="Bahnschrift"/>
                <a:ea typeface="Bahnschrift"/>
                <a:cs typeface="Bahnschrift"/>
              </a:defRPr>
            </a:pPr>
            <a:r>
              <a:rPr sz="1500" b="0">
                <a:solidFill>
                  <a:srgbClr val="ABB1B9"/>
                </a:solidFill>
                <a:latin typeface="Bahnschrift"/>
                <a:ea typeface="Bahnschrift"/>
                <a:cs typeface="Bahnschrift"/>
              </a:rPr>
              <a:t>14</a:t>
            </a:r>
          </a:p>
        </p:txBody>
      </p:sp>
      <p:sp>
        <p:nvSpPr>
          <p:cNvPr id="5" name="Texte_14_4">
            <a:extLst xmlns:a="http://schemas.openxmlformats.org/drawingml/2006/main">
              <a:ext uri="{FF2B5EF4-FFF2-40B4-BE49-F238E27FC236}">
                <a16:creationId xmlns:a16="http://schemas.microsoft.com/office/drawing/2014/main" id="{84477DF4-127A-4514-A465-40B748F6F6A0}"/>
              </a:ext>
            </a:extLst>
          </p:cNvPr>
          <p:cNvSpPr>
            <a:spLocks xmlns:a="http://schemas.openxmlformats.org/drawingml/2006/main" noGrp="1"/>
          </p:cNvSpPr>
          <p:nvPr/>
        </p:nvSpPr>
        <p:spPr>
          <a:xfrm xmlns:a="http://schemas.openxmlformats.org/drawingml/2006/main">
            <a:off x="533400" y="952500"/>
            <a:ext cx="111252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225" b="1">
                <a:solidFill>
                  <a:srgbClr val="F4F5F0"/>
                </a:solidFill>
                <a:latin typeface="Segoe UI"/>
                <a:ea typeface="Segoe UI"/>
                <a:cs typeface="Segoe UI"/>
              </a:defRPr>
            </a:pPr>
            <a:r>
              <a:rPr sz="3225" b="1">
                <a:solidFill>
                  <a:srgbClr val="F4F5F0"/>
                </a:solidFill>
                <a:latin typeface="Segoe UI"/>
                <a:ea typeface="Segoe UI"/>
                <a:cs typeface="Segoe UI"/>
              </a:rPr>
              <a:t>Seç. İncele. Senaryoyu dene. Raporla.</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7c6b27dd40e04023"/>
          <a:stretch xmlns:a="http://schemas.openxmlformats.org/drawingml/2006/main"/>
        </p:blipFill>
        <p:spPr>
          <a:xfrm xmlns:a="http://schemas.openxmlformats.org/drawingml/2006/main">
            <a:off x="2238996" y="2057400"/>
            <a:ext cx="4770783" cy="3429000"/>
          </a:xfrm>
          <a:prstGeom xmlns:a="http://schemas.openxmlformats.org/drawingml/2006/main" prst="rect">
            <a:avLst/>
          </a:prstGeom>
        </p:spPr>
      </p:pic>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a64ee5d10a8c444a"/>
          <a:stretch xmlns:a="http://schemas.openxmlformats.org/drawingml/2006/main"/>
        </p:blipFill>
        <p:spPr>
          <a:xfrm xmlns:a="http://schemas.openxmlformats.org/drawingml/2006/main">
            <a:off x="8848725" y="2352675"/>
            <a:ext cx="2762250" cy="2762250"/>
          </a:xfrm>
          <a:prstGeom xmlns:a="http://schemas.openxmlformats.org/drawingml/2006/main" prst="rect">
            <a:avLst/>
          </a:prstGeom>
        </p:spPr>
      </p:pic>
      <p:sp>
        <p:nvSpPr>
          <p:cNvPr id="20" name="!!ESIK_THRESHOLD">
            <a:extLst xmlns:a="http://schemas.openxmlformats.org/drawingml/2006/main">
              <a:ext uri="{FF2B5EF4-FFF2-40B4-BE49-F238E27FC236}">
                <a16:creationId xmlns:a16="http://schemas.microsoft.com/office/drawing/2014/main" id="{86E9D43D-D724-4CEB-B1C7-8658FC2A62D6}"/>
              </a:ext>
            </a:extLst>
          </p:cNvPr>
          <p:cNvSpPr>
            <a:spLocks xmlns:a="http://schemas.openxmlformats.org/drawingml/2006/main" noGrp="1"/>
          </p:cNvSpPr>
          <p:nvPr/>
        </p:nvSpPr>
        <p:spPr>
          <a:xfrm xmlns:a="http://schemas.openxmlformats.org/drawingml/2006/main">
            <a:off x="571500" y="1828800"/>
            <a:ext cx="10972800" cy="38100"/>
          </a:xfrm>
          <a:prstGeom xmlns:a="http://schemas.openxmlformats.org/drawingml/2006/main" prst="rect">
            <a:avLst/>
          </a:prstGeom>
          <a:solidFill xmlns:a="http://schemas.openxmlformats.org/drawingml/2006/main">
            <a:srgbClr val="D7FF42"/>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6" name="Texte_14_5">
            <a:extLst xmlns:a="http://schemas.openxmlformats.org/drawingml/2006/main">
              <a:ext uri="{FF2B5EF4-FFF2-40B4-BE49-F238E27FC236}">
                <a16:creationId xmlns:a16="http://schemas.microsoft.com/office/drawing/2014/main" id="{BBC8F798-A6A2-4BC0-917C-28697C489EE3}"/>
              </a:ext>
            </a:extLst>
          </p:cNvPr>
          <p:cNvSpPr>
            <a:spLocks xmlns:a="http://schemas.openxmlformats.org/drawingml/2006/main" noGrp="1"/>
          </p:cNvSpPr>
          <p:nvPr/>
        </p:nvSpPr>
        <p:spPr>
          <a:xfrm xmlns:a="http://schemas.openxmlformats.org/drawingml/2006/main">
            <a:off x="552450" y="5705475"/>
            <a:ext cx="2667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1">
                <a:solidFill>
                  <a:srgbClr val="D7FF42"/>
                </a:solidFill>
                <a:latin typeface="Bahnschrift"/>
                <a:ea typeface="Bahnschrift"/>
                <a:cs typeface="Bahnschrift"/>
              </a:defRPr>
            </a:pPr>
            <a:r>
              <a:rPr sz="2025" b="1">
                <a:solidFill>
                  <a:srgbClr val="D7FF42"/>
                </a:solidFill>
                <a:latin typeface="Bahnschrift"/>
                <a:ea typeface="Bahnschrift"/>
                <a:cs typeface="Bahnschrift"/>
              </a:rPr>
              <a:t>01 · Öncelik listesi</a:t>
            </a:r>
          </a:p>
        </p:txBody>
      </p:sp>
      <p:sp>
        <p:nvSpPr>
          <p:cNvPr id="21" name="Texte_14_6">
            <a:extLst xmlns:a="http://schemas.openxmlformats.org/drawingml/2006/main">
              <a:ext uri="{FF2B5EF4-FFF2-40B4-BE49-F238E27FC236}">
                <a16:creationId xmlns:a16="http://schemas.microsoft.com/office/drawing/2014/main" id="{7046D7F6-71B5-449A-A59F-1F54FD34266F}"/>
              </a:ext>
            </a:extLst>
          </p:cNvPr>
          <p:cNvSpPr>
            <a:spLocks xmlns:a="http://schemas.openxmlformats.org/drawingml/2006/main" noGrp="1"/>
          </p:cNvSpPr>
          <p:nvPr/>
        </p:nvSpPr>
        <p:spPr>
          <a:xfrm xmlns:a="http://schemas.openxmlformats.org/drawingml/2006/main">
            <a:off x="3533775" y="5705475"/>
            <a:ext cx="36385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1">
                <a:solidFill>
                  <a:srgbClr val="D7FF42"/>
                </a:solidFill>
                <a:latin typeface="Bahnschrift"/>
                <a:ea typeface="Bahnschrift"/>
                <a:cs typeface="Bahnschrift"/>
              </a:defRPr>
            </a:pPr>
            <a:r>
              <a:rPr sz="2025" b="1">
                <a:solidFill>
                  <a:srgbClr val="D7FF42"/>
                </a:solidFill>
                <a:latin typeface="Bahnschrift"/>
                <a:ea typeface="Bahnschrift"/>
                <a:cs typeface="Bahnschrift"/>
              </a:rPr>
              <a:t>02 · ESIK-05817</a:t>
            </a:r>
          </a:p>
        </p:txBody>
      </p:sp>
      <p:sp>
        <p:nvSpPr>
          <p:cNvPr id="22" name="Texte_14_7">
            <a:extLst xmlns:a="http://schemas.openxmlformats.org/drawingml/2006/main">
              <a:ext uri="{FF2B5EF4-FFF2-40B4-BE49-F238E27FC236}">
                <a16:creationId xmlns:a16="http://schemas.microsoft.com/office/drawing/2014/main" id="{7C43FCC3-4916-4E97-89B8-BC0792479A5C}"/>
              </a:ext>
            </a:extLst>
          </p:cNvPr>
          <p:cNvSpPr>
            <a:spLocks xmlns:a="http://schemas.openxmlformats.org/drawingml/2006/main" noGrp="1"/>
          </p:cNvSpPr>
          <p:nvPr/>
        </p:nvSpPr>
        <p:spPr>
          <a:xfrm xmlns:a="http://schemas.openxmlformats.org/drawingml/2006/main">
            <a:off x="8848725" y="5295900"/>
            <a:ext cx="276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1">
                <a:solidFill>
                  <a:srgbClr val="D7FF42"/>
                </a:solidFill>
                <a:latin typeface="Segoe UI"/>
                <a:ea typeface="Segoe UI"/>
                <a:cs typeface="Segoe UI"/>
              </a:defRPr>
            </a:pPr>
            <a:r>
              <a:rPr sz="2025" b="1">
                <a:solidFill>
                  <a:srgbClr val="D7FF42"/>
                </a:solidFill>
                <a:latin typeface="Segoe UI"/>
                <a:ea typeface="Segoe UI"/>
                <a:cs typeface="Segoe UI"/>
              </a:rPr>
              <a:t>03 · Ses ve rapor</a:t>
            </a:r>
          </a:p>
        </p:txBody>
      </p:sp>
      <p:sp>
        <p:nvSpPr>
          <p:cNvPr id="23" name="Texte_14_8">
            <a:extLst xmlns:a="http://schemas.openxmlformats.org/drawingml/2006/main">
              <a:ext uri="{FF2B5EF4-FFF2-40B4-BE49-F238E27FC236}">
                <a16:creationId xmlns:a16="http://schemas.microsoft.com/office/drawing/2014/main" id="{ACE6AB44-9452-4A8F-996C-EDC08796DA93}"/>
              </a:ext>
            </a:extLst>
          </p:cNvPr>
          <p:cNvSpPr>
            <a:spLocks xmlns:a="http://schemas.openxmlformats.org/drawingml/2006/main" noGrp="1"/>
          </p:cNvSpPr>
          <p:nvPr/>
        </p:nvSpPr>
        <p:spPr>
          <a:xfrm xmlns:a="http://schemas.openxmlformats.org/drawingml/2006/main">
            <a:off x="533400" y="6372225"/>
            <a:ext cx="11125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00" b="0">
                <a:solidFill>
                  <a:srgbClr val="ABB1B9"/>
                </a:solidFill>
                <a:latin typeface="Segoe UI"/>
                <a:ea typeface="Segoe UI"/>
                <a:cs typeface="Segoe UI"/>
              </a:defRPr>
            </a:pPr>
            <a:r>
              <a:rPr sz="1200" b="0">
                <a:solidFill>
                  <a:srgbClr val="ABB1B9"/>
                </a:solidFill>
                <a:latin typeface="Segoe UI"/>
                <a:ea typeface="Segoe UI"/>
                <a:cs typeface="Segoe UI"/>
              </a:rPr>
              <a:t>Canlı demo: şirketi aç → kanıtı ve eksik girdiyi incele → senaryoyu dene → raporu önizle ve gönder.</a:t>
            </a:r>
          </a:p>
        </p:txBody>
      </p:sp>
    </p:spTree>
    <p:extLst>
      <p:ext uri="{BB962C8B-B14F-4D97-AF65-F5344CB8AC3E}">
        <p14:creationId xmlns:p14="http://schemas.microsoft.com/office/powerpoint/2010/main" val="2094825841"/>
      </p:ext>
    </p:extLst>
  </p:cSld>
  <p:transition spd="fast"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0" nodeType="clickEffect">
                            <p:stCondLst>
                              <p:cond delay="0"/>
                            </p:stCondLst>
                            <p:childTnLst>
                              <p:set>
                                <p:cBhvr>
                                  <p:cTn id="5" dur="1" fill="hold">
                                    <p:stCondLst>
                                      <p:cond delay="0"/>
                                    </p:stCondLst>
                                  </p:cTn>
                                  <p:tgtEl>
                                    <p:spTgt spid="31"/>
                                  </p:tgtEl>
                                  <p:attrNameLst>
                                    <p:attrName>style.visibility</p:attrName>
                                  </p:attrNameLst>
                                </p:cBhvr>
                                <p:to>
                                  <p:strVal val="visible"/>
                                </p:to>
                              </p:set>
                              <p:animEffect transition="in" filter="fade">
                                <p:cBhvr>
                                  <p:cTn id="6" dur="420"/>
                                  <p:tgtEl>
                                    <p:spTgt spid="31"/>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20"/>
                                  <p:tgtEl>
                                    <p:spTgt spid="22"/>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p="http://schemas.openxmlformats.org/presentationml/2006/main" show="1">
  <p:cSld>
    <p:bg>
      <p:bgPr>
        <a:solidFill xmlns:a="http://schemas.openxmlformats.org/drawingml/2006/main">
          <a:srgbClr val="0B0E13"/>
        </a:solidFill>
      </p:bgPr>
    </p:bg>
    <p:spTree>
      <p:nvGrpSpPr>
        <p:cNvPr id="1" name=""/>
        <p:cNvGrpSpPr/>
        <p:nvPr/>
      </p:nvGrpSpPr>
      <p:grpSpPr>
        <a:xfrm xmlns:a="http://schemas.openxmlformats.org/drawingml/2006/main"/>
      </p:grpSpPr>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028b693ab95e4f9a"/>
          <a:stretch xmlns:a="http://schemas.openxmlformats.org/drawingml/2006/main"/>
        </p:blipFill>
        <p:spPr>
          <a:xfrm xmlns:a="http://schemas.openxmlformats.org/drawingml/2006/main">
            <a:off x="7477125" y="1476375"/>
            <a:ext cx="4191000" cy="4191000"/>
          </a:xfrm>
          <a:prstGeom xmlns:a="http://schemas.openxmlformats.org/drawingml/2006/main" prst="rect">
            <a:avLst/>
          </a:prstGeom>
        </p:spPr>
      </p:pic>
      <p:sp>
        <p:nvSpPr>
          <p:cNvPr id="10" name="!!ESIK_MARK">
            <a:extLst xmlns:a="http://schemas.openxmlformats.org/drawingml/2006/main">
              <a:ext uri="{FF2B5EF4-FFF2-40B4-BE49-F238E27FC236}">
                <a16:creationId xmlns:a16="http://schemas.microsoft.com/office/drawing/2014/main" id="{5DB81811-8CA0-4681-981F-BE3BD230D508}"/>
              </a:ext>
            </a:extLst>
          </p:cNvPr>
          <p:cNvSpPr>
            <a:spLocks xmlns:a="http://schemas.openxmlformats.org/drawingml/2006/main" noGrp="1"/>
          </p:cNvSpPr>
          <p:nvPr/>
        </p:nvSpPr>
        <p:spPr>
          <a:xfrm xmlns:a="http://schemas.openxmlformats.org/drawingml/2006/main">
            <a:off x="542925" y="390525"/>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1">
                <a:solidFill>
                  <a:srgbClr val="D7FF42"/>
                </a:solidFill>
                <a:latin typeface="Bahnschrift"/>
                <a:ea typeface="Bahnschrift"/>
                <a:cs typeface="Bahnschrift"/>
              </a:defRPr>
            </a:pPr>
            <a:r>
              <a:rPr sz="2400" b="1">
                <a:solidFill>
                  <a:srgbClr val="D7FF42"/>
                </a:solidFill>
                <a:latin typeface="Bahnschrift"/>
                <a:ea typeface="Bahnschrift"/>
                <a:cs typeface="Bahnschrift"/>
              </a:rPr>
              <a:t>EŞİK</a:t>
            </a:r>
          </a:p>
        </p:txBody>
      </p:sp>
      <p:sp>
        <p:nvSpPr>
          <p:cNvPr id="3" name="Texte_15_2">
            <a:extLst xmlns:a="http://schemas.openxmlformats.org/drawingml/2006/main">
              <a:ext uri="{FF2B5EF4-FFF2-40B4-BE49-F238E27FC236}">
                <a16:creationId xmlns:a16="http://schemas.microsoft.com/office/drawing/2014/main" id="{583F5399-484D-4BDC-AF1D-9BE36F697DC7}"/>
              </a:ext>
            </a:extLst>
          </p:cNvPr>
          <p:cNvSpPr>
            <a:spLocks xmlns:a="http://schemas.openxmlformats.org/drawingml/2006/main" noGrp="1"/>
          </p:cNvSpPr>
          <p:nvPr/>
        </p:nvSpPr>
        <p:spPr>
          <a:xfrm xmlns:a="http://schemas.openxmlformats.org/drawingml/2006/main">
            <a:off x="514350" y="1590675"/>
            <a:ext cx="714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5250" b="1">
                <a:solidFill>
                  <a:srgbClr val="F4F5F0"/>
                </a:solidFill>
                <a:latin typeface="Bahnschrift"/>
                <a:ea typeface="Bahnschrift"/>
                <a:cs typeface="Bahnschrift"/>
              </a:defRPr>
            </a:pPr>
            <a:r>
              <a:rPr sz="5250" b="1">
                <a:solidFill>
                  <a:srgbClr val="F4F5F0"/>
                </a:solidFill>
                <a:latin typeface="Bahnschrift"/>
                <a:ea typeface="Bahnschrift"/>
                <a:cs typeface="Bahnschrift"/>
              </a:rPr>
              <a:t>117 inceleme</a:t>
            </a:r>
          </a:p>
        </p:txBody>
      </p:sp>
      <p:sp>
        <p:nvSpPr>
          <p:cNvPr id="4" name="Texte_15_3">
            <a:extLst xmlns:a="http://schemas.openxmlformats.org/drawingml/2006/main">
              <a:ext uri="{FF2B5EF4-FFF2-40B4-BE49-F238E27FC236}">
                <a16:creationId xmlns:a16="http://schemas.microsoft.com/office/drawing/2014/main" id="{844DB41A-D288-4CA1-BB80-3E4C64A35F57}"/>
              </a:ext>
            </a:extLst>
          </p:cNvPr>
          <p:cNvSpPr>
            <a:spLocks xmlns:a="http://schemas.openxmlformats.org/drawingml/2006/main" noGrp="1"/>
          </p:cNvSpPr>
          <p:nvPr/>
        </p:nvSpPr>
        <p:spPr>
          <a:xfrm xmlns:a="http://schemas.openxmlformats.org/drawingml/2006/main">
            <a:off x="514350" y="2543175"/>
            <a:ext cx="71723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5550" b="1">
                <a:solidFill>
                  <a:srgbClr val="D7FF42"/>
                </a:solidFill>
                <a:latin typeface="Bahnschrift"/>
                <a:ea typeface="Bahnschrift"/>
                <a:cs typeface="Bahnschrift"/>
              </a:defRPr>
            </a:pPr>
            <a:r>
              <a:rPr sz="5550" b="1">
                <a:solidFill>
                  <a:srgbClr val="D7FF42"/>
                </a:solidFill>
                <a:latin typeface="Bahnschrift"/>
                <a:ea typeface="Bahnschrift"/>
                <a:cs typeface="Bahnschrift"/>
              </a:rPr>
              <a:t>67 iflas</a:t>
            </a:r>
            <a:r>
              <a:rPr sz="5550" b="1">
                <a:solidFill>
                  <a:srgbClr val="D7FF42"/>
                </a:solidFill>
                <a:latin typeface="Bahnschrift"/>
                <a:ea typeface="Bahnschrift"/>
                <a:cs typeface="Bahnschrift"/>
              </a:rPr>
              <a:t> vakası</a:t>
            </a:r>
          </a:p>
        </p:txBody>
      </p:sp>
      <p:sp>
        <p:nvSpPr>
          <p:cNvPr id="18" name="!!ESIK_THRESHOLD">
            <a:extLst xmlns:a="http://schemas.openxmlformats.org/drawingml/2006/main">
              <a:ext uri="{FF2B5EF4-FFF2-40B4-BE49-F238E27FC236}">
                <a16:creationId xmlns:a16="http://schemas.microsoft.com/office/drawing/2014/main" id="{6CF80C17-A40A-4350-B158-FEDB3EFFDE16}"/>
              </a:ext>
            </a:extLst>
          </p:cNvPr>
          <p:cNvSpPr>
            <a:spLocks xmlns:a="http://schemas.openxmlformats.org/drawingml/2006/main" noGrp="1"/>
          </p:cNvSpPr>
          <p:nvPr/>
        </p:nvSpPr>
        <p:spPr>
          <a:xfrm xmlns:a="http://schemas.openxmlformats.org/drawingml/2006/main">
            <a:off x="581025" y="3857625"/>
            <a:ext cx="6315075" cy="38100"/>
          </a:xfrm>
          <a:prstGeom xmlns:a="http://schemas.openxmlformats.org/drawingml/2006/main" prst="rect">
            <a:avLst/>
          </a:prstGeom>
          <a:solidFill xmlns:a="http://schemas.openxmlformats.org/drawingml/2006/main">
            <a:srgbClr val="D7FF42"/>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5" name="Texte_15_4">
            <a:extLst xmlns:a="http://schemas.openxmlformats.org/drawingml/2006/main">
              <a:ext uri="{FF2B5EF4-FFF2-40B4-BE49-F238E27FC236}">
                <a16:creationId xmlns:a16="http://schemas.microsoft.com/office/drawing/2014/main" id="{18A56861-C8DA-4D58-A243-8CD911501AB1}"/>
              </a:ext>
            </a:extLst>
          </p:cNvPr>
          <p:cNvSpPr>
            <a:spLocks xmlns:a="http://schemas.openxmlformats.org/drawingml/2006/main" noGrp="1"/>
          </p:cNvSpPr>
          <p:nvPr/>
        </p:nvSpPr>
        <p:spPr>
          <a:xfrm xmlns:a="http://schemas.openxmlformats.org/drawingml/2006/main">
            <a:off x="552450" y="4238625"/>
            <a:ext cx="6819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925" b="0">
                <a:solidFill>
                  <a:srgbClr val="F4F5F0"/>
                </a:solidFill>
                <a:latin typeface="Segoe UI"/>
                <a:ea typeface="Segoe UI"/>
                <a:cs typeface="Segoe UI"/>
              </a:defRPr>
            </a:pPr>
            <a:r>
              <a:rPr sz="2925" b="0">
                <a:solidFill>
                  <a:srgbClr val="F4F5F0"/>
                </a:solidFill>
                <a:latin typeface="Segoe UI"/>
                <a:ea typeface="Segoe UI"/>
                <a:cs typeface="Segoe UI"/>
              </a:rPr>
              <a:t>Sonraki adım: yerel pilot</a:t>
            </a:r>
          </a:p>
        </p:txBody>
      </p:sp>
      <p:sp>
        <p:nvSpPr>
          <p:cNvPr id="6" name="Texte_15_5">
            <a:extLst xmlns:a="http://schemas.openxmlformats.org/drawingml/2006/main">
              <a:ext uri="{FF2B5EF4-FFF2-40B4-BE49-F238E27FC236}">
                <a16:creationId xmlns:a16="http://schemas.microsoft.com/office/drawing/2014/main" id="{BE31668E-0311-4D38-B542-7F7839B51F8B}"/>
              </a:ext>
            </a:extLst>
          </p:cNvPr>
          <p:cNvSpPr>
            <a:spLocks xmlns:a="http://schemas.openxmlformats.org/drawingml/2006/main" noGrp="1"/>
          </p:cNvSpPr>
          <p:nvPr/>
        </p:nvSpPr>
        <p:spPr>
          <a:xfrm xmlns:a="http://schemas.openxmlformats.org/drawingml/2006/main">
            <a:off x="561975" y="5334000"/>
            <a:ext cx="68389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950" b="0">
                <a:solidFill>
                  <a:srgbClr val="F4F5F0"/>
                </a:solidFill>
                <a:latin typeface="Segoe UI"/>
                <a:ea typeface="Segoe UI"/>
                <a:cs typeface="Segoe UI"/>
              </a:defRPr>
            </a:pPr>
            <a:r>
              <a:rPr sz="1950" b="0">
                <a:solidFill>
                  <a:srgbClr val="F4F5F0"/>
                </a:solidFill>
                <a:latin typeface="Segoe UI"/>
                <a:ea typeface="Segoe UI"/>
                <a:cs typeface="Segoe UI"/>
              </a:rPr>
              <a:t>Güncel veriyle dış doğrulama</a:t>
            </a:r>
          </a:p>
          <a:p xmlns:a="http://schemas.openxmlformats.org/drawingml/2006/main">
            <a:pPr>
              <a:buNone/>
              <a:defRPr sz="1950" b="0">
                <a:solidFill>
                  <a:srgbClr val="F4F5F0"/>
                </a:solidFill>
                <a:latin typeface="Segoe UI"/>
                <a:ea typeface="Segoe UI"/>
                <a:cs typeface="Segoe UI"/>
              </a:defRPr>
            </a:pPr>
            <a:r>
              <a:rPr sz="1950" b="0">
                <a:solidFill>
                  <a:srgbClr val="F4F5F0"/>
                </a:solidFill>
                <a:latin typeface="Segoe UI"/>
                <a:ea typeface="Segoe UI"/>
                <a:cs typeface="Segoe UI"/>
              </a:rPr>
              <a:t>ve analist geri bildirimi</a:t>
            </a:r>
          </a:p>
        </p:txBody>
      </p:sp>
      <p:sp>
        <p:nvSpPr>
          <p:cNvPr id="7" name="Texte_15_6">
            <a:extLst xmlns:a="http://schemas.openxmlformats.org/drawingml/2006/main">
              <a:ext uri="{FF2B5EF4-FFF2-40B4-BE49-F238E27FC236}">
                <a16:creationId xmlns:a16="http://schemas.microsoft.com/office/drawing/2014/main" id="{89965226-4D93-455C-916C-D736C3D62930}"/>
              </a:ext>
            </a:extLst>
          </p:cNvPr>
          <p:cNvSpPr>
            <a:spLocks xmlns:a="http://schemas.openxmlformats.org/drawingml/2006/main" noGrp="1"/>
          </p:cNvSpPr>
          <p:nvPr/>
        </p:nvSpPr>
        <p:spPr>
          <a:xfrm xmlns:a="http://schemas.openxmlformats.org/drawingml/2006/main">
            <a:off x="552450" y="6362700"/>
            <a:ext cx="88296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0">
                <a:solidFill>
                  <a:srgbClr val="F4F5F0"/>
                </a:solidFill>
                <a:latin typeface="Segoe UI"/>
                <a:ea typeface="Segoe UI"/>
                <a:cs typeface="Segoe UI"/>
              </a:defRPr>
            </a:pPr>
            <a:r>
              <a:rPr sz="1650" b="0">
                <a:solidFill>
                  <a:srgbClr val="F4F5F0"/>
                </a:solidFill>
                <a:latin typeface="Segoe UI"/>
                <a:ea typeface="Segoe UI"/>
                <a:cs typeface="Segoe UI"/>
              </a:rPr>
              <a:t>Ayşe Simal Alpözer ve Berat Bolat</a:t>
            </a:r>
          </a:p>
        </p:txBody>
      </p:sp>
      <p:sp>
        <p:nvSpPr>
          <p:cNvPr id="8" name="Texte_15_7">
            <a:extLst xmlns:a="http://schemas.openxmlformats.org/drawingml/2006/main">
              <a:ext uri="{FF2B5EF4-FFF2-40B4-BE49-F238E27FC236}">
                <a16:creationId xmlns:a16="http://schemas.microsoft.com/office/drawing/2014/main" id="{B355B920-BEC3-481A-B148-897B0D262D6E}"/>
              </a:ext>
            </a:extLst>
          </p:cNvPr>
          <p:cNvSpPr>
            <a:spLocks xmlns:a="http://schemas.openxmlformats.org/drawingml/2006/main" noGrp="1"/>
          </p:cNvSpPr>
          <p:nvPr/>
        </p:nvSpPr>
        <p:spPr>
          <a:xfrm xmlns:a="http://schemas.openxmlformats.org/drawingml/2006/main">
            <a:off x="10001250" y="6315075"/>
            <a:ext cx="1733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D7FF42"/>
                </a:solidFill>
                <a:latin typeface="Segoe UI"/>
                <a:ea typeface="Segoe UI"/>
                <a:cs typeface="Segoe UI"/>
              </a:defRPr>
            </a:pPr>
            <a:r>
              <a:rPr sz="1650" b="1">
                <a:solidFill>
                  <a:srgbClr val="D7FF42"/>
                </a:solidFill>
                <a:latin typeface="Segoe UI"/>
                <a:ea typeface="Segoe UI"/>
                <a:cs typeface="Segoe UI"/>
              </a:rPr>
              <a:t>SORULAR</a:t>
            </a:r>
          </a:p>
        </p:txBody>
      </p:sp>
    </p:spTree>
    <p:extLst>
      <p:ext uri="{BB962C8B-B14F-4D97-AF65-F5344CB8AC3E}">
        <p14:creationId xmlns:p14="http://schemas.microsoft.com/office/powerpoint/2010/main" val="1669659032"/>
      </p:ext>
    </p:extLst>
  </p:cSld>
  <mc:AlternateContent xmlns:mc="http://schemas.openxmlformats.org/markup-compatibility/2006" xmlns:p159="http://schemas.microsoft.com/office/powerpoint/2015/09/main" xmlns:p14="http://schemas.microsoft.com/office/powerpoint/2010/main">
    <mc:Choice Requires="p159">
      <p:transition spd="fast" advClick="1" p14:dur="650">
        <p159:morph option="byObject"/>
      </p:transition>
    </mc:Choice>
    <mc:Fallback>
      <p:transition spd="fast" advClick="1">
        <p:fade/>
      </p:transition>
    </mc:Fallback>
  </mc:AlternateContent>
</p:sld>
</file>

<file path=ppt/slides/slide16.xml><?xml version="1.0" encoding="utf-8"?>
<p:sld xmlns:p="http://schemas.openxmlformats.org/presentationml/2006/main" show="0">
  <p:cSld>
    <p:bg>
      <p:bgPr>
        <a:solidFill xmlns:a="http://schemas.openxmlformats.org/drawingml/2006/main">
          <a:srgbClr val="F4F5F0"/>
        </a:solidFill>
      </p:bgPr>
    </p:bg>
    <p:spTree>
      <p:nvGrpSpPr>
        <p:cNvPr id="1" name=""/>
        <p:cNvGrpSpPr/>
        <p:nvPr/>
      </p:nvGrpSpPr>
      <p:grpSpPr>
        <a:xfrm xmlns:a="http://schemas.openxmlformats.org/drawingml/2006/main"/>
      </p:grpSpPr>
      <p:sp>
        <p:nvSpPr>
          <p:cNvPr id="8" name="!!ESIK_MARK">
            <a:extLst xmlns:a="http://schemas.openxmlformats.org/drawingml/2006/main">
              <a:ext uri="{FF2B5EF4-FFF2-40B4-BE49-F238E27FC236}">
                <a16:creationId xmlns:a16="http://schemas.microsoft.com/office/drawing/2014/main" id="{FF0C725F-F15E-4E76-A80F-06B994B168BE}"/>
              </a:ext>
            </a:extLst>
          </p:cNvPr>
          <p:cNvSpPr>
            <a:spLocks xmlns:a="http://schemas.openxmlformats.org/drawingml/2006/main" noGrp="1"/>
          </p:cNvSpPr>
          <p:nvPr/>
        </p:nvSpPr>
        <p:spPr>
          <a:xfrm xmlns:a="http://schemas.openxmlformats.org/drawingml/2006/main">
            <a:off x="533400" y="266700"/>
            <a:ext cx="1190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75" b="1">
                <a:solidFill>
                  <a:srgbClr val="0B0E13"/>
                </a:solidFill>
                <a:latin typeface="Bahnschrift"/>
                <a:ea typeface="Bahnschrift"/>
                <a:cs typeface="Bahnschrift"/>
              </a:defRPr>
            </a:pPr>
            <a:r>
              <a:rPr sz="1575" b="1">
                <a:solidFill>
                  <a:srgbClr val="0B0E13"/>
                </a:solidFill>
                <a:latin typeface="Bahnschrift"/>
                <a:ea typeface="Bahnschrift"/>
                <a:cs typeface="Bahnschrift"/>
              </a:rPr>
              <a:t>EŞİK</a:t>
            </a:r>
          </a:p>
        </p:txBody>
      </p:sp>
      <p:sp>
        <p:nvSpPr>
          <p:cNvPr id="3" name="Texte_16_2">
            <a:extLst xmlns:a="http://schemas.openxmlformats.org/drawingml/2006/main">
              <a:ext uri="{FF2B5EF4-FFF2-40B4-BE49-F238E27FC236}">
                <a16:creationId xmlns:a16="http://schemas.microsoft.com/office/drawing/2014/main" id="{B9AABD2D-DB4E-4FF3-BFA6-3DBDDD43FA1B}"/>
              </a:ext>
            </a:extLst>
          </p:cNvPr>
          <p:cNvSpPr>
            <a:spLocks xmlns:a="http://schemas.openxmlformats.org/drawingml/2006/main" noGrp="1"/>
          </p:cNvSpPr>
          <p:nvPr/>
        </p:nvSpPr>
        <p:spPr>
          <a:xfrm xmlns:a="http://schemas.openxmlformats.org/drawingml/2006/main">
            <a:off x="1809750" y="295275"/>
            <a:ext cx="7810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555E68"/>
                </a:solidFill>
                <a:latin typeface="Segoe UI"/>
                <a:ea typeface="Segoe UI"/>
                <a:cs typeface="Segoe UI"/>
              </a:defRPr>
            </a:pPr>
            <a:r>
              <a:rPr sz="1275" b="0">
                <a:solidFill>
                  <a:srgbClr val="555E68"/>
                </a:solidFill>
                <a:latin typeface="Segoe UI"/>
                <a:ea typeface="Segoe UI"/>
                <a:cs typeface="Segoe UI"/>
              </a:rPr>
              <a:t>TEKNİK EK 01</a:t>
            </a:r>
          </a:p>
        </p:txBody>
      </p:sp>
      <p:sp>
        <p:nvSpPr>
          <p:cNvPr id="4" name="Texte_16_3">
            <a:extLst xmlns:a="http://schemas.openxmlformats.org/drawingml/2006/main">
              <a:ext uri="{FF2B5EF4-FFF2-40B4-BE49-F238E27FC236}">
                <a16:creationId xmlns:a16="http://schemas.microsoft.com/office/drawing/2014/main" id="{F4D18A28-4F64-40AC-87B6-03EE1339F661}"/>
              </a:ext>
            </a:extLst>
          </p:cNvPr>
          <p:cNvSpPr>
            <a:spLocks xmlns:a="http://schemas.openxmlformats.org/drawingml/2006/main" noGrp="1"/>
          </p:cNvSpPr>
          <p:nvPr/>
        </p:nvSpPr>
        <p:spPr>
          <a:xfrm xmlns:a="http://schemas.openxmlformats.org/drawingml/2006/main">
            <a:off x="10953750" y="266700"/>
            <a:ext cx="723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00" b="0">
                <a:solidFill>
                  <a:srgbClr val="0B0E13"/>
                </a:solidFill>
                <a:latin typeface="Bahnschrift"/>
                <a:ea typeface="Bahnschrift"/>
                <a:cs typeface="Bahnschrift"/>
              </a:defRPr>
            </a:pPr>
            <a:r>
              <a:rPr sz="1500" b="0">
                <a:solidFill>
                  <a:srgbClr val="0B0E13"/>
                </a:solidFill>
                <a:latin typeface="Bahnschrift"/>
                <a:ea typeface="Bahnschrift"/>
                <a:cs typeface="Bahnschrift"/>
              </a:rPr>
              <a:t>16</a:t>
            </a:r>
          </a:p>
        </p:txBody>
      </p:sp>
      <p:sp>
        <p:nvSpPr>
          <p:cNvPr id="5" name="Texte_16_4">
            <a:extLst xmlns:a="http://schemas.openxmlformats.org/drawingml/2006/main">
              <a:ext uri="{FF2B5EF4-FFF2-40B4-BE49-F238E27FC236}">
                <a16:creationId xmlns:a16="http://schemas.microsoft.com/office/drawing/2014/main" id="{9E989083-25B2-405F-AB64-4926F6F0390B}"/>
              </a:ext>
            </a:extLst>
          </p:cNvPr>
          <p:cNvSpPr>
            <a:spLocks xmlns:a="http://schemas.openxmlformats.org/drawingml/2006/main" noGrp="1"/>
          </p:cNvSpPr>
          <p:nvPr/>
        </p:nvSpPr>
        <p:spPr>
          <a:xfrm xmlns:a="http://schemas.openxmlformats.org/drawingml/2006/main">
            <a:off x="533400" y="952500"/>
            <a:ext cx="111252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525" b="1">
                <a:solidFill>
                  <a:srgbClr val="0B0E13"/>
                </a:solidFill>
                <a:latin typeface="Segoe UI"/>
                <a:ea typeface="Segoe UI"/>
                <a:cs typeface="Segoe UI"/>
              </a:defRPr>
            </a:pPr>
            <a:r>
              <a:rPr sz="3525" b="1">
                <a:solidFill>
                  <a:srgbClr val="0B0E13"/>
                </a:solidFill>
                <a:latin typeface="Segoe UI"/>
                <a:ea typeface="Segoe UI"/>
                <a:cs typeface="Segoe UI"/>
              </a:rPr>
              <a:t>PCA bu deneyde yakalamayı düşürdü</a:t>
            </a:r>
          </a:p>
        </p:txBody>
      </p:sp>
      <p:graphicFrame>
        <p:nvGraphicFramePr>
          <p:cNvPr id="21" name="Chart"/>
          <p:cNvGraphicFramePr/>
          <p:nvPr/>
        </p:nvGraphicFramePr>
        <p:xfrm>
          <a:off xmlns:a="http://schemas.openxmlformats.org/drawingml/2006/main" x="552450" y="2085975"/>
          <a:ext xmlns:a="http://schemas.openxmlformats.org/drawingml/2006/main" cx="11020425" cy="3200400"/>
        </p:xfrm>
        <a:graphic xmlns:a="http://schemas.openxmlformats.org/drawingml/2006/main">
          <a:graphicData uri="http://schemas.openxmlformats.org/drawingml/2006/chart">
            <c:chart xmlns:r="http://schemas.openxmlformats.org/officeDocument/2006/relationships" xmlns:c="http://schemas.openxmlformats.org/drawingml/2006/chart" r:id="R77291f9cc90047d3"/>
          </a:graphicData>
        </a:graphic>
      </p:graphicFrame>
      <p:sp>
        <p:nvSpPr>
          <p:cNvPr id="15" name="!!ESIK_THRESHOLD">
            <a:extLst xmlns:a="http://schemas.openxmlformats.org/drawingml/2006/main">
              <a:ext uri="{FF2B5EF4-FFF2-40B4-BE49-F238E27FC236}">
                <a16:creationId xmlns:a16="http://schemas.microsoft.com/office/drawing/2014/main" id="{F26E250B-37DC-4856-9B87-D93EC0E9CC14}"/>
              </a:ext>
            </a:extLst>
          </p:cNvPr>
          <p:cNvSpPr>
            <a:spLocks xmlns:a="http://schemas.openxmlformats.org/drawingml/2006/main" noGrp="1"/>
          </p:cNvSpPr>
          <p:nvPr/>
        </p:nvSpPr>
        <p:spPr>
          <a:xfrm xmlns:a="http://schemas.openxmlformats.org/drawingml/2006/main">
            <a:off x="581025" y="5514975"/>
            <a:ext cx="10953750" cy="28575"/>
          </a:xfrm>
          <a:prstGeom xmlns:a="http://schemas.openxmlformats.org/drawingml/2006/main" prst="rect">
            <a:avLst/>
          </a:prstGeom>
          <a:solidFill xmlns:a="http://schemas.openxmlformats.org/drawingml/2006/main">
            <a:srgbClr val="344BFF"/>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6" name="Texte_16_5">
            <a:extLst xmlns:a="http://schemas.openxmlformats.org/drawingml/2006/main">
              <a:ext uri="{FF2B5EF4-FFF2-40B4-BE49-F238E27FC236}">
                <a16:creationId xmlns:a16="http://schemas.microsoft.com/office/drawing/2014/main" id="{6ADF2C76-9040-4659-83AF-B1142EB1CE8E}"/>
              </a:ext>
            </a:extLst>
          </p:cNvPr>
          <p:cNvSpPr>
            <a:spLocks xmlns:a="http://schemas.openxmlformats.org/drawingml/2006/main" noGrp="1"/>
          </p:cNvSpPr>
          <p:nvPr/>
        </p:nvSpPr>
        <p:spPr>
          <a:xfrm xmlns:a="http://schemas.openxmlformats.org/drawingml/2006/main">
            <a:off x="552450" y="5724525"/>
            <a:ext cx="111061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550" b="1">
                <a:solidFill>
                  <a:srgbClr val="0B0E13"/>
                </a:solidFill>
                <a:latin typeface="Segoe UI"/>
                <a:ea typeface="Segoe UI"/>
                <a:cs typeface="Segoe UI"/>
              </a:defRPr>
            </a:pPr>
            <a:r>
              <a:rPr sz="2550" b="1">
                <a:solidFill>
                  <a:srgbClr val="0B0E13"/>
                </a:solidFill>
                <a:latin typeface="Segoe UI"/>
                <a:ea typeface="Segoe UI"/>
                <a:cs typeface="Segoe UI"/>
              </a:rPr>
              <a:t>Ana modelde 64 finansal oranı koruduk.</a:t>
            </a:r>
          </a:p>
        </p:txBody>
      </p:sp>
      <p:sp>
        <p:nvSpPr>
          <p:cNvPr id="7" name="Texte_16_6">
            <a:extLst xmlns:a="http://schemas.openxmlformats.org/drawingml/2006/main">
              <a:ext uri="{FF2B5EF4-FFF2-40B4-BE49-F238E27FC236}">
                <a16:creationId xmlns:a16="http://schemas.microsoft.com/office/drawing/2014/main" id="{37557431-ACD5-4705-8281-CA8A0A19315A}"/>
              </a:ext>
            </a:extLst>
          </p:cNvPr>
          <p:cNvSpPr>
            <a:spLocks xmlns:a="http://schemas.openxmlformats.org/drawingml/2006/main" noGrp="1"/>
          </p:cNvSpPr>
          <p:nvPr/>
        </p:nvSpPr>
        <p:spPr>
          <a:xfrm xmlns:a="http://schemas.openxmlformats.org/drawingml/2006/main">
            <a:off x="533400" y="6315075"/>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00" b="0">
                <a:solidFill>
                  <a:srgbClr val="555E68"/>
                </a:solidFill>
                <a:latin typeface="Segoe UI"/>
                <a:ea typeface="Segoe UI"/>
                <a:cs typeface="Segoe UI"/>
              </a:defRPr>
            </a:pPr>
            <a:r>
              <a:rPr sz="1200" b="0">
                <a:solidFill>
                  <a:srgbClr val="555E68"/>
                </a:solidFill>
                <a:latin typeface="Segoe UI"/>
                <a:ea typeface="Segoe UI"/>
                <a:cs typeface="Segoe UI"/>
              </a:rPr>
              <a:t>Aynı 5 geliştirme katı ve kayıtlı XGBoost ayarları. PCA’ya özel hiperparametre araması yapılmadı.</a:t>
            </a:r>
          </a:p>
        </p:txBody>
      </p:sp>
    </p:spTree>
    <p:extLst>
      <p:ext uri="{BB962C8B-B14F-4D97-AF65-F5344CB8AC3E}">
        <p14:creationId xmlns:p14="http://schemas.microsoft.com/office/powerpoint/2010/main" val="1792880820"/>
      </p:ext>
    </p:extLst>
  </p:cSld>
  <p:transition spd="fast" advClick="1">
    <p:fade/>
  </p:transition>
</p:sld>
</file>

<file path=ppt/slides/slide17.xml><?xml version="1.0" encoding="utf-8"?>
<p:sld xmlns:p="http://schemas.openxmlformats.org/presentationml/2006/main" show="0">
  <p:cSld>
    <p:bg>
      <p:bgPr>
        <a:solidFill xmlns:a="http://schemas.openxmlformats.org/drawingml/2006/main">
          <a:srgbClr val="0B0E13"/>
        </a:solidFill>
      </p:bgPr>
    </p:bg>
    <p:spTree>
      <p:nvGrpSpPr>
        <p:cNvPr id="1" name=""/>
        <p:cNvGrpSpPr/>
        <p:nvPr/>
      </p:nvGrpSpPr>
      <p:grpSpPr>
        <a:xfrm xmlns:a="http://schemas.openxmlformats.org/drawingml/2006/main"/>
      </p:grpSpPr>
      <p:sp>
        <p:nvSpPr>
          <p:cNvPr id="26" name="!!ESIK_MARK">
            <a:extLst xmlns:a="http://schemas.openxmlformats.org/drawingml/2006/main">
              <a:ext uri="{FF2B5EF4-FFF2-40B4-BE49-F238E27FC236}">
                <a16:creationId xmlns:a16="http://schemas.microsoft.com/office/drawing/2014/main" id="{DB406845-3C8B-47A7-975B-E072A6C0DC79}"/>
              </a:ext>
            </a:extLst>
          </p:cNvPr>
          <p:cNvSpPr>
            <a:spLocks xmlns:a="http://schemas.openxmlformats.org/drawingml/2006/main" noGrp="1"/>
          </p:cNvSpPr>
          <p:nvPr/>
        </p:nvSpPr>
        <p:spPr>
          <a:xfrm xmlns:a="http://schemas.openxmlformats.org/drawingml/2006/main">
            <a:off x="533400" y="266700"/>
            <a:ext cx="1190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75" b="1">
                <a:solidFill>
                  <a:srgbClr val="D7FF42"/>
                </a:solidFill>
                <a:latin typeface="Bahnschrift"/>
                <a:ea typeface="Bahnschrift"/>
                <a:cs typeface="Bahnschrift"/>
              </a:defRPr>
            </a:pPr>
            <a:r>
              <a:rPr sz="1575" b="1">
                <a:solidFill>
                  <a:srgbClr val="D7FF42"/>
                </a:solidFill>
                <a:latin typeface="Bahnschrift"/>
                <a:ea typeface="Bahnschrift"/>
                <a:cs typeface="Bahnschrift"/>
              </a:rPr>
              <a:t>EŞİK</a:t>
            </a:r>
          </a:p>
        </p:txBody>
      </p:sp>
      <p:sp>
        <p:nvSpPr>
          <p:cNvPr id="3" name="Texte_17_2">
            <a:extLst xmlns:a="http://schemas.openxmlformats.org/drawingml/2006/main">
              <a:ext uri="{FF2B5EF4-FFF2-40B4-BE49-F238E27FC236}">
                <a16:creationId xmlns:a16="http://schemas.microsoft.com/office/drawing/2014/main" id="{8D9D6209-E8AC-491E-A9C1-F38BA5198A32}"/>
              </a:ext>
            </a:extLst>
          </p:cNvPr>
          <p:cNvSpPr>
            <a:spLocks xmlns:a="http://schemas.openxmlformats.org/drawingml/2006/main" noGrp="1"/>
          </p:cNvSpPr>
          <p:nvPr/>
        </p:nvSpPr>
        <p:spPr>
          <a:xfrm xmlns:a="http://schemas.openxmlformats.org/drawingml/2006/main">
            <a:off x="1809750" y="295275"/>
            <a:ext cx="7810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ABB1B9"/>
                </a:solidFill>
                <a:latin typeface="Segoe UI"/>
                <a:ea typeface="Segoe UI"/>
                <a:cs typeface="Segoe UI"/>
              </a:defRPr>
            </a:pPr>
            <a:r>
              <a:rPr sz="1275" b="0">
                <a:solidFill>
                  <a:srgbClr val="ABB1B9"/>
                </a:solidFill>
                <a:latin typeface="Segoe UI"/>
                <a:ea typeface="Segoe UI"/>
                <a:cs typeface="Segoe UI"/>
              </a:rPr>
              <a:t>TEKNİK EK 02</a:t>
            </a:r>
          </a:p>
        </p:txBody>
      </p:sp>
      <p:sp>
        <p:nvSpPr>
          <p:cNvPr id="4" name="Texte_17_3">
            <a:extLst xmlns:a="http://schemas.openxmlformats.org/drawingml/2006/main">
              <a:ext uri="{FF2B5EF4-FFF2-40B4-BE49-F238E27FC236}">
                <a16:creationId xmlns:a16="http://schemas.microsoft.com/office/drawing/2014/main" id="{A4C5ED30-E518-463E-B5D2-DC5CEF6C67E5}"/>
              </a:ext>
            </a:extLst>
          </p:cNvPr>
          <p:cNvSpPr>
            <a:spLocks xmlns:a="http://schemas.openxmlformats.org/drawingml/2006/main" noGrp="1"/>
          </p:cNvSpPr>
          <p:nvPr/>
        </p:nvSpPr>
        <p:spPr>
          <a:xfrm xmlns:a="http://schemas.openxmlformats.org/drawingml/2006/main">
            <a:off x="10953750" y="266700"/>
            <a:ext cx="723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00" b="0">
                <a:solidFill>
                  <a:srgbClr val="ABB1B9"/>
                </a:solidFill>
                <a:latin typeface="Bahnschrift"/>
                <a:ea typeface="Bahnschrift"/>
                <a:cs typeface="Bahnschrift"/>
              </a:defRPr>
            </a:pPr>
            <a:r>
              <a:rPr sz="1500" b="0">
                <a:solidFill>
                  <a:srgbClr val="ABB1B9"/>
                </a:solidFill>
                <a:latin typeface="Bahnschrift"/>
                <a:ea typeface="Bahnschrift"/>
                <a:cs typeface="Bahnschrift"/>
              </a:rPr>
              <a:t>17</a:t>
            </a:r>
          </a:p>
        </p:txBody>
      </p:sp>
      <p:sp>
        <p:nvSpPr>
          <p:cNvPr id="6" name="Texte_17_4">
            <a:extLst xmlns:a="http://schemas.openxmlformats.org/drawingml/2006/main">
              <a:ext uri="{FF2B5EF4-FFF2-40B4-BE49-F238E27FC236}">
                <a16:creationId xmlns:a16="http://schemas.microsoft.com/office/drawing/2014/main" id="{E91BED27-8699-4F53-A1AD-A8E1F1304E48}"/>
              </a:ext>
            </a:extLst>
          </p:cNvPr>
          <p:cNvSpPr>
            <a:spLocks xmlns:a="http://schemas.openxmlformats.org/drawingml/2006/main" noGrp="1"/>
          </p:cNvSpPr>
          <p:nvPr/>
        </p:nvSpPr>
        <p:spPr>
          <a:xfrm xmlns:a="http://schemas.openxmlformats.org/drawingml/2006/main">
            <a:off x="533400" y="952500"/>
            <a:ext cx="111252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525" b="1">
                <a:solidFill>
                  <a:srgbClr val="F4F5F0"/>
                </a:solidFill>
                <a:latin typeface="Segoe UI"/>
                <a:ea typeface="Segoe UI"/>
                <a:cs typeface="Segoe UI"/>
              </a:defRPr>
            </a:pPr>
            <a:r>
              <a:rPr sz="3525" b="1">
                <a:solidFill>
                  <a:srgbClr val="F4F5F0"/>
                </a:solidFill>
                <a:latin typeface="Segoe UI"/>
                <a:ea typeface="Segoe UI"/>
                <a:cs typeface="Segoe UI"/>
              </a:rPr>
              <a:t>Sesli sorunun veri akışı</a:t>
            </a:r>
          </a:p>
        </p:txBody>
      </p:sp>
      <p:sp>
        <p:nvSpPr>
          <p:cNvPr id="9" name="Texte_17_5">
            <a:extLst xmlns:a="http://schemas.openxmlformats.org/drawingml/2006/main">
              <a:ext uri="{FF2B5EF4-FFF2-40B4-BE49-F238E27FC236}">
                <a16:creationId xmlns:a16="http://schemas.microsoft.com/office/drawing/2014/main" id="{19FA515A-0995-4FF7-9907-76D36DC45115}"/>
              </a:ext>
            </a:extLst>
          </p:cNvPr>
          <p:cNvSpPr>
            <a:spLocks xmlns:a="http://schemas.openxmlformats.org/drawingml/2006/main" noGrp="1"/>
          </p:cNvSpPr>
          <p:nvPr/>
        </p:nvSpPr>
        <p:spPr>
          <a:xfrm xmlns:a="http://schemas.openxmlformats.org/drawingml/2006/main">
            <a:off x="561975" y="2200275"/>
            <a:ext cx="3124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550" b="1">
                <a:solidFill>
                  <a:srgbClr val="D7FF42"/>
                </a:solidFill>
                <a:latin typeface="Segoe UI"/>
                <a:ea typeface="Segoe UI"/>
                <a:cs typeface="Segoe UI"/>
              </a:defRPr>
            </a:pPr>
            <a:r>
              <a:rPr sz="2550" b="1">
                <a:solidFill>
                  <a:srgbClr val="D7FF42"/>
                </a:solidFill>
                <a:latin typeface="Segoe UI"/>
                <a:ea typeface="Segoe UI"/>
                <a:cs typeface="Segoe UI"/>
              </a:rPr>
              <a:t>Ses kaydı</a:t>
            </a:r>
          </a:p>
        </p:txBody>
      </p:sp>
      <p:sp>
        <p:nvSpPr>
          <p:cNvPr id="12" name="Texte_17_6">
            <a:extLst xmlns:a="http://schemas.openxmlformats.org/drawingml/2006/main">
              <a:ext uri="{FF2B5EF4-FFF2-40B4-BE49-F238E27FC236}">
                <a16:creationId xmlns:a16="http://schemas.microsoft.com/office/drawing/2014/main" id="{5D9EF98B-3E25-42D5-AA3B-FC2AC11E1B94}"/>
              </a:ext>
            </a:extLst>
          </p:cNvPr>
          <p:cNvSpPr>
            <a:spLocks xmlns:a="http://schemas.openxmlformats.org/drawingml/2006/main" noGrp="1"/>
          </p:cNvSpPr>
          <p:nvPr/>
        </p:nvSpPr>
        <p:spPr>
          <a:xfrm xmlns:a="http://schemas.openxmlformats.org/drawingml/2006/main">
            <a:off x="561975" y="2847975"/>
            <a:ext cx="33528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F4F5F0"/>
                </a:solidFill>
                <a:latin typeface="Segoe UI"/>
                <a:ea typeface="Segoe UI"/>
                <a:cs typeface="Segoe UI"/>
              </a:defRPr>
            </a:pPr>
            <a:r>
              <a:rPr sz="2025" b="0">
                <a:solidFill>
                  <a:srgbClr val="F4F5F0"/>
                </a:solidFill>
                <a:latin typeface="Segoe UI"/>
                <a:ea typeface="Segoe UI"/>
                <a:cs typeface="Segoe UI"/>
              </a:rPr>
              <a:t>Streamlit</a:t>
            </a:r>
          </a:p>
          <a:p xmlns:a="http://schemas.openxmlformats.org/drawingml/2006/main">
            <a:pPr>
              <a:buNone/>
              <a:defRPr sz="2025" b="0">
                <a:solidFill>
                  <a:srgbClr val="F4F5F0"/>
                </a:solidFill>
                <a:latin typeface="Segoe UI"/>
                <a:ea typeface="Segoe UI"/>
                <a:cs typeface="Segoe UI"/>
              </a:defRPr>
            </a:pPr>
            <a:r>
              <a:rPr sz="2025" b="0">
                <a:solidFill>
                  <a:srgbClr val="F4F5F0"/>
                </a:solidFill>
                <a:latin typeface="Segoe UI"/>
                <a:ea typeface="Segoe UI"/>
                <a:cs typeface="Segoe UI"/>
              </a:rPr>
              <a:t>WAV, en fazla 60 sn</a:t>
            </a:r>
          </a:p>
        </p:txBody>
      </p:sp>
      <p:sp>
        <p:nvSpPr>
          <p:cNvPr id="13" name="Texte_17_7">
            <a:extLst xmlns:a="http://schemas.openxmlformats.org/drawingml/2006/main">
              <a:ext uri="{FF2B5EF4-FFF2-40B4-BE49-F238E27FC236}">
                <a16:creationId xmlns:a16="http://schemas.microsoft.com/office/drawing/2014/main" id="{B6C88AE3-6F1D-4806-BF61-FC523B558326}"/>
              </a:ext>
            </a:extLst>
          </p:cNvPr>
          <p:cNvSpPr>
            <a:spLocks xmlns:a="http://schemas.openxmlformats.org/drawingml/2006/main" noGrp="1"/>
          </p:cNvSpPr>
          <p:nvPr/>
        </p:nvSpPr>
        <p:spPr>
          <a:xfrm xmlns:a="http://schemas.openxmlformats.org/drawingml/2006/main">
            <a:off x="4371975" y="2200275"/>
            <a:ext cx="3657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550" b="1">
                <a:solidFill>
                  <a:srgbClr val="D7FF42"/>
                </a:solidFill>
                <a:latin typeface="Segoe UI"/>
                <a:ea typeface="Segoe UI"/>
                <a:cs typeface="Segoe UI"/>
              </a:defRPr>
            </a:pPr>
            <a:r>
              <a:rPr sz="2550" b="1">
                <a:solidFill>
                  <a:srgbClr val="D7FF42"/>
                </a:solidFill>
                <a:latin typeface="Segoe UI"/>
                <a:ea typeface="Segoe UI"/>
                <a:cs typeface="Segoe UI"/>
              </a:rPr>
              <a:t>Metne çeviri</a:t>
            </a:r>
          </a:p>
        </p:txBody>
      </p:sp>
      <p:sp>
        <p:nvSpPr>
          <p:cNvPr id="14" name="Texte_17_8">
            <a:extLst xmlns:a="http://schemas.openxmlformats.org/drawingml/2006/main">
              <a:ext uri="{FF2B5EF4-FFF2-40B4-BE49-F238E27FC236}">
                <a16:creationId xmlns:a16="http://schemas.microsoft.com/office/drawing/2014/main" id="{F3C2A07D-A12A-4F8B-9817-0F10E135BB92}"/>
              </a:ext>
            </a:extLst>
          </p:cNvPr>
          <p:cNvSpPr>
            <a:spLocks xmlns:a="http://schemas.openxmlformats.org/drawingml/2006/main" noGrp="1"/>
          </p:cNvSpPr>
          <p:nvPr/>
        </p:nvSpPr>
        <p:spPr>
          <a:xfrm xmlns:a="http://schemas.openxmlformats.org/drawingml/2006/main">
            <a:off x="4371975" y="2847975"/>
            <a:ext cx="39338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0">
                <a:solidFill>
                  <a:srgbClr val="F4F5F0"/>
                </a:solidFill>
                <a:latin typeface="Segoe UI"/>
                <a:ea typeface="Segoe UI"/>
                <a:cs typeface="Segoe UI"/>
              </a:defRPr>
            </a:pPr>
            <a:r>
              <a:rPr sz="1875" b="0">
                <a:solidFill>
                  <a:srgbClr val="F4F5F0"/>
                </a:solidFill>
                <a:latin typeface="Segoe UI"/>
                <a:ea typeface="Segoe UI"/>
                <a:cs typeface="Segoe UI"/>
              </a:rPr>
              <a:t>n8n ve whisper-1</a:t>
            </a:r>
          </a:p>
          <a:p xmlns:a="http://schemas.openxmlformats.org/drawingml/2006/main">
            <a:pPr>
              <a:buNone/>
              <a:defRPr sz="1875" b="0">
                <a:solidFill>
                  <a:srgbClr val="F4F5F0"/>
                </a:solidFill>
                <a:latin typeface="Segoe UI"/>
                <a:ea typeface="Segoe UI"/>
                <a:cs typeface="Segoe UI"/>
              </a:defRPr>
            </a:pPr>
            <a:r>
              <a:rPr sz="1875" b="0">
                <a:solidFill>
                  <a:srgbClr val="F4F5F0"/>
                </a:solidFill>
                <a:latin typeface="Segoe UI"/>
                <a:ea typeface="Segoe UI"/>
                <a:cs typeface="Segoe UI"/>
              </a:rPr>
              <a:t>Kimlik doğrulanan webhook</a:t>
            </a:r>
          </a:p>
        </p:txBody>
      </p:sp>
      <p:sp>
        <p:nvSpPr>
          <p:cNvPr id="16" name="Texte_17_9">
            <a:extLst xmlns:a="http://schemas.openxmlformats.org/drawingml/2006/main">
              <a:ext uri="{FF2B5EF4-FFF2-40B4-BE49-F238E27FC236}">
                <a16:creationId xmlns:a16="http://schemas.microsoft.com/office/drawing/2014/main" id="{2A345E62-CD5C-454D-BEC4-BDB399150A0E}"/>
              </a:ext>
            </a:extLst>
          </p:cNvPr>
          <p:cNvSpPr>
            <a:spLocks xmlns:a="http://schemas.openxmlformats.org/drawingml/2006/main" noGrp="1"/>
          </p:cNvSpPr>
          <p:nvPr/>
        </p:nvSpPr>
        <p:spPr>
          <a:xfrm xmlns:a="http://schemas.openxmlformats.org/drawingml/2006/main">
            <a:off x="8715375" y="2200275"/>
            <a:ext cx="31051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325" b="1">
                <a:solidFill>
                  <a:srgbClr val="D7FF42"/>
                </a:solidFill>
                <a:latin typeface="Segoe UI"/>
                <a:ea typeface="Segoe UI"/>
                <a:cs typeface="Segoe UI"/>
              </a:defRPr>
            </a:pPr>
            <a:r>
              <a:rPr sz="2325" b="1">
                <a:solidFill>
                  <a:srgbClr val="D7FF42"/>
                </a:solidFill>
                <a:latin typeface="Segoe UI"/>
                <a:ea typeface="Segoe UI"/>
                <a:cs typeface="Segoe UI"/>
              </a:rPr>
              <a:t>Kullanıcı kontrolü</a:t>
            </a:r>
          </a:p>
        </p:txBody>
      </p:sp>
      <p:sp>
        <p:nvSpPr>
          <p:cNvPr id="19" name="Texte_17_10">
            <a:extLst xmlns:a="http://schemas.openxmlformats.org/drawingml/2006/main">
              <a:ext uri="{FF2B5EF4-FFF2-40B4-BE49-F238E27FC236}">
                <a16:creationId xmlns:a16="http://schemas.microsoft.com/office/drawing/2014/main" id="{6D513786-2C24-4017-8777-DA6081CC1538}"/>
              </a:ext>
            </a:extLst>
          </p:cNvPr>
          <p:cNvSpPr>
            <a:spLocks xmlns:a="http://schemas.openxmlformats.org/drawingml/2006/main" noGrp="1"/>
          </p:cNvSpPr>
          <p:nvPr/>
        </p:nvSpPr>
        <p:spPr>
          <a:xfrm xmlns:a="http://schemas.openxmlformats.org/drawingml/2006/main">
            <a:off x="8715375" y="3105150"/>
            <a:ext cx="284797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F4F5F0"/>
                </a:solidFill>
                <a:latin typeface="Segoe UI"/>
                <a:ea typeface="Segoe UI"/>
                <a:cs typeface="Segoe UI"/>
              </a:defRPr>
            </a:pPr>
            <a:r>
              <a:rPr sz="2025" b="0">
                <a:solidFill>
                  <a:srgbClr val="F4F5F0"/>
                </a:solidFill>
                <a:latin typeface="Segoe UI"/>
                <a:ea typeface="Segoe UI"/>
                <a:cs typeface="Segoe UI"/>
              </a:rPr>
              <a:t>Metni düzenler</a:t>
            </a:r>
          </a:p>
          <a:p xmlns:a="http://schemas.openxmlformats.org/drawingml/2006/main">
            <a:pPr>
              <a:buNone/>
              <a:defRPr sz="2025" b="0">
                <a:solidFill>
                  <a:srgbClr val="F4F5F0"/>
                </a:solidFill>
                <a:latin typeface="Segoe UI"/>
                <a:ea typeface="Segoe UI"/>
                <a:cs typeface="Segoe UI"/>
              </a:defRPr>
            </a:pPr>
            <a:r>
              <a:rPr sz="2025" b="0">
                <a:solidFill>
                  <a:srgbClr val="F4F5F0"/>
                </a:solidFill>
                <a:latin typeface="Segoe UI"/>
                <a:ea typeface="Segoe UI"/>
                <a:cs typeface="Segoe UI"/>
              </a:rPr>
              <a:t>ve gönderir</a:t>
            </a:r>
          </a:p>
        </p:txBody>
      </p:sp>
      <p:sp>
        <p:nvSpPr>
          <p:cNvPr id="35" name="Diagram_17_1">
            <a:extLst xmlns:a="http://schemas.openxmlformats.org/drawingml/2006/main">
              <a:ext uri="{FF2B5EF4-FFF2-40B4-BE49-F238E27FC236}">
                <a16:creationId xmlns:a16="http://schemas.microsoft.com/office/drawing/2014/main" id="{95456B73-D4E4-46F3-83CB-ED08C1D87A8C}"/>
              </a:ext>
            </a:extLst>
          </p:cNvPr>
          <p:cNvSpPr>
            <a:spLocks xmlns:a="http://schemas.openxmlformats.org/drawingml/2006/main" noGrp="1"/>
          </p:cNvSpPr>
          <p:nvPr/>
        </p:nvSpPr>
        <p:spPr>
          <a:xfrm xmlns:a="http://schemas.openxmlformats.org/drawingml/2006/main">
            <a:off x="3714750" y="2409825"/>
            <a:ext cx="371475" cy="28575"/>
          </a:xfrm>
          <a:prstGeom xmlns:a="http://schemas.openxmlformats.org/drawingml/2006/main" prst="rect">
            <a:avLst/>
          </a:prstGeom>
          <a:solidFill xmlns:a="http://schemas.openxmlformats.org/drawingml/2006/main">
            <a:srgbClr val="344BFF"/>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36" name="Diagram_17_2">
            <a:extLst xmlns:a="http://schemas.openxmlformats.org/drawingml/2006/main">
              <a:ext uri="{FF2B5EF4-FFF2-40B4-BE49-F238E27FC236}">
                <a16:creationId xmlns:a16="http://schemas.microsoft.com/office/drawing/2014/main" id="{72BE78C0-EDDD-4FB5-A32E-1909237C5DB9}"/>
              </a:ext>
            </a:extLst>
          </p:cNvPr>
          <p:cNvSpPr>
            <a:spLocks xmlns:a="http://schemas.openxmlformats.org/drawingml/2006/main" noGrp="1"/>
          </p:cNvSpPr>
          <p:nvPr/>
        </p:nvSpPr>
        <p:spPr>
          <a:xfrm xmlns:a="http://schemas.openxmlformats.org/drawingml/2006/main">
            <a:off x="8124825" y="2409825"/>
            <a:ext cx="342900" cy="28575"/>
          </a:xfrm>
          <a:prstGeom xmlns:a="http://schemas.openxmlformats.org/drawingml/2006/main" prst="rect">
            <a:avLst/>
          </a:prstGeom>
          <a:solidFill xmlns:a="http://schemas.openxmlformats.org/drawingml/2006/main">
            <a:srgbClr val="344BFF"/>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37" name="Diagram_17_3">
            <a:extLst xmlns:a="http://schemas.openxmlformats.org/drawingml/2006/main">
              <a:ext uri="{FF2B5EF4-FFF2-40B4-BE49-F238E27FC236}">
                <a16:creationId xmlns:a16="http://schemas.microsoft.com/office/drawing/2014/main" id="{C04A44B0-5B8E-42F6-A077-3F06144F3984}"/>
              </a:ext>
            </a:extLst>
          </p:cNvPr>
          <p:cNvSpPr>
            <a:spLocks xmlns:a="http://schemas.openxmlformats.org/drawingml/2006/main" noGrp="1"/>
          </p:cNvSpPr>
          <p:nvPr/>
        </p:nvSpPr>
        <p:spPr>
          <a:xfrm xmlns:a="http://schemas.openxmlformats.org/drawingml/2006/main">
            <a:off x="10096500" y="3905250"/>
            <a:ext cx="28575" cy="381000"/>
          </a:xfrm>
          <a:prstGeom xmlns:a="http://schemas.openxmlformats.org/drawingml/2006/main" prst="rect">
            <a:avLst/>
          </a:prstGeom>
          <a:solidFill xmlns:a="http://schemas.openxmlformats.org/drawingml/2006/main">
            <a:srgbClr val="344BFF"/>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38" name="!!ESIK_THRESHOLD">
            <a:extLst xmlns:a="http://schemas.openxmlformats.org/drawingml/2006/main">
              <a:ext uri="{FF2B5EF4-FFF2-40B4-BE49-F238E27FC236}">
                <a16:creationId xmlns:a16="http://schemas.microsoft.com/office/drawing/2014/main" id="{0C79284F-E391-4B10-A7E7-CA75837CC925}"/>
              </a:ext>
            </a:extLst>
          </p:cNvPr>
          <p:cNvSpPr>
            <a:spLocks xmlns:a="http://schemas.openxmlformats.org/drawingml/2006/main" noGrp="1"/>
          </p:cNvSpPr>
          <p:nvPr/>
        </p:nvSpPr>
        <p:spPr>
          <a:xfrm xmlns:a="http://schemas.openxmlformats.org/drawingml/2006/main">
            <a:off x="2324100" y="4248150"/>
            <a:ext cx="7800975" cy="28575"/>
          </a:xfrm>
          <a:prstGeom xmlns:a="http://schemas.openxmlformats.org/drawingml/2006/main" prst="rect">
            <a:avLst/>
          </a:prstGeom>
          <a:solidFill xmlns:a="http://schemas.openxmlformats.org/drawingml/2006/main">
            <a:srgbClr val="344BFF"/>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39" name="Diagram_17_5">
            <a:extLst xmlns:a="http://schemas.openxmlformats.org/drawingml/2006/main">
              <a:ext uri="{FF2B5EF4-FFF2-40B4-BE49-F238E27FC236}">
                <a16:creationId xmlns:a16="http://schemas.microsoft.com/office/drawing/2014/main" id="{F5DF84AF-312E-47CD-B611-BDA3B38EE4FC}"/>
              </a:ext>
            </a:extLst>
          </p:cNvPr>
          <p:cNvSpPr>
            <a:spLocks xmlns:a="http://schemas.openxmlformats.org/drawingml/2006/main" noGrp="1"/>
          </p:cNvSpPr>
          <p:nvPr/>
        </p:nvSpPr>
        <p:spPr>
          <a:xfrm xmlns:a="http://schemas.openxmlformats.org/drawingml/2006/main">
            <a:off x="2324100" y="4257675"/>
            <a:ext cx="28575" cy="285750"/>
          </a:xfrm>
          <a:prstGeom xmlns:a="http://schemas.openxmlformats.org/drawingml/2006/main" prst="rect">
            <a:avLst/>
          </a:prstGeom>
          <a:solidFill xmlns:a="http://schemas.openxmlformats.org/drawingml/2006/main">
            <a:srgbClr val="344BFF"/>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0" name="Diagram_17_6">
            <a:extLst xmlns:a="http://schemas.openxmlformats.org/drawingml/2006/main">
              <a:ext uri="{FF2B5EF4-FFF2-40B4-BE49-F238E27FC236}">
                <a16:creationId xmlns:a16="http://schemas.microsoft.com/office/drawing/2014/main" id="{BC72E1FB-BE50-4015-9610-BF07FE1EDFC2}"/>
              </a:ext>
            </a:extLst>
          </p:cNvPr>
          <p:cNvSpPr>
            <a:spLocks xmlns:a="http://schemas.openxmlformats.org/drawingml/2006/main" noGrp="1"/>
          </p:cNvSpPr>
          <p:nvPr/>
        </p:nvSpPr>
        <p:spPr>
          <a:xfrm xmlns:a="http://schemas.openxmlformats.org/drawingml/2006/main">
            <a:off x="8963025" y="4257675"/>
            <a:ext cx="28575" cy="285750"/>
          </a:xfrm>
          <a:prstGeom xmlns:a="http://schemas.openxmlformats.org/drawingml/2006/main" prst="rect">
            <a:avLst/>
          </a:prstGeom>
          <a:solidFill xmlns:a="http://schemas.openxmlformats.org/drawingml/2006/main">
            <a:srgbClr val="344BFF"/>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22" name="Texte_17_11">
            <a:extLst xmlns:a="http://schemas.openxmlformats.org/drawingml/2006/main">
              <a:ext uri="{FF2B5EF4-FFF2-40B4-BE49-F238E27FC236}">
                <a16:creationId xmlns:a16="http://schemas.microsoft.com/office/drawing/2014/main" id="{1A462A77-57AA-45E7-850D-01587D2E654F}"/>
              </a:ext>
            </a:extLst>
          </p:cNvPr>
          <p:cNvSpPr>
            <a:spLocks xmlns:a="http://schemas.openxmlformats.org/drawingml/2006/main" noGrp="1"/>
          </p:cNvSpPr>
          <p:nvPr/>
        </p:nvSpPr>
        <p:spPr>
          <a:xfrm xmlns:a="http://schemas.openxmlformats.org/drawingml/2006/main">
            <a:off x="571500" y="4581525"/>
            <a:ext cx="5429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550" b="1">
                <a:solidFill>
                  <a:srgbClr val="F4F5F0"/>
                </a:solidFill>
                <a:latin typeface="Segoe UI"/>
                <a:ea typeface="Segoe UI"/>
                <a:cs typeface="Segoe UI"/>
              </a:defRPr>
            </a:pPr>
            <a:r>
              <a:rPr sz="2550" b="1">
                <a:solidFill>
                  <a:srgbClr val="F4F5F0"/>
                </a:solidFill>
                <a:latin typeface="Segoe UI"/>
                <a:ea typeface="Segoe UI"/>
                <a:cs typeface="Segoe UI"/>
              </a:rPr>
              <a:t>Olasılık sorusu</a:t>
            </a:r>
          </a:p>
        </p:txBody>
      </p:sp>
      <p:sp>
        <p:nvSpPr>
          <p:cNvPr id="23" name="Texte_17_12">
            <a:extLst xmlns:a="http://schemas.openxmlformats.org/drawingml/2006/main">
              <a:ext uri="{FF2B5EF4-FFF2-40B4-BE49-F238E27FC236}">
                <a16:creationId xmlns:a16="http://schemas.microsoft.com/office/drawing/2014/main" id="{4C18475C-F36F-40CC-8714-13D250895487}"/>
              </a:ext>
            </a:extLst>
          </p:cNvPr>
          <p:cNvSpPr>
            <a:spLocks xmlns:a="http://schemas.openxmlformats.org/drawingml/2006/main" noGrp="1"/>
          </p:cNvSpPr>
          <p:nvPr/>
        </p:nvSpPr>
        <p:spPr>
          <a:xfrm xmlns:a="http://schemas.openxmlformats.org/drawingml/2006/main">
            <a:off x="571500" y="5238750"/>
            <a:ext cx="52197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00" b="0">
                <a:solidFill>
                  <a:srgbClr val="F4F5F0"/>
                </a:solidFill>
                <a:latin typeface="Segoe UI"/>
                <a:ea typeface="Segoe UI"/>
                <a:cs typeface="Segoe UI"/>
              </a:defRPr>
            </a:pPr>
            <a:r>
              <a:rPr sz="2100" b="0">
                <a:solidFill>
                  <a:srgbClr val="F4F5F0"/>
                </a:solidFill>
                <a:latin typeface="Segoe UI"/>
                <a:ea typeface="Segoe UI"/>
                <a:cs typeface="Segoe UI"/>
              </a:rPr>
              <a:t>Uygulama kayıtlı kalibrasyon</a:t>
            </a:r>
          </a:p>
          <a:p xmlns:a="http://schemas.openxmlformats.org/drawingml/2006/main">
            <a:pPr>
              <a:buNone/>
              <a:defRPr sz="2100" b="0">
                <a:solidFill>
                  <a:srgbClr val="F4F5F0"/>
                </a:solidFill>
                <a:latin typeface="Segoe UI"/>
                <a:ea typeface="Segoe UI"/>
                <a:cs typeface="Segoe UI"/>
              </a:defRPr>
            </a:pPr>
            <a:r>
              <a:rPr sz="2100" b="0">
                <a:solidFill>
                  <a:srgbClr val="F4F5F0"/>
                </a:solidFill>
                <a:latin typeface="Segoe UI"/>
                <a:ea typeface="Segoe UI"/>
                <a:cs typeface="Segoe UI"/>
              </a:rPr>
              <a:t>çıktısından sayısal yanıt verir.</a:t>
            </a:r>
          </a:p>
        </p:txBody>
      </p:sp>
      <p:sp>
        <p:nvSpPr>
          <p:cNvPr id="24" name="Texte_17_13">
            <a:extLst xmlns:a="http://schemas.openxmlformats.org/drawingml/2006/main">
              <a:ext uri="{FF2B5EF4-FFF2-40B4-BE49-F238E27FC236}">
                <a16:creationId xmlns:a16="http://schemas.microsoft.com/office/drawing/2014/main" id="{A7BA3296-53D1-4899-8E92-DC33C03F3DD2}"/>
              </a:ext>
            </a:extLst>
          </p:cNvPr>
          <p:cNvSpPr>
            <a:spLocks xmlns:a="http://schemas.openxmlformats.org/drawingml/2006/main" noGrp="1"/>
          </p:cNvSpPr>
          <p:nvPr/>
        </p:nvSpPr>
        <p:spPr>
          <a:xfrm xmlns:a="http://schemas.openxmlformats.org/drawingml/2006/main">
            <a:off x="6667500" y="4581525"/>
            <a:ext cx="50196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550" b="1">
                <a:solidFill>
                  <a:srgbClr val="F4F5F0"/>
                </a:solidFill>
                <a:latin typeface="Segoe UI"/>
                <a:ea typeface="Segoe UI"/>
                <a:cs typeface="Segoe UI"/>
              </a:defRPr>
            </a:pPr>
            <a:r>
              <a:rPr sz="2550" b="1">
                <a:solidFill>
                  <a:srgbClr val="F4F5F0"/>
                </a:solidFill>
                <a:latin typeface="Segoe UI"/>
                <a:ea typeface="Segoe UI"/>
                <a:cs typeface="Segoe UI"/>
              </a:rPr>
              <a:t>Finansal açıklama</a:t>
            </a:r>
          </a:p>
        </p:txBody>
      </p:sp>
      <p:sp>
        <p:nvSpPr>
          <p:cNvPr id="25" name="Texte_17_14">
            <a:extLst xmlns:a="http://schemas.openxmlformats.org/drawingml/2006/main">
              <a:ext uri="{FF2B5EF4-FFF2-40B4-BE49-F238E27FC236}">
                <a16:creationId xmlns:a16="http://schemas.microsoft.com/office/drawing/2014/main" id="{B4A7C136-762C-4364-9FB8-4C7B73B3EFEA}"/>
              </a:ext>
            </a:extLst>
          </p:cNvPr>
          <p:cNvSpPr>
            <a:spLocks xmlns:a="http://schemas.openxmlformats.org/drawingml/2006/main" noGrp="1"/>
          </p:cNvSpPr>
          <p:nvPr/>
        </p:nvSpPr>
        <p:spPr>
          <a:xfrm xmlns:a="http://schemas.openxmlformats.org/drawingml/2006/main">
            <a:off x="6677025" y="5238750"/>
            <a:ext cx="50387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00" b="0">
                <a:solidFill>
                  <a:srgbClr val="F4F5F0"/>
                </a:solidFill>
                <a:latin typeface="Segoe UI"/>
                <a:ea typeface="Segoe UI"/>
                <a:cs typeface="Segoe UI"/>
              </a:defRPr>
            </a:pPr>
            <a:r>
              <a:rPr sz="2100" b="0">
                <a:solidFill>
                  <a:srgbClr val="F4F5F0"/>
                </a:solidFill>
                <a:latin typeface="Segoe UI"/>
                <a:ea typeface="Segoe UI"/>
                <a:cs typeface="Segoe UI"/>
              </a:rPr>
              <a:t>XGBoost ve SHAP bağlamını</a:t>
            </a:r>
          </a:p>
          <a:p xmlns:a="http://schemas.openxmlformats.org/drawingml/2006/main">
            <a:pPr>
              <a:buNone/>
              <a:defRPr sz="2100" b="0">
                <a:solidFill>
                  <a:srgbClr val="F4F5F0"/>
                </a:solidFill>
                <a:latin typeface="Segoe UI"/>
                <a:ea typeface="Segoe UI"/>
                <a:cs typeface="Segoe UI"/>
              </a:defRPr>
            </a:pPr>
            <a:r>
              <a:rPr sz="2100" b="0">
                <a:solidFill>
                  <a:srgbClr val="F4F5F0"/>
                </a:solidFill>
                <a:latin typeface="Segoe UI"/>
                <a:ea typeface="Segoe UI"/>
                <a:cs typeface="Segoe UI"/>
              </a:rPr>
              <a:t>OpenAI dil modeli açıklar.</a:t>
            </a:r>
          </a:p>
        </p:txBody>
      </p:sp>
      <p:sp>
        <p:nvSpPr>
          <p:cNvPr id="41" name="!!ESIK_CIZGISI">
            <a:extLst xmlns:a="http://schemas.openxmlformats.org/drawingml/2006/main">
              <a:ext uri="{FF2B5EF4-FFF2-40B4-BE49-F238E27FC236}">
                <a16:creationId xmlns:a16="http://schemas.microsoft.com/office/drawing/2014/main" id="{F90A7EF5-A7A6-4592-8A5F-9D96F2512278}"/>
              </a:ext>
            </a:extLst>
          </p:cNvPr>
          <p:cNvSpPr>
            <a:spLocks xmlns:a="http://schemas.openxmlformats.org/drawingml/2006/main" noGrp="1"/>
          </p:cNvSpPr>
          <p:nvPr/>
        </p:nvSpPr>
        <p:spPr>
          <a:xfrm xmlns:a="http://schemas.openxmlformats.org/drawingml/2006/main">
            <a:off x="6143625" y="4572000"/>
            <a:ext cx="28575" cy="1552575"/>
          </a:xfrm>
          <a:prstGeom xmlns:a="http://schemas.openxmlformats.org/drawingml/2006/main" prst="rect">
            <a:avLst/>
          </a:prstGeom>
          <a:solidFill xmlns:a="http://schemas.openxmlformats.org/drawingml/2006/main">
            <a:srgbClr val="D7FF42"/>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34" name="Texte_17_15">
            <a:extLst xmlns:a="http://schemas.openxmlformats.org/drawingml/2006/main">
              <a:ext uri="{FF2B5EF4-FFF2-40B4-BE49-F238E27FC236}">
                <a16:creationId xmlns:a16="http://schemas.microsoft.com/office/drawing/2014/main" id="{ACB139F7-C834-4DF7-994E-F352F098E7AB}"/>
              </a:ext>
            </a:extLst>
          </p:cNvPr>
          <p:cNvSpPr>
            <a:spLocks xmlns:a="http://schemas.openxmlformats.org/drawingml/2006/main" noGrp="1"/>
          </p:cNvSpPr>
          <p:nvPr/>
        </p:nvSpPr>
        <p:spPr>
          <a:xfrm xmlns:a="http://schemas.openxmlformats.org/drawingml/2006/main">
            <a:off x="533400" y="6315075"/>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ABB1B9"/>
                </a:solidFill>
                <a:latin typeface="Segoe UI"/>
                <a:ea typeface="Segoe UI"/>
                <a:cs typeface="Segoe UI"/>
              </a:defRPr>
            </a:pPr>
            <a:r>
              <a:rPr sz="1275" b="0">
                <a:solidFill>
                  <a:srgbClr val="ABB1B9"/>
                </a:solidFill>
                <a:latin typeface="Segoe UI"/>
                <a:ea typeface="Segoe UI"/>
                <a:cs typeface="Segoe UI"/>
              </a:rPr>
              <a:t>Ses sınırı 4 MiB. API anahtarı n8n bağlantısında. Sayısal olasılığı dil modeli hesaplamaz.</a:t>
            </a:r>
          </a:p>
        </p:txBody>
      </p:sp>
    </p:spTree>
    <p:extLst>
      <p:ext uri="{BB962C8B-B14F-4D97-AF65-F5344CB8AC3E}">
        <p14:creationId xmlns:p14="http://schemas.microsoft.com/office/powerpoint/2010/main" val="1547079332"/>
      </p:ext>
    </p:extLst>
  </p:cSld>
  <p:transition spd="fast" advClick="1">
    <p:fade/>
  </p:transition>
</p:sld>
</file>

<file path=ppt/slides/slide18.xml><?xml version="1.0" encoding="utf-8"?>
<p:sld xmlns:p="http://schemas.openxmlformats.org/presentationml/2006/main" show="0">
  <p:cSld>
    <p:bg>
      <p:bgPr>
        <a:solidFill xmlns:a="http://schemas.openxmlformats.org/drawingml/2006/main">
          <a:srgbClr val="0B0E13"/>
        </a:solidFill>
      </p:bgPr>
    </p:bg>
    <p:spTree>
      <p:nvGrpSpPr>
        <p:cNvPr id="1" name=""/>
        <p:cNvGrpSpPr/>
        <p:nvPr/>
      </p:nvGrpSpPr>
      <p:grpSpPr>
        <a:xfrm xmlns:a="http://schemas.openxmlformats.org/drawingml/2006/main"/>
      </p:grpSpPr>
      <p:sp>
        <p:nvSpPr>
          <p:cNvPr id="12" name="!!ESIK_MARK">
            <a:extLst xmlns:a="http://schemas.openxmlformats.org/drawingml/2006/main">
              <a:ext uri="{FF2B5EF4-FFF2-40B4-BE49-F238E27FC236}">
                <a16:creationId xmlns:a16="http://schemas.microsoft.com/office/drawing/2014/main" id="{E6894BA0-5E95-4795-A99F-4EAF7144F0A1}"/>
              </a:ext>
            </a:extLst>
          </p:cNvPr>
          <p:cNvSpPr>
            <a:spLocks xmlns:a="http://schemas.openxmlformats.org/drawingml/2006/main" noGrp="1"/>
          </p:cNvSpPr>
          <p:nvPr/>
        </p:nvSpPr>
        <p:spPr>
          <a:xfrm xmlns:a="http://schemas.openxmlformats.org/drawingml/2006/main">
            <a:off x="533400" y="266700"/>
            <a:ext cx="1190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75" b="1">
                <a:solidFill>
                  <a:srgbClr val="D7FF42"/>
                </a:solidFill>
                <a:latin typeface="Bahnschrift"/>
                <a:ea typeface="Bahnschrift"/>
                <a:cs typeface="Bahnschrift"/>
              </a:defRPr>
            </a:pPr>
            <a:r>
              <a:rPr sz="1575" b="1">
                <a:solidFill>
                  <a:srgbClr val="D7FF42"/>
                </a:solidFill>
                <a:latin typeface="Bahnschrift"/>
                <a:ea typeface="Bahnschrift"/>
                <a:cs typeface="Bahnschrift"/>
              </a:rPr>
              <a:t>EŞİK</a:t>
            </a:r>
          </a:p>
        </p:txBody>
      </p:sp>
      <p:sp>
        <p:nvSpPr>
          <p:cNvPr id="2" name="Texte_18_2">
            <a:extLst xmlns:a="http://schemas.openxmlformats.org/drawingml/2006/main">
              <a:ext uri="{FF2B5EF4-FFF2-40B4-BE49-F238E27FC236}">
                <a16:creationId xmlns:a16="http://schemas.microsoft.com/office/drawing/2014/main" id="{B425561D-F886-4FAC-A32F-2BE676D172D4}"/>
              </a:ext>
            </a:extLst>
          </p:cNvPr>
          <p:cNvSpPr>
            <a:spLocks xmlns:a="http://schemas.openxmlformats.org/drawingml/2006/main" noGrp="1"/>
          </p:cNvSpPr>
          <p:nvPr/>
        </p:nvSpPr>
        <p:spPr>
          <a:xfrm xmlns:a="http://schemas.openxmlformats.org/drawingml/2006/main">
            <a:off x="1809750" y="295275"/>
            <a:ext cx="7810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ABB1B9"/>
                </a:solidFill>
                <a:latin typeface="Segoe UI"/>
                <a:ea typeface="Segoe UI"/>
                <a:cs typeface="Segoe UI"/>
              </a:defRPr>
            </a:pPr>
            <a:r>
              <a:rPr sz="1275" b="0">
                <a:solidFill>
                  <a:srgbClr val="ABB1B9"/>
                </a:solidFill>
                <a:latin typeface="Segoe UI"/>
                <a:ea typeface="Segoe UI"/>
                <a:cs typeface="Segoe UI"/>
              </a:rPr>
              <a:t>TEKNİK EK 03</a:t>
            </a:r>
          </a:p>
        </p:txBody>
      </p:sp>
      <p:sp>
        <p:nvSpPr>
          <p:cNvPr id="3" name="Texte_18_3">
            <a:extLst xmlns:a="http://schemas.openxmlformats.org/drawingml/2006/main">
              <a:ext uri="{FF2B5EF4-FFF2-40B4-BE49-F238E27FC236}">
                <a16:creationId xmlns:a16="http://schemas.microsoft.com/office/drawing/2014/main" id="{8B8EF4D3-8E3A-46A9-AF80-9103AADAFAFD}"/>
              </a:ext>
            </a:extLst>
          </p:cNvPr>
          <p:cNvSpPr>
            <a:spLocks xmlns:a="http://schemas.openxmlformats.org/drawingml/2006/main" noGrp="1"/>
          </p:cNvSpPr>
          <p:nvPr/>
        </p:nvSpPr>
        <p:spPr>
          <a:xfrm xmlns:a="http://schemas.openxmlformats.org/drawingml/2006/main">
            <a:off x="10953750" y="266700"/>
            <a:ext cx="723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00" b="0">
                <a:solidFill>
                  <a:srgbClr val="ABB1B9"/>
                </a:solidFill>
                <a:latin typeface="Bahnschrift"/>
                <a:ea typeface="Bahnschrift"/>
                <a:cs typeface="Bahnschrift"/>
              </a:defRPr>
            </a:pPr>
            <a:r>
              <a:rPr sz="1500" b="0">
                <a:solidFill>
                  <a:srgbClr val="ABB1B9"/>
                </a:solidFill>
                <a:latin typeface="Bahnschrift"/>
                <a:ea typeface="Bahnschrift"/>
                <a:cs typeface="Bahnschrift"/>
              </a:rPr>
              <a:t>18</a:t>
            </a:r>
          </a:p>
        </p:txBody>
      </p:sp>
      <p:sp>
        <p:nvSpPr>
          <p:cNvPr id="4" name="Texte_18_4">
            <a:extLst xmlns:a="http://schemas.openxmlformats.org/drawingml/2006/main">
              <a:ext uri="{FF2B5EF4-FFF2-40B4-BE49-F238E27FC236}">
                <a16:creationId xmlns:a16="http://schemas.microsoft.com/office/drawing/2014/main" id="{7F975572-6AB4-43A5-9980-D6324408612F}"/>
              </a:ext>
            </a:extLst>
          </p:cNvPr>
          <p:cNvSpPr>
            <a:spLocks xmlns:a="http://schemas.openxmlformats.org/drawingml/2006/main" noGrp="1"/>
          </p:cNvSpPr>
          <p:nvPr/>
        </p:nvSpPr>
        <p:spPr>
          <a:xfrm xmlns:a="http://schemas.openxmlformats.org/drawingml/2006/main">
            <a:off x="552450" y="1200150"/>
            <a:ext cx="333375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450" b="1">
                <a:solidFill>
                  <a:srgbClr val="F4F5F0"/>
                </a:solidFill>
                <a:latin typeface="Segoe UI"/>
                <a:ea typeface="Segoe UI"/>
                <a:cs typeface="Segoe UI"/>
              </a:defRPr>
            </a:pPr>
            <a:r>
              <a:rPr sz="3450" b="1">
                <a:solidFill>
                  <a:srgbClr val="F4F5F0"/>
                </a:solidFill>
                <a:latin typeface="Segoe UI"/>
                <a:ea typeface="Segoe UI"/>
                <a:cs typeface="Segoe UI"/>
              </a:rPr>
              <a:t>Örnek şirket</a:t>
            </a:r>
          </a:p>
          <a:p xmlns:a="http://schemas.openxmlformats.org/drawingml/2006/main">
            <a:pPr>
              <a:buNone/>
              <a:defRPr sz="3450" b="1">
                <a:solidFill>
                  <a:srgbClr val="F4F5F0"/>
                </a:solidFill>
                <a:latin typeface="Segoe UI"/>
                <a:ea typeface="Segoe UI"/>
                <a:cs typeface="Segoe UI"/>
              </a:defRPr>
            </a:pPr>
            <a:r>
              <a:rPr sz="3450" b="1">
                <a:solidFill>
                  <a:srgbClr val="F4F5F0"/>
                </a:solidFill>
                <a:latin typeface="Segoe UI"/>
                <a:ea typeface="Segoe UI"/>
                <a:cs typeface="Segoe UI"/>
              </a:rPr>
              <a:t>3. sırada</a:t>
            </a:r>
          </a:p>
        </p:txBody>
      </p:sp>
      <p:sp>
        <p:nvSpPr>
          <p:cNvPr id="5" name="!!SIRKET_KODU">
            <a:extLst xmlns:a="http://schemas.openxmlformats.org/drawingml/2006/main">
              <a:ext uri="{FF2B5EF4-FFF2-40B4-BE49-F238E27FC236}">
                <a16:creationId xmlns:a16="http://schemas.microsoft.com/office/drawing/2014/main" id="{8E0D5A13-E3F7-447E-86FA-F5C4A5715C9E}"/>
              </a:ext>
            </a:extLst>
          </p:cNvPr>
          <p:cNvSpPr>
            <a:spLocks xmlns:a="http://schemas.openxmlformats.org/drawingml/2006/main" noGrp="1"/>
          </p:cNvSpPr>
          <p:nvPr/>
        </p:nvSpPr>
        <p:spPr>
          <a:xfrm xmlns:a="http://schemas.openxmlformats.org/drawingml/2006/main">
            <a:off x="561975" y="2886075"/>
            <a:ext cx="34194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625" b="1">
                <a:solidFill>
                  <a:srgbClr val="D7FF42"/>
                </a:solidFill>
                <a:latin typeface="Bahnschrift"/>
                <a:ea typeface="Bahnschrift"/>
                <a:cs typeface="Bahnschrift"/>
              </a:defRPr>
            </a:pPr>
            <a:r>
              <a:rPr sz="2625" b="1">
                <a:solidFill>
                  <a:srgbClr val="D7FF42"/>
                </a:solidFill>
                <a:latin typeface="Bahnschrift"/>
                <a:ea typeface="Bahnschrift"/>
                <a:cs typeface="Bahnschrift"/>
              </a:rPr>
              <a:t>ESIK-05817</a:t>
            </a:r>
          </a:p>
        </p:txBody>
      </p:sp>
      <p:sp>
        <p:nvSpPr>
          <p:cNvPr id="6" name="Texte_18_6">
            <a:extLst xmlns:a="http://schemas.openxmlformats.org/drawingml/2006/main">
              <a:ext uri="{FF2B5EF4-FFF2-40B4-BE49-F238E27FC236}">
                <a16:creationId xmlns:a16="http://schemas.microsoft.com/office/drawing/2014/main" id="{4B54AA2A-6640-4860-AC8F-2A717253172F}"/>
              </a:ext>
            </a:extLst>
          </p:cNvPr>
          <p:cNvSpPr>
            <a:spLocks xmlns:a="http://schemas.openxmlformats.org/drawingml/2006/main" noGrp="1"/>
          </p:cNvSpPr>
          <p:nvPr/>
        </p:nvSpPr>
        <p:spPr>
          <a:xfrm xmlns:a="http://schemas.openxmlformats.org/drawingml/2006/main">
            <a:off x="457200" y="3552825"/>
            <a:ext cx="3438525"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6825" b="1">
                <a:solidFill>
                  <a:srgbClr val="D7FF42"/>
                </a:solidFill>
                <a:latin typeface="Bahnschrift"/>
                <a:ea typeface="Bahnschrift"/>
                <a:cs typeface="Bahnschrift"/>
              </a:defRPr>
            </a:pPr>
            <a:r>
              <a:rPr sz="6825" b="1">
                <a:solidFill>
                  <a:srgbClr val="D7FF42"/>
                </a:solidFill>
                <a:latin typeface="Bahnschrift"/>
                <a:ea typeface="Bahnschrift"/>
                <a:cs typeface="Bahnschrift"/>
              </a:rPr>
              <a:t>%99,0</a:t>
            </a:r>
          </a:p>
        </p:txBody>
      </p:sp>
      <p:sp>
        <p:nvSpPr>
          <p:cNvPr id="7" name="Texte_18_7">
            <a:extLst xmlns:a="http://schemas.openxmlformats.org/drawingml/2006/main">
              <a:ext uri="{FF2B5EF4-FFF2-40B4-BE49-F238E27FC236}">
                <a16:creationId xmlns:a16="http://schemas.microsoft.com/office/drawing/2014/main" id="{66D2EFC4-940E-4FBF-83CB-80CE944D599E}"/>
              </a:ext>
            </a:extLst>
          </p:cNvPr>
          <p:cNvSpPr>
            <a:spLocks xmlns:a="http://schemas.openxmlformats.org/drawingml/2006/main" noGrp="1"/>
          </p:cNvSpPr>
          <p:nvPr/>
        </p:nvSpPr>
        <p:spPr>
          <a:xfrm xmlns:a="http://schemas.openxmlformats.org/drawingml/2006/main">
            <a:off x="561975" y="4848225"/>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950" b="0">
                <a:solidFill>
                  <a:srgbClr val="F4F5F0"/>
                </a:solidFill>
                <a:latin typeface="Segoe UI"/>
                <a:ea typeface="Segoe UI"/>
                <a:cs typeface="Segoe UI"/>
              </a:defRPr>
            </a:pPr>
            <a:r>
              <a:rPr sz="1950" b="0">
                <a:solidFill>
                  <a:srgbClr val="F4F5F0"/>
                </a:solidFill>
                <a:latin typeface="Segoe UI"/>
                <a:ea typeface="Segoe UI"/>
                <a:cs typeface="Segoe UI"/>
              </a:rPr>
              <a:t>1 yıllık olasılık tahmini</a:t>
            </a:r>
          </a:p>
        </p:txBody>
      </p:sp>
      <p:sp>
        <p:nvSpPr>
          <p:cNvPr id="8" name="Texte_18_8">
            <a:extLst xmlns:a="http://schemas.openxmlformats.org/drawingml/2006/main">
              <a:ext uri="{FF2B5EF4-FFF2-40B4-BE49-F238E27FC236}">
                <a16:creationId xmlns:a16="http://schemas.microsoft.com/office/drawing/2014/main" id="{0BD34B3A-856C-4FC8-8CD4-5FD439344131}"/>
              </a:ext>
            </a:extLst>
          </p:cNvPr>
          <p:cNvSpPr>
            <a:spLocks xmlns:a="http://schemas.openxmlformats.org/drawingml/2006/main" noGrp="1"/>
          </p:cNvSpPr>
          <p:nvPr/>
        </p:nvSpPr>
        <p:spPr>
          <a:xfrm xmlns:a="http://schemas.openxmlformats.org/drawingml/2006/main">
            <a:off x="561975" y="5457825"/>
            <a:ext cx="32670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ABB1B9"/>
                </a:solidFill>
                <a:latin typeface="Segoe UI"/>
                <a:ea typeface="Segoe UI"/>
                <a:cs typeface="Segoe UI"/>
              </a:defRPr>
            </a:pPr>
            <a:r>
              <a:rPr sz="1800" b="0">
                <a:solidFill>
                  <a:srgbClr val="ABB1B9"/>
                </a:solidFill>
                <a:latin typeface="Segoe UI"/>
                <a:ea typeface="Segoe UI"/>
                <a:cs typeface="Segoe UI"/>
              </a:rPr>
              <a:t>Keşifsel kalibrasyon</a:t>
            </a:r>
          </a:p>
          <a:p xmlns:a="http://schemas.openxmlformats.org/drawingml/2006/main">
            <a:pPr>
              <a:buNone/>
              <a:defRPr sz="1800" b="0">
                <a:solidFill>
                  <a:srgbClr val="ABB1B9"/>
                </a:solidFill>
                <a:latin typeface="Segoe UI"/>
                <a:ea typeface="Segoe UI"/>
                <a:cs typeface="Segoe UI"/>
              </a:defRPr>
            </a:pPr>
            <a:r>
              <a:rPr sz="1800" b="0">
                <a:solidFill>
                  <a:srgbClr val="ABB1B9"/>
                </a:solidFill>
                <a:latin typeface="Segoe UI"/>
                <a:ea typeface="Segoe UI"/>
                <a:cs typeface="Segoe UI"/>
              </a:rPr>
              <a:t>Tarihsel veri</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04d13e87c25a4865"/>
          <a:stretch xmlns:a="http://schemas.openxmlformats.org/drawingml/2006/main"/>
        </p:blipFill>
        <p:spPr>
          <a:xfrm xmlns:a="http://schemas.openxmlformats.org/drawingml/2006/main">
            <a:off x="4282881" y="1295400"/>
            <a:ext cx="7331462" cy="4848225"/>
          </a:xfrm>
          <a:prstGeom xmlns:a="http://schemas.openxmlformats.org/drawingml/2006/main" prst="rect">
            <a:avLst/>
          </a:prstGeom>
        </p:spPr>
      </p:pic>
      <p:sp>
        <p:nvSpPr>
          <p:cNvPr id="14" name="!!ESIK_CIZGISI">
            <a:extLst xmlns:a="http://schemas.openxmlformats.org/drawingml/2006/main">
              <a:ext uri="{FF2B5EF4-FFF2-40B4-BE49-F238E27FC236}">
                <a16:creationId xmlns:a16="http://schemas.microsoft.com/office/drawing/2014/main" id="{2C1DC538-9A4E-4A59-AF99-64112F464C03}"/>
              </a:ext>
            </a:extLst>
          </p:cNvPr>
          <p:cNvSpPr>
            <a:spLocks xmlns:a="http://schemas.openxmlformats.org/drawingml/2006/main" noGrp="1"/>
          </p:cNvSpPr>
          <p:nvPr/>
        </p:nvSpPr>
        <p:spPr>
          <a:xfrm xmlns:a="http://schemas.openxmlformats.org/drawingml/2006/main">
            <a:off x="4000500" y="1304925"/>
            <a:ext cx="28575" cy="4838700"/>
          </a:xfrm>
          <a:prstGeom xmlns:a="http://schemas.openxmlformats.org/drawingml/2006/main" prst="rect">
            <a:avLst/>
          </a:prstGeom>
          <a:solidFill xmlns:a="http://schemas.openxmlformats.org/drawingml/2006/main">
            <a:srgbClr val="D7FF42"/>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11" name="Texte_18_9">
            <a:extLst xmlns:a="http://schemas.openxmlformats.org/drawingml/2006/main">
              <a:ext uri="{FF2B5EF4-FFF2-40B4-BE49-F238E27FC236}">
                <a16:creationId xmlns:a16="http://schemas.microsoft.com/office/drawing/2014/main" id="{066943BC-B38A-4297-A010-38CDCD866D86}"/>
              </a:ext>
            </a:extLst>
          </p:cNvPr>
          <p:cNvSpPr>
            <a:spLocks xmlns:a="http://schemas.openxmlformats.org/drawingml/2006/main" noGrp="1"/>
          </p:cNvSpPr>
          <p:nvPr/>
        </p:nvSpPr>
        <p:spPr>
          <a:xfrm xmlns:a="http://schemas.openxmlformats.org/drawingml/2006/main">
            <a:off x="533400" y="6315075"/>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ABB1B9"/>
                </a:solidFill>
                <a:latin typeface="Segoe UI"/>
                <a:ea typeface="Segoe UI"/>
                <a:cs typeface="Segoe UI"/>
              </a:defRPr>
            </a:pPr>
            <a:r>
              <a:rPr sz="1275" b="0">
                <a:solidFill>
                  <a:srgbClr val="ABB1B9"/>
                </a:solidFill>
                <a:latin typeface="Segoe UI"/>
                <a:ea typeface="Segoe UI"/>
                <a:cs typeface="Segoe UI"/>
              </a:rPr>
              <a:t>Gerçek uygulama ekranı. Skor, yüzdelik sıra ve kalibre olasılık ayrı çıktılardır.</a:t>
            </a:r>
          </a:p>
        </p:txBody>
      </p:sp>
    </p:spTree>
    <p:extLst>
      <p:ext uri="{BB962C8B-B14F-4D97-AF65-F5344CB8AC3E}">
        <p14:creationId xmlns:p14="http://schemas.microsoft.com/office/powerpoint/2010/main" val="481003585"/>
      </p:ext>
    </p:extLst>
  </p:cSld>
  <p:transition spd="fast" advClick="1">
    <p:fade/>
  </p:transition>
</p:sld>
</file>

<file path=ppt/slides/slide19.xml><?xml version="1.0" encoding="utf-8"?>
<p:sld xmlns:p="http://schemas.openxmlformats.org/presentationml/2006/main" show="0">
  <p:cSld>
    <p:bg>
      <p:bgPr>
        <a:solidFill xmlns:a="http://schemas.openxmlformats.org/drawingml/2006/main">
          <a:srgbClr val="0B0E13"/>
        </a:solidFill>
      </p:bgPr>
    </p:bg>
    <p:spTree>
      <p:nvGrpSpPr>
        <p:cNvPr id="1" name=""/>
        <p:cNvGrpSpPr/>
        <p:nvPr/>
      </p:nvGrpSpPr>
      <p:grpSpPr>
        <a:xfrm xmlns:a="http://schemas.openxmlformats.org/drawingml/2006/main"/>
      </p:grpSpPr>
      <p:sp>
        <p:nvSpPr>
          <p:cNvPr id="6" name="!!ESIK_MARK">
            <a:extLst xmlns:a="http://schemas.openxmlformats.org/drawingml/2006/main">
              <a:ext uri="{FF2B5EF4-FFF2-40B4-BE49-F238E27FC236}">
                <a16:creationId xmlns:a16="http://schemas.microsoft.com/office/drawing/2014/main" id="{BEC5A04F-FD6B-4D8A-862D-F57ED130CD9C}"/>
              </a:ext>
            </a:extLst>
          </p:cNvPr>
          <p:cNvSpPr>
            <a:spLocks xmlns:a="http://schemas.openxmlformats.org/drawingml/2006/main" noGrp="1"/>
          </p:cNvSpPr>
          <p:nvPr/>
        </p:nvSpPr>
        <p:spPr>
          <a:xfrm xmlns:a="http://schemas.openxmlformats.org/drawingml/2006/main">
            <a:off x="533400" y="266700"/>
            <a:ext cx="1190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75" b="1">
                <a:solidFill>
                  <a:srgbClr val="D7FF42"/>
                </a:solidFill>
                <a:latin typeface="Bahnschrift"/>
                <a:ea typeface="Bahnschrift"/>
                <a:cs typeface="Bahnschrift"/>
              </a:defRPr>
            </a:pPr>
            <a:r>
              <a:rPr sz="1575" b="1">
                <a:solidFill>
                  <a:srgbClr val="D7FF42"/>
                </a:solidFill>
                <a:latin typeface="Bahnschrift"/>
                <a:ea typeface="Bahnschrift"/>
                <a:cs typeface="Bahnschrift"/>
              </a:rPr>
              <a:t>EŞİK</a:t>
            </a:r>
          </a:p>
        </p:txBody>
      </p:sp>
      <p:sp>
        <p:nvSpPr>
          <p:cNvPr id="3" name="Texte_19_2">
            <a:extLst xmlns:a="http://schemas.openxmlformats.org/drawingml/2006/main">
              <a:ext uri="{FF2B5EF4-FFF2-40B4-BE49-F238E27FC236}">
                <a16:creationId xmlns:a16="http://schemas.microsoft.com/office/drawing/2014/main" id="{CBF2F8C8-5B61-4169-A242-206623F0B207}"/>
              </a:ext>
            </a:extLst>
          </p:cNvPr>
          <p:cNvSpPr>
            <a:spLocks xmlns:a="http://schemas.openxmlformats.org/drawingml/2006/main" noGrp="1"/>
          </p:cNvSpPr>
          <p:nvPr/>
        </p:nvSpPr>
        <p:spPr>
          <a:xfrm xmlns:a="http://schemas.openxmlformats.org/drawingml/2006/main">
            <a:off x="1809750" y="295275"/>
            <a:ext cx="7810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ABB1B9"/>
                </a:solidFill>
                <a:latin typeface="Segoe UI"/>
                <a:ea typeface="Segoe UI"/>
                <a:cs typeface="Segoe UI"/>
              </a:defRPr>
            </a:pPr>
            <a:r>
              <a:rPr sz="1275" b="0">
                <a:solidFill>
                  <a:srgbClr val="ABB1B9"/>
                </a:solidFill>
                <a:latin typeface="Segoe UI"/>
                <a:ea typeface="Segoe UI"/>
                <a:cs typeface="Segoe UI"/>
              </a:rPr>
              <a:t>TEKNİK EK 04</a:t>
            </a:r>
          </a:p>
        </p:txBody>
      </p:sp>
      <p:sp>
        <p:nvSpPr>
          <p:cNvPr id="4" name="Texte_19_3">
            <a:extLst xmlns:a="http://schemas.openxmlformats.org/drawingml/2006/main">
              <a:ext uri="{FF2B5EF4-FFF2-40B4-BE49-F238E27FC236}">
                <a16:creationId xmlns:a16="http://schemas.microsoft.com/office/drawing/2014/main" id="{F85AE160-104E-497F-B4E1-82C63BC572D8}"/>
              </a:ext>
            </a:extLst>
          </p:cNvPr>
          <p:cNvSpPr>
            <a:spLocks xmlns:a="http://schemas.openxmlformats.org/drawingml/2006/main" noGrp="1"/>
          </p:cNvSpPr>
          <p:nvPr/>
        </p:nvSpPr>
        <p:spPr>
          <a:xfrm xmlns:a="http://schemas.openxmlformats.org/drawingml/2006/main">
            <a:off x="10953750" y="266700"/>
            <a:ext cx="723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00" b="0">
                <a:solidFill>
                  <a:srgbClr val="ABB1B9"/>
                </a:solidFill>
                <a:latin typeface="Bahnschrift"/>
                <a:ea typeface="Bahnschrift"/>
                <a:cs typeface="Bahnschrift"/>
              </a:defRPr>
            </a:pPr>
            <a:r>
              <a:rPr sz="1500" b="0">
                <a:solidFill>
                  <a:srgbClr val="ABB1B9"/>
                </a:solidFill>
                <a:latin typeface="Bahnschrift"/>
                <a:ea typeface="Bahnschrift"/>
                <a:cs typeface="Bahnschrift"/>
              </a:rPr>
              <a:t>19</a:t>
            </a:r>
          </a:p>
        </p:txBody>
      </p:sp>
      <p:sp>
        <p:nvSpPr>
          <p:cNvPr id="5" name="Texte_19_4">
            <a:extLst xmlns:a="http://schemas.openxmlformats.org/drawingml/2006/main">
              <a:ext uri="{FF2B5EF4-FFF2-40B4-BE49-F238E27FC236}">
                <a16:creationId xmlns:a16="http://schemas.microsoft.com/office/drawing/2014/main" id="{F636300F-B8C3-49AA-874D-34FFFE018872}"/>
              </a:ext>
            </a:extLst>
          </p:cNvPr>
          <p:cNvSpPr>
            <a:spLocks xmlns:a="http://schemas.openxmlformats.org/drawingml/2006/main" noGrp="1"/>
          </p:cNvSpPr>
          <p:nvPr/>
        </p:nvSpPr>
        <p:spPr>
          <a:xfrm xmlns:a="http://schemas.openxmlformats.org/drawingml/2006/main">
            <a:off x="533400" y="952500"/>
            <a:ext cx="111252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525" b="1">
                <a:solidFill>
                  <a:srgbClr val="F4F5F0"/>
                </a:solidFill>
                <a:latin typeface="Segoe UI"/>
                <a:ea typeface="Segoe UI"/>
                <a:cs typeface="Segoe UI"/>
              </a:defRPr>
            </a:pPr>
            <a:r>
              <a:rPr sz="3525" b="1">
                <a:solidFill>
                  <a:srgbClr val="F4F5F0"/>
                </a:solidFill>
                <a:latin typeface="Segoe UI"/>
                <a:ea typeface="Segoe UI"/>
                <a:cs typeface="Segoe UI"/>
              </a:rPr>
              <a:t>Şirket sorgusundan gerçek bir yanıt</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d35d455d3f6d48df"/>
          <a:stretch xmlns:a="http://schemas.openxmlformats.org/drawingml/2006/main"/>
        </p:blipFill>
        <p:spPr>
          <a:xfrm xmlns:a="http://schemas.openxmlformats.org/drawingml/2006/main">
            <a:off x="863752" y="2371725"/>
            <a:ext cx="10426396" cy="2028825"/>
          </a:xfrm>
          <a:prstGeom xmlns:a="http://schemas.openxmlformats.org/drawingml/2006/main" prst="rect">
            <a:avLst/>
          </a:prstGeom>
        </p:spPr>
      </p:pic>
      <p:sp>
        <p:nvSpPr>
          <p:cNvPr id="15" name="!!ESIK_THRESHOLD">
            <a:extLst xmlns:a="http://schemas.openxmlformats.org/drawingml/2006/main">
              <a:ext uri="{FF2B5EF4-FFF2-40B4-BE49-F238E27FC236}">
                <a16:creationId xmlns:a16="http://schemas.microsoft.com/office/drawing/2014/main" id="{B08EEFFB-4360-449C-BCC6-EF95AD94667C}"/>
              </a:ext>
            </a:extLst>
          </p:cNvPr>
          <p:cNvSpPr>
            <a:spLocks xmlns:a="http://schemas.openxmlformats.org/drawingml/2006/main" noGrp="1"/>
          </p:cNvSpPr>
          <p:nvPr/>
        </p:nvSpPr>
        <p:spPr>
          <a:xfrm xmlns:a="http://schemas.openxmlformats.org/drawingml/2006/main">
            <a:off x="571500" y="4686300"/>
            <a:ext cx="10972800" cy="28575"/>
          </a:xfrm>
          <a:prstGeom xmlns:a="http://schemas.openxmlformats.org/drawingml/2006/main" prst="rect">
            <a:avLst/>
          </a:prstGeom>
          <a:solidFill xmlns:a="http://schemas.openxmlformats.org/drawingml/2006/main">
            <a:srgbClr val="D7FF42"/>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8" name="!!SIRKET_KODU">
            <a:extLst xmlns:a="http://schemas.openxmlformats.org/drawingml/2006/main">
              <a:ext uri="{FF2B5EF4-FFF2-40B4-BE49-F238E27FC236}">
                <a16:creationId xmlns:a16="http://schemas.microsoft.com/office/drawing/2014/main" id="{A12F5B15-F713-4074-A3DC-DEC57412E805}"/>
              </a:ext>
            </a:extLst>
          </p:cNvPr>
          <p:cNvSpPr>
            <a:spLocks xmlns:a="http://schemas.openxmlformats.org/drawingml/2006/main" noGrp="1"/>
          </p:cNvSpPr>
          <p:nvPr/>
        </p:nvSpPr>
        <p:spPr>
          <a:xfrm xmlns:a="http://schemas.openxmlformats.org/drawingml/2006/main">
            <a:off x="523875" y="5048250"/>
            <a:ext cx="7924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75" b="1">
                <a:solidFill>
                  <a:srgbClr val="D7FF42"/>
                </a:solidFill>
                <a:latin typeface="Bahnschrift"/>
                <a:ea typeface="Bahnschrift"/>
                <a:cs typeface="Bahnschrift"/>
              </a:defRPr>
            </a:pPr>
            <a:r>
              <a:rPr sz="3675" b="1">
                <a:solidFill>
                  <a:srgbClr val="D7FF42"/>
                </a:solidFill>
                <a:latin typeface="Bahnschrift"/>
                <a:ea typeface="Bahnschrift"/>
                <a:cs typeface="Bahnschrift"/>
              </a:rPr>
              <a:t>ESIK-05817</a:t>
            </a:r>
          </a:p>
        </p:txBody>
      </p:sp>
      <p:sp>
        <p:nvSpPr>
          <p:cNvPr id="9" name="Texte_19_6">
            <a:extLst xmlns:a="http://schemas.openxmlformats.org/drawingml/2006/main">
              <a:ext uri="{FF2B5EF4-FFF2-40B4-BE49-F238E27FC236}">
                <a16:creationId xmlns:a16="http://schemas.microsoft.com/office/drawing/2014/main" id="{02382E8A-321D-4F34-B1B5-D487C05832E6}"/>
              </a:ext>
            </a:extLst>
          </p:cNvPr>
          <p:cNvSpPr>
            <a:spLocks xmlns:a="http://schemas.openxmlformats.org/drawingml/2006/main" noGrp="1"/>
          </p:cNvSpPr>
          <p:nvPr/>
        </p:nvSpPr>
        <p:spPr>
          <a:xfrm xmlns:a="http://schemas.openxmlformats.org/drawingml/2006/main">
            <a:off x="9525000" y="5219700"/>
            <a:ext cx="22764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325" b="1">
                <a:solidFill>
                  <a:srgbClr val="F4F5F0"/>
                </a:solidFill>
                <a:latin typeface="Segoe UI"/>
                <a:ea typeface="Segoe UI"/>
                <a:cs typeface="Segoe UI"/>
              </a:defRPr>
            </a:pPr>
            <a:r>
              <a:rPr sz="2325" b="1">
                <a:solidFill>
                  <a:srgbClr val="F4F5F0"/>
                </a:solidFill>
                <a:latin typeface="Segoe UI"/>
                <a:ea typeface="Segoe UI"/>
                <a:cs typeface="Segoe UI"/>
              </a:rPr>
              <a:t>Risk sırası 3</a:t>
            </a:r>
          </a:p>
        </p:txBody>
      </p:sp>
      <p:sp>
        <p:nvSpPr>
          <p:cNvPr id="11" name="Texte_19_7">
            <a:extLst xmlns:a="http://schemas.openxmlformats.org/drawingml/2006/main">
              <a:ext uri="{FF2B5EF4-FFF2-40B4-BE49-F238E27FC236}">
                <a16:creationId xmlns:a16="http://schemas.microsoft.com/office/drawing/2014/main" id="{03217A84-2324-444E-92CE-2279B9D7F6A6}"/>
              </a:ext>
            </a:extLst>
          </p:cNvPr>
          <p:cNvSpPr>
            <a:spLocks xmlns:a="http://schemas.openxmlformats.org/drawingml/2006/main" noGrp="1"/>
          </p:cNvSpPr>
          <p:nvPr/>
        </p:nvSpPr>
        <p:spPr>
          <a:xfrm xmlns:a="http://schemas.openxmlformats.org/drawingml/2006/main">
            <a:off x="533400" y="6315075"/>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00" b="0">
                <a:solidFill>
                  <a:srgbClr val="ABB1B9"/>
                </a:solidFill>
                <a:latin typeface="Segoe UI"/>
                <a:ea typeface="Segoe UI"/>
                <a:cs typeface="Segoe UI"/>
              </a:defRPr>
            </a:pPr>
            <a:r>
              <a:rPr sz="1200" b="0">
                <a:solidFill>
                  <a:srgbClr val="ABB1B9"/>
                </a:solidFill>
                <a:latin typeface="Segoe UI"/>
                <a:ea typeface="Segoe UI"/>
                <a:cs typeface="Segoe UI"/>
              </a:rPr>
              <a:t>Gerçek XGBoost uygulaması. Bu örnekte kayıtlı model çıktısından üretilen yanıt var; OpenAI çağrısı yok.</a:t>
            </a:r>
          </a:p>
        </p:txBody>
      </p:sp>
    </p:spTree>
    <p:extLst>
      <p:ext uri="{BB962C8B-B14F-4D97-AF65-F5344CB8AC3E}">
        <p14:creationId xmlns:p14="http://schemas.microsoft.com/office/powerpoint/2010/main" val="75425503"/>
      </p:ext>
    </p:extLst>
  </p:cSld>
  <p:transition spd="fast" advClick="1">
    <p:fade/>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2026-09-15T12:47:10.9710000Z</dcterms:created>
  <dcterms:modified xsi:type="dcterms:W3CDTF">2026-09-15T12:47:10.9710000Z</dcterms:modified>
</coreProperties>
</file>